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Default Extension="jpg" ContentType="image/jpeg"/>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x="18288000" cy="10287000"/>
  <p:notesSz cx="6858000" cy="9144000"/>
  <p:embeddedFontLst>
    <p:embeddedFont>
      <p:font typeface="DM Sans" charset="1" panose="00000000000000000000"/>
      <p:regular r:id="rId60"/>
    </p:embeddedFont>
    <p:embeddedFont>
      <p:font typeface="Heading Now 71-78" charset="1" panose="00000000000000000000"/>
      <p:regular r:id="rId61"/>
    </p:embeddedFont>
    <p:embeddedFont>
      <p:font typeface="Avenir" charset="1" panose="020B0503020203020204"/>
      <p:regular r:id="rId62"/>
    </p:embeddedFont>
    <p:embeddedFont>
      <p:font typeface="Avenir Bold" charset="1" panose="020B0703020203020204"/>
      <p:regular r:id="rId63"/>
    </p:embeddedFont>
    <p:embeddedFont>
      <p:font typeface="DM Sans Bold" charset="1" panose="00000000000000000000"/>
      <p:regular r:id="rId64"/>
    </p:embeddedFont>
    <p:embeddedFont>
      <p:font typeface="Metropolis Medium" charset="1" panose="00000600000000000000"/>
      <p:regular r:id="rId65"/>
    </p:embeddedFont>
    <p:embeddedFont>
      <p:font typeface=" Avenir Next Arabic Light" charset="1" panose="020B0403020202020204"/>
      <p:regular r:id="rId66"/>
    </p:embeddedFont>
    <p:embeddedFont>
      <p:font typeface="IBM Plex Sans Condensed" charset="1" panose="020B0506050203000203"/>
      <p:regular r:id="rId67"/>
    </p:embeddedFont>
    <p:embeddedFont>
      <p:font typeface="IBM Plex Sans Bold" charset="1" panose="020B0803050203000203"/>
      <p:regular r:id="rId68"/>
    </p:embeddedFont>
    <p:embeddedFont>
      <p:font typeface=" Avenir Next Arabic" charset="1" panose="020B0503020202020204"/>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jpg" Type="http://schemas.openxmlformats.org/officeDocument/2006/relationships/image"/><Relationship Id="rId2" Target="../media/image1.jp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2.png" Type="http://schemas.openxmlformats.org/officeDocument/2006/relationships/image"/><Relationship Id="rId8" Target="../media/image1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jpg" Type="http://schemas.openxmlformats.org/officeDocument/2006/relationships/image"/><Relationship Id="rId9"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g" Type="http://schemas.openxmlformats.org/officeDocument/2006/relationships/image"/><Relationship Id="rId3" Target="../media/image26.jp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g" Type="http://schemas.openxmlformats.org/officeDocument/2006/relationships/image"/><Relationship Id="rId3" Target="../media/image28.pn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2.png" Type="http://schemas.openxmlformats.org/officeDocument/2006/relationships/image"/><Relationship Id="rId6"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g" Type="http://schemas.openxmlformats.org/officeDocument/2006/relationships/image"/><Relationship Id="rId3" Target="../media/image34.jp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g" Type="http://schemas.openxmlformats.org/officeDocument/2006/relationships/image"/><Relationship Id="rId3" Target="../media/image36.pn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g" Type="http://schemas.openxmlformats.org/officeDocument/2006/relationships/image"/><Relationship Id="rId3" Target="../media/image37.jp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 Id="rId5" Target="../media/image40.jp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g" Type="http://schemas.openxmlformats.org/officeDocument/2006/relationships/image"/><Relationship Id="rId3" Target="../media/image44.jpg" Type="http://schemas.openxmlformats.org/officeDocument/2006/relationships/image"/><Relationship Id="rId4" Target="../media/image2.png" Type="http://schemas.openxmlformats.org/officeDocument/2006/relationships/image"/><Relationship Id="rId5"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 Id="rId5" Target="../media/image47.jp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12" Target="../media/image58.svg" Type="http://schemas.openxmlformats.org/officeDocument/2006/relationships/image"/><Relationship Id="rId13" Target="../media/image59.svg" Type="http://schemas.openxmlformats.org/officeDocument/2006/relationships/image"/><Relationship Id="rId14" Target="../media/image60.png" Type="http://schemas.openxmlformats.org/officeDocument/2006/relationships/image"/><Relationship Id="rId15" Target="../media/image61.png" Type="http://schemas.openxmlformats.org/officeDocument/2006/relationships/image"/><Relationship Id="rId16" Target="../media/image62.png" Type="http://schemas.openxmlformats.org/officeDocument/2006/relationships/image"/><Relationship Id="rId17" Target="../media/image63.png" Type="http://schemas.openxmlformats.org/officeDocument/2006/relationships/image"/><Relationship Id="rId18" Target="../media/image64.svg" Type="http://schemas.openxmlformats.org/officeDocument/2006/relationships/image"/><Relationship Id="rId19" Target="../media/image65.svg" Type="http://schemas.openxmlformats.org/officeDocument/2006/relationships/image"/><Relationship Id="rId2" Target="../media/image47.jpg" Type="http://schemas.openxmlformats.org/officeDocument/2006/relationships/image"/><Relationship Id="rId20" Target="../media/image66.png" Type="http://schemas.openxmlformats.org/officeDocument/2006/relationships/image"/><Relationship Id="rId21" Target="../media/image67.svg" Type="http://schemas.openxmlformats.org/officeDocument/2006/relationships/image"/><Relationship Id="rId22" Target="../media/image68.png" Type="http://schemas.openxmlformats.org/officeDocument/2006/relationships/image"/><Relationship Id="rId23" Target="../media/image69.svg" Type="http://schemas.openxmlformats.org/officeDocument/2006/relationships/image"/><Relationship Id="rId24" Target="../media/image70.png" Type="http://schemas.openxmlformats.org/officeDocument/2006/relationships/image"/><Relationship Id="rId25" Target="../media/image71.svg" Type="http://schemas.openxmlformats.org/officeDocument/2006/relationships/image"/><Relationship Id="rId26" Target="../media/image72.png" Type="http://schemas.openxmlformats.org/officeDocument/2006/relationships/image"/><Relationship Id="rId27" Target="../media/image73.svg" Type="http://schemas.openxmlformats.org/officeDocument/2006/relationships/image"/><Relationship Id="rId28" Target="../media/image2.png" Type="http://schemas.openxmlformats.org/officeDocument/2006/relationships/image"/><Relationship Id="rId29" Target="../media/image17.pn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17"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AutoShape 3" id="3"/>
          <p:cNvSpPr/>
          <p:nvPr/>
        </p:nvSpPr>
        <p:spPr>
          <a:xfrm>
            <a:off x="901645" y="3388094"/>
            <a:ext cx="2242304" cy="0"/>
          </a:xfrm>
          <a:prstGeom prst="line">
            <a:avLst/>
          </a:prstGeom>
          <a:ln cap="flat" w="19050">
            <a:solidFill>
              <a:srgbClr val="A3CF3E"/>
            </a:solidFill>
            <a:prstDash val="solid"/>
            <a:headEnd type="none" len="sm" w="sm"/>
            <a:tailEnd type="none" len="sm" w="sm"/>
          </a:ln>
        </p:spPr>
      </p:sp>
      <p:sp>
        <p:nvSpPr>
          <p:cNvPr name="AutoShape 4" id="4"/>
          <p:cNvSpPr/>
          <p:nvPr/>
        </p:nvSpPr>
        <p:spPr>
          <a:xfrm>
            <a:off x="575819" y="8617351"/>
            <a:ext cx="16230600" cy="0"/>
          </a:xfrm>
          <a:prstGeom prst="line">
            <a:avLst/>
          </a:prstGeom>
          <a:ln cap="flat" w="19050">
            <a:solidFill>
              <a:srgbClr val="EDEDED"/>
            </a:solidFill>
            <a:prstDash val="solid"/>
            <a:headEnd type="none" len="sm" w="sm"/>
            <a:tailEnd type="none" len="sm" w="sm"/>
          </a:ln>
        </p:spPr>
      </p:sp>
      <p:sp>
        <p:nvSpPr>
          <p:cNvPr name="Freeform 5" id="5"/>
          <p:cNvSpPr/>
          <p:nvPr/>
        </p:nvSpPr>
        <p:spPr>
          <a:xfrm flipH="false" flipV="false" rot="0">
            <a:off x="6391381" y="9092924"/>
            <a:ext cx="2818124" cy="704531"/>
          </a:xfrm>
          <a:custGeom>
            <a:avLst/>
            <a:gdLst/>
            <a:ahLst/>
            <a:cxnLst/>
            <a:rect r="r" b="b" t="t" l="l"/>
            <a:pathLst>
              <a:path h="704531" w="2818124">
                <a:moveTo>
                  <a:pt x="0" y="0"/>
                </a:moveTo>
                <a:lnTo>
                  <a:pt x="2818124" y="0"/>
                </a:lnTo>
                <a:lnTo>
                  <a:pt x="2818124" y="704531"/>
                </a:lnTo>
                <a:lnTo>
                  <a:pt x="0" y="704531"/>
                </a:lnTo>
                <a:lnTo>
                  <a:pt x="0" y="0"/>
                </a:lnTo>
                <a:close/>
              </a:path>
            </a:pathLst>
          </a:custGeom>
          <a:blipFill>
            <a:blip r:embed="rId3"/>
            <a:stretch>
              <a:fillRect l="0" t="0" r="0" b="0"/>
            </a:stretch>
          </a:blipFill>
        </p:spPr>
      </p:sp>
      <p:sp>
        <p:nvSpPr>
          <p:cNvPr name="AutoShape 6" id="6"/>
          <p:cNvSpPr/>
          <p:nvPr/>
        </p:nvSpPr>
        <p:spPr>
          <a:xfrm>
            <a:off x="3384419" y="6776906"/>
            <a:ext cx="9525" cy="1238934"/>
          </a:xfrm>
          <a:prstGeom prst="line">
            <a:avLst/>
          </a:prstGeom>
          <a:ln cap="flat" w="19050">
            <a:solidFill>
              <a:srgbClr val="FFFFFF"/>
            </a:solidFill>
            <a:prstDash val="solid"/>
            <a:headEnd type="none" len="sm" w="sm"/>
            <a:tailEnd type="none" len="sm" w="sm"/>
          </a:ln>
        </p:spPr>
      </p:sp>
      <p:sp>
        <p:nvSpPr>
          <p:cNvPr name="AutoShape 7" id="7"/>
          <p:cNvSpPr/>
          <p:nvPr/>
        </p:nvSpPr>
        <p:spPr>
          <a:xfrm>
            <a:off x="6919469" y="6776833"/>
            <a:ext cx="9525" cy="1238934"/>
          </a:xfrm>
          <a:prstGeom prst="line">
            <a:avLst/>
          </a:prstGeom>
          <a:ln cap="flat" w="19050">
            <a:solidFill>
              <a:srgbClr val="FFFFFF"/>
            </a:solidFill>
            <a:prstDash val="solid"/>
            <a:headEnd type="none" len="sm" w="sm"/>
            <a:tailEnd type="none" len="sm" w="sm"/>
          </a:ln>
        </p:spPr>
      </p:sp>
      <p:sp>
        <p:nvSpPr>
          <p:cNvPr name="AutoShape 8" id="8"/>
          <p:cNvSpPr/>
          <p:nvPr/>
        </p:nvSpPr>
        <p:spPr>
          <a:xfrm>
            <a:off x="10453244" y="6776759"/>
            <a:ext cx="9525" cy="1238934"/>
          </a:xfrm>
          <a:prstGeom prst="line">
            <a:avLst/>
          </a:prstGeom>
          <a:ln cap="flat" w="19050">
            <a:solidFill>
              <a:srgbClr val="FFFFFF"/>
            </a:solidFill>
            <a:prstDash val="solid"/>
            <a:headEnd type="none" len="sm" w="sm"/>
            <a:tailEnd type="none" len="sm" w="sm"/>
          </a:ln>
        </p:spPr>
      </p:sp>
      <p:sp>
        <p:nvSpPr>
          <p:cNvPr name="Freeform 9" id="9"/>
          <p:cNvSpPr/>
          <p:nvPr/>
        </p:nvSpPr>
        <p:spPr>
          <a:xfrm flipH="false" flipV="false" rot="0">
            <a:off x="1531398" y="6155115"/>
            <a:ext cx="638797" cy="698486"/>
          </a:xfrm>
          <a:custGeom>
            <a:avLst/>
            <a:gdLst/>
            <a:ahLst/>
            <a:cxnLst/>
            <a:rect r="r" b="b" t="t" l="l"/>
            <a:pathLst>
              <a:path h="698486" w="638797">
                <a:moveTo>
                  <a:pt x="0" y="0"/>
                </a:moveTo>
                <a:lnTo>
                  <a:pt x="638797" y="0"/>
                </a:lnTo>
                <a:lnTo>
                  <a:pt x="638797" y="698486"/>
                </a:lnTo>
                <a:lnTo>
                  <a:pt x="0" y="6984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881371" y="6155115"/>
            <a:ext cx="506770" cy="688206"/>
          </a:xfrm>
          <a:custGeom>
            <a:avLst/>
            <a:gdLst/>
            <a:ahLst/>
            <a:cxnLst/>
            <a:rect r="r" b="b" t="t" l="l"/>
            <a:pathLst>
              <a:path h="688206" w="506770">
                <a:moveTo>
                  <a:pt x="0" y="0"/>
                </a:moveTo>
                <a:lnTo>
                  <a:pt x="506769" y="0"/>
                </a:lnTo>
                <a:lnTo>
                  <a:pt x="506769" y="688206"/>
                </a:lnTo>
                <a:lnTo>
                  <a:pt x="0" y="6882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414894" y="6155115"/>
            <a:ext cx="540810" cy="696593"/>
          </a:xfrm>
          <a:custGeom>
            <a:avLst/>
            <a:gdLst/>
            <a:ahLst/>
            <a:cxnLst/>
            <a:rect r="r" b="b" t="t" l="l"/>
            <a:pathLst>
              <a:path h="696593" w="540810">
                <a:moveTo>
                  <a:pt x="0" y="0"/>
                </a:moveTo>
                <a:lnTo>
                  <a:pt x="540810" y="0"/>
                </a:lnTo>
                <a:lnTo>
                  <a:pt x="540810" y="696593"/>
                </a:lnTo>
                <a:lnTo>
                  <a:pt x="0" y="6965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1610485" y="6165395"/>
            <a:ext cx="712831" cy="688206"/>
          </a:xfrm>
          <a:custGeom>
            <a:avLst/>
            <a:gdLst/>
            <a:ahLst/>
            <a:cxnLst/>
            <a:rect r="r" b="b" t="t" l="l"/>
            <a:pathLst>
              <a:path h="688206" w="712831">
                <a:moveTo>
                  <a:pt x="0" y="0"/>
                </a:moveTo>
                <a:lnTo>
                  <a:pt x="712830" y="0"/>
                </a:lnTo>
                <a:lnTo>
                  <a:pt x="712830" y="688206"/>
                </a:lnTo>
                <a:lnTo>
                  <a:pt x="0" y="6882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599685" y="8714394"/>
            <a:ext cx="2794259" cy="1572606"/>
          </a:xfrm>
          <a:custGeom>
            <a:avLst/>
            <a:gdLst/>
            <a:ahLst/>
            <a:cxnLst/>
            <a:rect r="r" b="b" t="t" l="l"/>
            <a:pathLst>
              <a:path h="1572606" w="2794259">
                <a:moveTo>
                  <a:pt x="0" y="0"/>
                </a:moveTo>
                <a:lnTo>
                  <a:pt x="2794259" y="0"/>
                </a:lnTo>
                <a:lnTo>
                  <a:pt x="2794259" y="1572606"/>
                </a:lnTo>
                <a:lnTo>
                  <a:pt x="0" y="1572606"/>
                </a:lnTo>
                <a:lnTo>
                  <a:pt x="0" y="0"/>
                </a:lnTo>
                <a:close/>
              </a:path>
            </a:pathLst>
          </a:custGeom>
          <a:blipFill>
            <a:blip r:embed="rId12"/>
            <a:stretch>
              <a:fillRect l="0" t="0" r="0" b="0"/>
            </a:stretch>
          </a:blipFill>
        </p:spPr>
      </p:sp>
      <p:sp>
        <p:nvSpPr>
          <p:cNvPr name="TextBox 14" id="14"/>
          <p:cNvSpPr txBox="true"/>
          <p:nvPr/>
        </p:nvSpPr>
        <p:spPr>
          <a:xfrm rot="0">
            <a:off x="901645" y="942669"/>
            <a:ext cx="8242355" cy="2113672"/>
          </a:xfrm>
          <a:prstGeom prst="rect">
            <a:avLst/>
          </a:prstGeom>
        </p:spPr>
        <p:txBody>
          <a:bodyPr anchor="t" rtlCol="false" tIns="0" lIns="0" bIns="0" rIns="0">
            <a:spAutoFit/>
          </a:bodyPr>
          <a:lstStyle/>
          <a:p>
            <a:pPr algn="l" marL="0" indent="0" lvl="1">
              <a:lnSpc>
                <a:spcPts val="8264"/>
              </a:lnSpc>
            </a:pPr>
            <a:r>
              <a:rPr lang="en-US" sz="7796" spc="-389">
                <a:solidFill>
                  <a:srgbClr val="FFFFFF"/>
                </a:solidFill>
                <a:latin typeface="DM Sans"/>
                <a:ea typeface="DM Sans"/>
                <a:cs typeface="DM Sans"/>
                <a:sym typeface="DM Sans"/>
              </a:rPr>
              <a:t>Pre-Refurbishment Audit </a:t>
            </a:r>
          </a:p>
        </p:txBody>
      </p:sp>
      <p:sp>
        <p:nvSpPr>
          <p:cNvPr name="TextBox 15" id="15"/>
          <p:cNvSpPr txBox="true"/>
          <p:nvPr/>
        </p:nvSpPr>
        <p:spPr>
          <a:xfrm rot="0">
            <a:off x="901645" y="4030411"/>
            <a:ext cx="5445775" cy="1057904"/>
          </a:xfrm>
          <a:prstGeom prst="rect">
            <a:avLst/>
          </a:prstGeom>
        </p:spPr>
        <p:txBody>
          <a:bodyPr anchor="t" rtlCol="false" tIns="0" lIns="0" bIns="0" rIns="0">
            <a:spAutoFit/>
          </a:bodyPr>
          <a:lstStyle/>
          <a:p>
            <a:pPr algn="l">
              <a:lnSpc>
                <a:spcPts val="2065"/>
              </a:lnSpc>
            </a:pPr>
            <a:r>
              <a:rPr lang="en-US" sz="1475">
                <a:solidFill>
                  <a:srgbClr val="FFFFFF"/>
                </a:solidFill>
                <a:latin typeface="Heading Now 71-78"/>
                <a:ea typeface="Heading Now 71-78"/>
                <a:cs typeface="Heading Now 71-78"/>
                <a:sym typeface="Heading Now 71-78"/>
              </a:rPr>
              <a:t>ASSESS. PLAN. MANAGE. SUSTAIN.</a:t>
            </a:r>
          </a:p>
          <a:p>
            <a:pPr algn="l">
              <a:lnSpc>
                <a:spcPts val="2065"/>
              </a:lnSpc>
            </a:pPr>
          </a:p>
          <a:p>
            <a:pPr algn="l">
              <a:lnSpc>
                <a:spcPts val="2065"/>
              </a:lnSpc>
              <a:spcBef>
                <a:spcPct val="0"/>
              </a:spcBef>
            </a:pPr>
            <a:r>
              <a:rPr lang="en-US" sz="1475">
                <a:solidFill>
                  <a:srgbClr val="FFFFFF"/>
                </a:solidFill>
                <a:latin typeface="Heading Now 71-78"/>
                <a:ea typeface="Heading Now 71-78"/>
                <a:cs typeface="Heading Now 71-78"/>
                <a:sym typeface="Heading Now 71-78"/>
              </a:rPr>
              <a:t>A comprehensive assessment to support responsible deconstruction and resource recovery.</a:t>
            </a:r>
          </a:p>
        </p:txBody>
      </p:sp>
      <p:sp>
        <p:nvSpPr>
          <p:cNvPr name="TextBox 16" id="16"/>
          <p:cNvSpPr txBox="true"/>
          <p:nvPr/>
        </p:nvSpPr>
        <p:spPr>
          <a:xfrm rot="0">
            <a:off x="14124856" y="9231307"/>
            <a:ext cx="2681563" cy="323735"/>
          </a:xfrm>
          <a:prstGeom prst="rect">
            <a:avLst/>
          </a:prstGeom>
        </p:spPr>
        <p:txBody>
          <a:bodyPr anchor="t" rtlCol="false" tIns="0" lIns="0" bIns="0" rIns="0">
            <a:spAutoFit/>
          </a:bodyPr>
          <a:lstStyle/>
          <a:p>
            <a:pPr algn="ctr">
              <a:lnSpc>
                <a:spcPts val="2416"/>
              </a:lnSpc>
              <a:spcBef>
                <a:spcPct val="0"/>
              </a:spcBef>
            </a:pPr>
            <a:r>
              <a:rPr lang="en-US" sz="1726">
                <a:solidFill>
                  <a:srgbClr val="FFFFFF"/>
                </a:solidFill>
                <a:latin typeface="Avenir"/>
                <a:ea typeface="Avenir"/>
                <a:cs typeface="Avenir"/>
                <a:sym typeface="Avenir"/>
              </a:rPr>
              <a:t>www.lawmens.co.uk</a:t>
            </a:r>
          </a:p>
        </p:txBody>
      </p:sp>
      <p:sp>
        <p:nvSpPr>
          <p:cNvPr name="TextBox 17" id="17"/>
          <p:cNvSpPr txBox="true"/>
          <p:nvPr/>
        </p:nvSpPr>
        <p:spPr>
          <a:xfrm rot="0">
            <a:off x="575819" y="7243371"/>
            <a:ext cx="2414305" cy="534029"/>
          </a:xfrm>
          <a:prstGeom prst="rect">
            <a:avLst/>
          </a:prstGeom>
        </p:spPr>
        <p:txBody>
          <a:bodyPr anchor="t" rtlCol="false" tIns="0" lIns="0" bIns="0" rIns="0">
            <a:spAutoFit/>
          </a:bodyPr>
          <a:lstStyle/>
          <a:p>
            <a:pPr algn="ctr">
              <a:lnSpc>
                <a:spcPts val="2065"/>
              </a:lnSpc>
            </a:pPr>
            <a:r>
              <a:rPr lang="en-US" sz="1475">
                <a:solidFill>
                  <a:srgbClr val="FFFFFF"/>
                </a:solidFill>
                <a:latin typeface="Avenir"/>
                <a:ea typeface="Avenir"/>
                <a:cs typeface="Avenir"/>
                <a:sym typeface="Avenir"/>
              </a:rPr>
              <a:t>Date of report:</a:t>
            </a:r>
          </a:p>
          <a:p>
            <a:pPr algn="ctr">
              <a:lnSpc>
                <a:spcPts val="2065"/>
              </a:lnSpc>
              <a:spcBef>
                <a:spcPct val="0"/>
              </a:spcBef>
            </a:pPr>
            <a:r>
              <a:rPr lang="en-US" sz="1475">
                <a:solidFill>
                  <a:srgbClr val="FFFFFF"/>
                </a:solidFill>
                <a:latin typeface="Avenir"/>
                <a:ea typeface="Avenir"/>
                <a:cs typeface="Avenir"/>
                <a:sym typeface="Avenir"/>
              </a:rPr>
              <a:t>{{DATE_OF_REPORT}}</a:t>
            </a:r>
          </a:p>
        </p:txBody>
      </p:sp>
      <p:sp>
        <p:nvSpPr>
          <p:cNvPr name="TextBox 18" id="18"/>
          <p:cNvSpPr txBox="true"/>
          <p:nvPr/>
        </p:nvSpPr>
        <p:spPr>
          <a:xfrm rot="0">
            <a:off x="3751005" y="7243371"/>
            <a:ext cx="2767502" cy="534029"/>
          </a:xfrm>
          <a:prstGeom prst="rect">
            <a:avLst/>
          </a:prstGeom>
        </p:spPr>
        <p:txBody>
          <a:bodyPr anchor="t" rtlCol="false" tIns="0" lIns="0" bIns="0" rIns="0">
            <a:spAutoFit/>
          </a:bodyPr>
          <a:lstStyle/>
          <a:p>
            <a:pPr algn="ctr">
              <a:lnSpc>
                <a:spcPts val="2065"/>
              </a:lnSpc>
            </a:pPr>
            <a:r>
              <a:rPr lang="en-US" sz="1475">
                <a:solidFill>
                  <a:srgbClr val="FFFFFF"/>
                </a:solidFill>
                <a:latin typeface="Avenir"/>
                <a:ea typeface="Avenir"/>
                <a:cs typeface="Avenir"/>
                <a:sym typeface="Avenir"/>
              </a:rPr>
              <a:t>Project Address:</a:t>
            </a:r>
          </a:p>
          <a:p>
            <a:pPr algn="ctr">
              <a:lnSpc>
                <a:spcPts val="2065"/>
              </a:lnSpc>
              <a:spcBef>
                <a:spcPct val="0"/>
              </a:spcBef>
            </a:pPr>
            <a:r>
              <a:rPr lang="en-US" sz="1475">
                <a:solidFill>
                  <a:srgbClr val="FFFFFF"/>
                </a:solidFill>
                <a:latin typeface="Avenir"/>
                <a:ea typeface="Avenir"/>
                <a:cs typeface="Avenir"/>
                <a:sym typeface="Avenir"/>
              </a:rPr>
              <a:t>{{PROJECT_ADDRESS}}</a:t>
            </a:r>
          </a:p>
        </p:txBody>
      </p:sp>
      <p:sp>
        <p:nvSpPr>
          <p:cNvPr name="TextBox 19" id="19"/>
          <p:cNvSpPr txBox="true"/>
          <p:nvPr/>
        </p:nvSpPr>
        <p:spPr>
          <a:xfrm rot="0">
            <a:off x="7319519" y="7243371"/>
            <a:ext cx="2685157" cy="534029"/>
          </a:xfrm>
          <a:prstGeom prst="rect">
            <a:avLst/>
          </a:prstGeom>
        </p:spPr>
        <p:txBody>
          <a:bodyPr anchor="t" rtlCol="false" tIns="0" lIns="0" bIns="0" rIns="0">
            <a:spAutoFit/>
          </a:bodyPr>
          <a:lstStyle/>
          <a:p>
            <a:pPr algn="ctr">
              <a:lnSpc>
                <a:spcPts val="2065"/>
              </a:lnSpc>
            </a:pPr>
            <a:r>
              <a:rPr lang="en-US" sz="1475">
                <a:solidFill>
                  <a:srgbClr val="FFFFFF"/>
                </a:solidFill>
                <a:latin typeface="Avenir"/>
                <a:ea typeface="Avenir"/>
                <a:cs typeface="Avenir"/>
                <a:sym typeface="Avenir"/>
              </a:rPr>
              <a:t>Report Number:</a:t>
            </a:r>
          </a:p>
          <a:p>
            <a:pPr algn="ctr">
              <a:lnSpc>
                <a:spcPts val="2065"/>
              </a:lnSpc>
              <a:spcBef>
                <a:spcPct val="0"/>
              </a:spcBef>
            </a:pPr>
            <a:r>
              <a:rPr lang="en-US" sz="1475">
                <a:solidFill>
                  <a:srgbClr val="FFFFFF"/>
                </a:solidFill>
                <a:latin typeface="Avenir"/>
                <a:ea typeface="Avenir"/>
                <a:cs typeface="Avenir"/>
                <a:sym typeface="Avenir"/>
              </a:rPr>
              <a:t>{{REPORT_NUMBER}}</a:t>
            </a:r>
          </a:p>
        </p:txBody>
      </p:sp>
      <p:sp>
        <p:nvSpPr>
          <p:cNvPr name="TextBox 20" id="20"/>
          <p:cNvSpPr txBox="true"/>
          <p:nvPr/>
        </p:nvSpPr>
        <p:spPr>
          <a:xfrm rot="0">
            <a:off x="10721136" y="7243371"/>
            <a:ext cx="2491529" cy="534029"/>
          </a:xfrm>
          <a:prstGeom prst="rect">
            <a:avLst/>
          </a:prstGeom>
        </p:spPr>
        <p:txBody>
          <a:bodyPr anchor="t" rtlCol="false" tIns="0" lIns="0" bIns="0" rIns="0">
            <a:spAutoFit/>
          </a:bodyPr>
          <a:lstStyle/>
          <a:p>
            <a:pPr algn="ctr">
              <a:lnSpc>
                <a:spcPts val="2065"/>
              </a:lnSpc>
            </a:pPr>
            <a:r>
              <a:rPr lang="en-US" sz="1475">
                <a:solidFill>
                  <a:srgbClr val="FFFFFF"/>
                </a:solidFill>
                <a:latin typeface="Avenir"/>
                <a:ea typeface="Avenir"/>
                <a:cs typeface="Avenir"/>
                <a:sym typeface="Avenir"/>
              </a:rPr>
              <a:t>Company:</a:t>
            </a:r>
          </a:p>
          <a:p>
            <a:pPr algn="ctr">
              <a:lnSpc>
                <a:spcPts val="2065"/>
              </a:lnSpc>
              <a:spcBef>
                <a:spcPct val="0"/>
              </a:spcBef>
            </a:pPr>
            <a:r>
              <a:rPr lang="en-US" sz="1475">
                <a:solidFill>
                  <a:srgbClr val="FFFFFF"/>
                </a:solidFill>
                <a:latin typeface="Avenir"/>
                <a:ea typeface="Avenir"/>
                <a:cs typeface="Avenir"/>
                <a:sym typeface="Avenir"/>
              </a:rPr>
              <a:t>{{COMPANY_NAME}}</a:t>
            </a:r>
          </a:p>
        </p:txBody>
      </p:sp>
      <p:sp>
        <p:nvSpPr>
          <p:cNvPr name="TextBox 21" id="21"/>
          <p:cNvSpPr txBox="true"/>
          <p:nvPr/>
        </p:nvSpPr>
        <p:spPr>
          <a:xfrm rot="0">
            <a:off x="3913644" y="9268662"/>
            <a:ext cx="1934170" cy="286379"/>
          </a:xfrm>
          <a:prstGeom prst="rect">
            <a:avLst/>
          </a:prstGeom>
        </p:spPr>
        <p:txBody>
          <a:bodyPr anchor="t" rtlCol="false" tIns="0" lIns="0" bIns="0" rIns="0">
            <a:spAutoFit/>
          </a:bodyPr>
          <a:lstStyle/>
          <a:p>
            <a:pPr algn="ctr">
              <a:lnSpc>
                <a:spcPts val="2065"/>
              </a:lnSpc>
              <a:spcBef>
                <a:spcPct val="0"/>
              </a:spcBef>
            </a:pPr>
            <a:r>
              <a:rPr lang="en-US" sz="1475">
                <a:solidFill>
                  <a:srgbClr val="FFFFFF"/>
                </a:solidFill>
                <a:latin typeface="Heading Now 71-78"/>
                <a:ea typeface="Heading Now 71-78"/>
                <a:cs typeface="Heading Now 71-78"/>
                <a:sym typeface="Heading Now 71-78"/>
              </a:rPr>
              <a:t>In partnership with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75386"/>
          </a:xfrm>
          <a:custGeom>
            <a:avLst/>
            <a:gdLst/>
            <a:ahLst/>
            <a:cxnLst/>
            <a:rect r="r" b="b" t="t" l="l"/>
            <a:pathLst>
              <a:path h="10275386" w="18288000">
                <a:moveTo>
                  <a:pt x="0" y="0"/>
                </a:moveTo>
                <a:lnTo>
                  <a:pt x="18288000" y="0"/>
                </a:lnTo>
                <a:lnTo>
                  <a:pt x="18288000" y="10275386"/>
                </a:lnTo>
                <a:lnTo>
                  <a:pt x="0" y="10275386"/>
                </a:lnTo>
                <a:lnTo>
                  <a:pt x="0" y="0"/>
                </a:lnTo>
                <a:close/>
              </a:path>
            </a:pathLst>
          </a:custGeom>
          <a:blipFill>
            <a:blip r:embed="rId2"/>
            <a:stretch>
              <a:fillRect l="0" t="0" r="0" b="0"/>
            </a:stretch>
          </a:blipFill>
        </p:spPr>
      </p:sp>
      <p:sp>
        <p:nvSpPr>
          <p:cNvPr name="AutoShape 3" id="3"/>
          <p:cNvSpPr/>
          <p:nvPr/>
        </p:nvSpPr>
        <p:spPr>
          <a:xfrm>
            <a:off x="1857018" y="4899728"/>
            <a:ext cx="3257138" cy="0"/>
          </a:xfrm>
          <a:prstGeom prst="line">
            <a:avLst/>
          </a:prstGeom>
          <a:ln cap="flat" w="19050">
            <a:solidFill>
              <a:srgbClr val="A3CF3E"/>
            </a:solidFill>
            <a:prstDash val="solid"/>
            <a:headEnd type="none" len="sm" w="sm"/>
            <a:tailEnd type="none" len="sm" w="sm"/>
          </a:ln>
        </p:spPr>
      </p:sp>
      <p:sp>
        <p:nvSpPr>
          <p:cNvPr name="Freeform 4" id="4"/>
          <p:cNvSpPr/>
          <p:nvPr/>
        </p:nvSpPr>
        <p:spPr>
          <a:xfrm flipH="false" flipV="false" rot="0">
            <a:off x="8983899" y="6103828"/>
            <a:ext cx="340000" cy="382414"/>
          </a:xfrm>
          <a:custGeom>
            <a:avLst/>
            <a:gdLst/>
            <a:ahLst/>
            <a:cxnLst/>
            <a:rect r="r" b="b" t="t" l="l"/>
            <a:pathLst>
              <a:path h="382414" w="340000">
                <a:moveTo>
                  <a:pt x="0" y="0"/>
                </a:moveTo>
                <a:lnTo>
                  <a:pt x="340000" y="0"/>
                </a:lnTo>
                <a:lnTo>
                  <a:pt x="340000" y="382414"/>
                </a:lnTo>
                <a:lnTo>
                  <a:pt x="0" y="3824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964101" y="2483894"/>
            <a:ext cx="359798" cy="440733"/>
          </a:xfrm>
          <a:custGeom>
            <a:avLst/>
            <a:gdLst/>
            <a:ahLst/>
            <a:cxnLst/>
            <a:rect r="r" b="b" t="t" l="l"/>
            <a:pathLst>
              <a:path h="440733" w="359798">
                <a:moveTo>
                  <a:pt x="0" y="0"/>
                </a:moveTo>
                <a:lnTo>
                  <a:pt x="359798" y="0"/>
                </a:lnTo>
                <a:lnTo>
                  <a:pt x="359798" y="440733"/>
                </a:lnTo>
                <a:lnTo>
                  <a:pt x="0" y="4407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5360670"/>
            <a:ext cx="4913774" cy="3897630"/>
          </a:xfrm>
          <a:prstGeom prst="rect">
            <a:avLst/>
          </a:prstGeom>
        </p:spPr>
        <p:txBody>
          <a:bodyPr anchor="t" rtlCol="false" tIns="0" lIns="0" bIns="0" rIns="0">
            <a:spAutoFit/>
          </a:bodyPr>
          <a:lstStyle/>
          <a:p>
            <a:pPr algn="just">
              <a:lnSpc>
                <a:spcPts val="2070"/>
              </a:lnSpc>
            </a:pPr>
            <a:r>
              <a:rPr lang="en-US" sz="1800" spc="-9">
                <a:solidFill>
                  <a:srgbClr val="F7FBF8"/>
                </a:solidFill>
                <a:latin typeface="Avenir"/>
                <a:ea typeface="Avenir"/>
                <a:cs typeface="Avenir"/>
                <a:sym typeface="Avenir"/>
              </a:rPr>
              <a:t>Both parties who prepared the report work for the Lawmans Group of companies, and have appropriate knowledge of buildings, waste and options for reuse and recycling of different waste streams.</a:t>
            </a:r>
          </a:p>
          <a:p>
            <a:pPr algn="just">
              <a:lnSpc>
                <a:spcPts val="2070"/>
              </a:lnSpc>
            </a:pPr>
          </a:p>
          <a:p>
            <a:pPr algn="just">
              <a:lnSpc>
                <a:spcPts val="2070"/>
              </a:lnSpc>
            </a:pPr>
            <a:r>
              <a:rPr lang="en-US" sz="1800" spc="-9">
                <a:solidFill>
                  <a:srgbClr val="F7FBF8"/>
                </a:solidFill>
                <a:latin typeface="Avenir"/>
                <a:ea typeface="Avenir"/>
                <a:cs typeface="Avenir"/>
                <a:sym typeface="Avenir"/>
              </a:rPr>
              <a:t>This report is made on behalf of Lawmans UK using the Lawmens branding and may only be distributed in its entirety, without amendment. Lawmen’s liability in respect of this report and reliance thereupon shall be as per the terms and conditions of contract with the client and Lawmens shall have no liability to third parties to the extent permitted in law.</a:t>
            </a:r>
          </a:p>
          <a:p>
            <a:pPr algn="just" marL="0" indent="0" lvl="0">
              <a:lnSpc>
                <a:spcPts val="2070"/>
              </a:lnSpc>
              <a:spcBef>
                <a:spcPct val="0"/>
              </a:spcBef>
            </a:pPr>
          </a:p>
        </p:txBody>
      </p:sp>
      <p:sp>
        <p:nvSpPr>
          <p:cNvPr name="TextBox 7" id="7"/>
          <p:cNvSpPr txBox="true"/>
          <p:nvPr/>
        </p:nvSpPr>
        <p:spPr>
          <a:xfrm rot="0">
            <a:off x="1857018" y="2269783"/>
            <a:ext cx="5174311" cy="2177437"/>
          </a:xfrm>
          <a:prstGeom prst="rect">
            <a:avLst/>
          </a:prstGeom>
        </p:spPr>
        <p:txBody>
          <a:bodyPr anchor="t" rtlCol="false" tIns="0" lIns="0" bIns="0" rIns="0">
            <a:spAutoFit/>
          </a:bodyPr>
          <a:lstStyle/>
          <a:p>
            <a:pPr algn="l" marL="0" indent="0" lvl="1">
              <a:lnSpc>
                <a:spcPts val="4239"/>
              </a:lnSpc>
              <a:spcBef>
                <a:spcPct val="0"/>
              </a:spcBef>
            </a:pPr>
            <a:r>
              <a:rPr lang="en-US" sz="4710" spc="-235">
                <a:solidFill>
                  <a:srgbClr val="F7FBF8"/>
                </a:solidFill>
                <a:latin typeface="DM Sans"/>
                <a:ea typeface="DM Sans"/>
                <a:cs typeface="DM Sans"/>
                <a:sym typeface="DM Sans"/>
              </a:rPr>
              <a:t>Report Prepared by Lawmans: Expertise and Terms of Distribution</a:t>
            </a:r>
          </a:p>
        </p:txBody>
      </p:sp>
      <p:sp>
        <p:nvSpPr>
          <p:cNvPr name="TextBox 8" id="8"/>
          <p:cNvSpPr txBox="true"/>
          <p:nvPr/>
        </p:nvSpPr>
        <p:spPr>
          <a:xfrm rot="0">
            <a:off x="9590916" y="6013603"/>
            <a:ext cx="3300919" cy="471540"/>
          </a:xfrm>
          <a:prstGeom prst="rect">
            <a:avLst/>
          </a:prstGeom>
        </p:spPr>
        <p:txBody>
          <a:bodyPr anchor="t" rtlCol="false" tIns="0" lIns="0" bIns="0" rIns="0">
            <a:spAutoFit/>
          </a:bodyPr>
          <a:lstStyle/>
          <a:p>
            <a:pPr algn="l">
              <a:lnSpc>
                <a:spcPts val="3409"/>
              </a:lnSpc>
              <a:spcBef>
                <a:spcPct val="0"/>
              </a:spcBef>
            </a:pPr>
            <a:r>
              <a:rPr lang="en-US" sz="2435">
                <a:solidFill>
                  <a:srgbClr val="A4CE3E"/>
                </a:solidFill>
                <a:latin typeface="Avenir"/>
                <a:ea typeface="Avenir"/>
                <a:cs typeface="Avenir"/>
                <a:sym typeface="Avenir"/>
              </a:rPr>
              <a:t>Prepared by:</a:t>
            </a:r>
          </a:p>
        </p:txBody>
      </p:sp>
      <p:sp>
        <p:nvSpPr>
          <p:cNvPr name="TextBox 9" id="9"/>
          <p:cNvSpPr txBox="true"/>
          <p:nvPr/>
        </p:nvSpPr>
        <p:spPr>
          <a:xfrm rot="0">
            <a:off x="9590916" y="2415554"/>
            <a:ext cx="4014179" cy="471540"/>
          </a:xfrm>
          <a:prstGeom prst="rect">
            <a:avLst/>
          </a:prstGeom>
        </p:spPr>
        <p:txBody>
          <a:bodyPr anchor="t" rtlCol="false" tIns="0" lIns="0" bIns="0" rIns="0">
            <a:spAutoFit/>
          </a:bodyPr>
          <a:lstStyle/>
          <a:p>
            <a:pPr algn="l">
              <a:lnSpc>
                <a:spcPts val="3409"/>
              </a:lnSpc>
              <a:spcBef>
                <a:spcPct val="0"/>
              </a:spcBef>
            </a:pPr>
            <a:r>
              <a:rPr lang="en-US" sz="2435">
                <a:solidFill>
                  <a:srgbClr val="A4CE3E"/>
                </a:solidFill>
                <a:latin typeface="Avenir"/>
                <a:ea typeface="Avenir"/>
                <a:cs typeface="Avenir"/>
                <a:sym typeface="Avenir"/>
              </a:rPr>
              <a:t>Authorised by:</a:t>
            </a:r>
          </a:p>
        </p:txBody>
      </p:sp>
      <p:sp>
        <p:nvSpPr>
          <p:cNvPr name="TextBox 10" id="10"/>
          <p:cNvSpPr txBox="true"/>
          <p:nvPr/>
        </p:nvSpPr>
        <p:spPr>
          <a:xfrm rot="0">
            <a:off x="8964101" y="3326575"/>
            <a:ext cx="4933326" cy="1927874"/>
          </a:xfrm>
          <a:prstGeom prst="rect">
            <a:avLst/>
          </a:prstGeom>
        </p:spPr>
        <p:txBody>
          <a:bodyPr anchor="t" rtlCol="false" tIns="0" lIns="0" bIns="0" rIns="0">
            <a:spAutoFit/>
          </a:bodyPr>
          <a:lstStyle/>
          <a:p>
            <a:pPr algn="just">
              <a:lnSpc>
                <a:spcPts val="2517"/>
              </a:lnSpc>
            </a:pPr>
            <a:r>
              <a:rPr lang="en-US" sz="1798">
                <a:solidFill>
                  <a:srgbClr val="FFFFFF"/>
                </a:solidFill>
                <a:latin typeface="Avenir"/>
                <a:ea typeface="Avenir"/>
                <a:cs typeface="Avenir"/>
                <a:sym typeface="Avenir"/>
              </a:rPr>
              <a:t>Name: Andrew Wedlake </a:t>
            </a:r>
          </a:p>
          <a:p>
            <a:pPr algn="just">
              <a:lnSpc>
                <a:spcPts val="2517"/>
              </a:lnSpc>
            </a:pPr>
          </a:p>
          <a:p>
            <a:pPr algn="just">
              <a:lnSpc>
                <a:spcPts val="2517"/>
              </a:lnSpc>
            </a:pPr>
            <a:r>
              <a:rPr lang="en-US" sz="1798">
                <a:solidFill>
                  <a:srgbClr val="FFFFFF"/>
                </a:solidFill>
                <a:latin typeface="Avenir"/>
                <a:ea typeface="Avenir"/>
                <a:cs typeface="Avenir"/>
                <a:sym typeface="Avenir"/>
              </a:rPr>
              <a:t>Position: Sustainability Director</a:t>
            </a:r>
          </a:p>
          <a:p>
            <a:pPr algn="just">
              <a:lnSpc>
                <a:spcPts val="2517"/>
              </a:lnSpc>
            </a:pPr>
          </a:p>
          <a:p>
            <a:pPr algn="just">
              <a:lnSpc>
                <a:spcPts val="2517"/>
              </a:lnSpc>
            </a:pPr>
            <a:r>
              <a:rPr lang="en-US" sz="1798">
                <a:solidFill>
                  <a:srgbClr val="FFFFFF"/>
                </a:solidFill>
                <a:latin typeface="Avenir"/>
                <a:ea typeface="Avenir"/>
                <a:cs typeface="Avenir"/>
                <a:sym typeface="Avenir"/>
              </a:rPr>
              <a:t>Date: {{AUTHORISED_DATE}}</a:t>
            </a:r>
          </a:p>
          <a:p>
            <a:pPr algn="just">
              <a:lnSpc>
                <a:spcPts val="2517"/>
              </a:lnSpc>
              <a:spcBef>
                <a:spcPct val="0"/>
              </a:spcBef>
            </a:pPr>
          </a:p>
        </p:txBody>
      </p:sp>
      <p:sp>
        <p:nvSpPr>
          <p:cNvPr name="TextBox 11" id="11"/>
          <p:cNvSpPr txBox="true"/>
          <p:nvPr/>
        </p:nvSpPr>
        <p:spPr>
          <a:xfrm rot="0">
            <a:off x="8906782" y="6939532"/>
            <a:ext cx="4933326" cy="1927874"/>
          </a:xfrm>
          <a:prstGeom prst="rect">
            <a:avLst/>
          </a:prstGeom>
        </p:spPr>
        <p:txBody>
          <a:bodyPr anchor="t" rtlCol="false" tIns="0" lIns="0" bIns="0" rIns="0">
            <a:spAutoFit/>
          </a:bodyPr>
          <a:lstStyle/>
          <a:p>
            <a:pPr algn="just">
              <a:lnSpc>
                <a:spcPts val="2517"/>
              </a:lnSpc>
            </a:pPr>
            <a:r>
              <a:rPr lang="en-US" sz="1798">
                <a:solidFill>
                  <a:srgbClr val="FFFFFF"/>
                </a:solidFill>
                <a:latin typeface="Avenir"/>
                <a:ea typeface="Avenir"/>
                <a:cs typeface="Avenir"/>
                <a:sym typeface="Avenir"/>
              </a:rPr>
              <a:t>Name: {{PREPARED_BY_NAME}}</a:t>
            </a:r>
          </a:p>
          <a:p>
            <a:pPr algn="just">
              <a:lnSpc>
                <a:spcPts val="2517"/>
              </a:lnSpc>
            </a:pPr>
          </a:p>
          <a:p>
            <a:pPr algn="just">
              <a:lnSpc>
                <a:spcPts val="2517"/>
              </a:lnSpc>
            </a:pPr>
            <a:r>
              <a:rPr lang="en-US" sz="1798">
                <a:solidFill>
                  <a:srgbClr val="FFFFFF"/>
                </a:solidFill>
                <a:latin typeface="Avenir"/>
                <a:ea typeface="Avenir"/>
                <a:cs typeface="Avenir"/>
                <a:sym typeface="Avenir"/>
              </a:rPr>
              <a:t>Position: {{PREPARED_BY_ROLE}}</a:t>
            </a:r>
          </a:p>
          <a:p>
            <a:pPr algn="just">
              <a:lnSpc>
                <a:spcPts val="2517"/>
              </a:lnSpc>
            </a:pPr>
          </a:p>
          <a:p>
            <a:pPr algn="just">
              <a:lnSpc>
                <a:spcPts val="2517"/>
              </a:lnSpc>
            </a:pPr>
            <a:r>
              <a:rPr lang="en-US" sz="1798">
                <a:solidFill>
                  <a:srgbClr val="FFFFFF"/>
                </a:solidFill>
                <a:latin typeface="Avenir"/>
                <a:ea typeface="Avenir"/>
                <a:cs typeface="Avenir"/>
                <a:sym typeface="Avenir"/>
              </a:rPr>
              <a:t>Date: {{PREPARED_DATE}}</a:t>
            </a:r>
          </a:p>
          <a:p>
            <a:pPr algn="just">
              <a:lnSpc>
                <a:spcPts val="2517"/>
              </a:lnSpc>
              <a:spcBef>
                <a:spcPct val="0"/>
              </a:spcBef>
            </a:pPr>
          </a:p>
        </p:txBody>
      </p:sp>
      <p:sp>
        <p:nvSpPr>
          <p:cNvPr name="Freeform 12" id="12"/>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7"/>
            <a:stretch>
              <a:fillRect l="-3403" t="0" r="-284642" b="0"/>
            </a:stretch>
          </a:blipFill>
        </p:spPr>
      </p:sp>
      <p:sp>
        <p:nvSpPr>
          <p:cNvPr name="Freeform 13" id="13"/>
          <p:cNvSpPr/>
          <p:nvPr/>
        </p:nvSpPr>
        <p:spPr>
          <a:xfrm flipH="false" flipV="false" rot="0">
            <a:off x="528078" y="2176754"/>
            <a:ext cx="1062239" cy="1055013"/>
          </a:xfrm>
          <a:custGeom>
            <a:avLst/>
            <a:gdLst/>
            <a:ahLst/>
            <a:cxnLst/>
            <a:rect r="r" b="b" t="t" l="l"/>
            <a:pathLst>
              <a:path h="1055013" w="1062239">
                <a:moveTo>
                  <a:pt x="0" y="0"/>
                </a:moveTo>
                <a:lnTo>
                  <a:pt x="1062240" y="0"/>
                </a:lnTo>
                <a:lnTo>
                  <a:pt x="1062240" y="1055013"/>
                </a:lnTo>
                <a:lnTo>
                  <a:pt x="0" y="1055013"/>
                </a:lnTo>
                <a:lnTo>
                  <a:pt x="0" y="0"/>
                </a:lnTo>
                <a:close/>
              </a:path>
            </a:pathLst>
          </a:custGeom>
          <a:blipFill>
            <a:blip r:embed="rId8"/>
            <a:stretch>
              <a:fillRect l="-8797" t="-66863" r="-261858" b="-81932"/>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92337" y="2354941"/>
            <a:ext cx="6658110" cy="0"/>
          </a:xfrm>
          <a:prstGeom prst="line">
            <a:avLst/>
          </a:prstGeom>
          <a:ln cap="flat" w="19050">
            <a:solidFill>
              <a:srgbClr val="A3CF3E"/>
            </a:solidFill>
            <a:prstDash val="solid"/>
            <a:headEnd type="none" len="sm" w="sm"/>
            <a:tailEnd type="none" len="sm" w="sm"/>
          </a:ln>
        </p:spPr>
      </p:sp>
      <p:grpSp>
        <p:nvGrpSpPr>
          <p:cNvPr name="Group 3" id="3"/>
          <p:cNvGrpSpPr/>
          <p:nvPr/>
        </p:nvGrpSpPr>
        <p:grpSpPr>
          <a:xfrm rot="0">
            <a:off x="8398397" y="371457"/>
            <a:ext cx="9313449" cy="2640117"/>
            <a:chOff x="0" y="0"/>
            <a:chExt cx="2059102" cy="583701"/>
          </a:xfrm>
        </p:grpSpPr>
        <p:sp>
          <p:nvSpPr>
            <p:cNvPr name="Freeform 4" id="4"/>
            <p:cNvSpPr/>
            <p:nvPr/>
          </p:nvSpPr>
          <p:spPr>
            <a:xfrm flipH="false" flipV="false" rot="0">
              <a:off x="0" y="0"/>
              <a:ext cx="2059102" cy="583701"/>
            </a:xfrm>
            <a:custGeom>
              <a:avLst/>
              <a:gdLst/>
              <a:ahLst/>
              <a:cxnLst/>
              <a:rect r="r" b="b" t="t" l="l"/>
              <a:pathLst>
                <a:path h="583701" w="2059102">
                  <a:moveTo>
                    <a:pt x="29094" y="0"/>
                  </a:moveTo>
                  <a:lnTo>
                    <a:pt x="2030008" y="0"/>
                  </a:lnTo>
                  <a:cubicBezTo>
                    <a:pt x="2046076" y="0"/>
                    <a:pt x="2059102" y="13026"/>
                    <a:pt x="2059102" y="29094"/>
                  </a:cubicBezTo>
                  <a:lnTo>
                    <a:pt x="2059102" y="554607"/>
                  </a:lnTo>
                  <a:cubicBezTo>
                    <a:pt x="2059102" y="570675"/>
                    <a:pt x="2046076" y="583701"/>
                    <a:pt x="2030008" y="583701"/>
                  </a:cubicBezTo>
                  <a:lnTo>
                    <a:pt x="29094" y="583701"/>
                  </a:lnTo>
                  <a:cubicBezTo>
                    <a:pt x="13026" y="583701"/>
                    <a:pt x="0" y="570675"/>
                    <a:pt x="0" y="554607"/>
                  </a:cubicBezTo>
                  <a:lnTo>
                    <a:pt x="0" y="29094"/>
                  </a:lnTo>
                  <a:cubicBezTo>
                    <a:pt x="0" y="13026"/>
                    <a:pt x="13026" y="0"/>
                    <a:pt x="29094" y="0"/>
                  </a:cubicBezTo>
                  <a:close/>
                </a:path>
              </a:pathLst>
            </a:custGeom>
            <a:solidFill>
              <a:srgbClr val="EDEDED"/>
            </a:solidFill>
          </p:spPr>
        </p:sp>
        <p:sp>
          <p:nvSpPr>
            <p:cNvPr name="TextBox 5" id="5"/>
            <p:cNvSpPr txBox="true"/>
            <p:nvPr/>
          </p:nvSpPr>
          <p:spPr>
            <a:xfrm>
              <a:off x="0" y="-66675"/>
              <a:ext cx="2059102" cy="650376"/>
            </a:xfrm>
            <a:prstGeom prst="rect">
              <a:avLst/>
            </a:prstGeom>
          </p:spPr>
          <p:txBody>
            <a:bodyPr anchor="ctr" rtlCol="false" tIns="50800" lIns="50800" bIns="50800" rIns="50800"/>
            <a:lstStyle/>
            <a:p>
              <a:pPr algn="ctr">
                <a:lnSpc>
                  <a:spcPts val="2345"/>
                </a:lnSpc>
              </a:pPr>
            </a:p>
          </p:txBody>
        </p:sp>
      </p:grpSp>
      <p:grpSp>
        <p:nvGrpSpPr>
          <p:cNvPr name="Group 6" id="6"/>
          <p:cNvGrpSpPr/>
          <p:nvPr/>
        </p:nvGrpSpPr>
        <p:grpSpPr>
          <a:xfrm rot="0">
            <a:off x="8398397" y="3297568"/>
            <a:ext cx="9313449" cy="2566151"/>
            <a:chOff x="0" y="0"/>
            <a:chExt cx="2059102" cy="567348"/>
          </a:xfrm>
        </p:grpSpPr>
        <p:sp>
          <p:nvSpPr>
            <p:cNvPr name="Freeform 7" id="7"/>
            <p:cNvSpPr/>
            <p:nvPr/>
          </p:nvSpPr>
          <p:spPr>
            <a:xfrm flipH="false" flipV="false" rot="0">
              <a:off x="0" y="0"/>
              <a:ext cx="2059102" cy="567348"/>
            </a:xfrm>
            <a:custGeom>
              <a:avLst/>
              <a:gdLst/>
              <a:ahLst/>
              <a:cxnLst/>
              <a:rect r="r" b="b" t="t" l="l"/>
              <a:pathLst>
                <a:path h="567348" w="2059102">
                  <a:moveTo>
                    <a:pt x="29094" y="0"/>
                  </a:moveTo>
                  <a:lnTo>
                    <a:pt x="2030008" y="0"/>
                  </a:lnTo>
                  <a:cubicBezTo>
                    <a:pt x="2046076" y="0"/>
                    <a:pt x="2059102" y="13026"/>
                    <a:pt x="2059102" y="29094"/>
                  </a:cubicBezTo>
                  <a:lnTo>
                    <a:pt x="2059102" y="538254"/>
                  </a:lnTo>
                  <a:cubicBezTo>
                    <a:pt x="2059102" y="554322"/>
                    <a:pt x="2046076" y="567348"/>
                    <a:pt x="2030008" y="567348"/>
                  </a:cubicBezTo>
                  <a:lnTo>
                    <a:pt x="29094" y="567348"/>
                  </a:lnTo>
                  <a:cubicBezTo>
                    <a:pt x="13026" y="567348"/>
                    <a:pt x="0" y="554322"/>
                    <a:pt x="0" y="538254"/>
                  </a:cubicBezTo>
                  <a:lnTo>
                    <a:pt x="0" y="29094"/>
                  </a:lnTo>
                  <a:cubicBezTo>
                    <a:pt x="0" y="13026"/>
                    <a:pt x="13026" y="0"/>
                    <a:pt x="29094" y="0"/>
                  </a:cubicBezTo>
                  <a:close/>
                </a:path>
              </a:pathLst>
            </a:custGeom>
            <a:solidFill>
              <a:srgbClr val="EDEDED"/>
            </a:solidFill>
          </p:spPr>
        </p:sp>
        <p:sp>
          <p:nvSpPr>
            <p:cNvPr name="TextBox 8" id="8"/>
            <p:cNvSpPr txBox="true"/>
            <p:nvPr/>
          </p:nvSpPr>
          <p:spPr>
            <a:xfrm>
              <a:off x="0" y="-66675"/>
              <a:ext cx="2059102" cy="634023"/>
            </a:xfrm>
            <a:prstGeom prst="rect">
              <a:avLst/>
            </a:prstGeom>
          </p:spPr>
          <p:txBody>
            <a:bodyPr anchor="ctr" rtlCol="false" tIns="50800" lIns="50800" bIns="50800" rIns="50800"/>
            <a:lstStyle/>
            <a:p>
              <a:pPr algn="ctr">
                <a:lnSpc>
                  <a:spcPts val="2345"/>
                </a:lnSpc>
              </a:pPr>
            </a:p>
          </p:txBody>
        </p:sp>
      </p:grpSp>
      <p:grpSp>
        <p:nvGrpSpPr>
          <p:cNvPr name="Group 9" id="9"/>
          <p:cNvGrpSpPr/>
          <p:nvPr/>
        </p:nvGrpSpPr>
        <p:grpSpPr>
          <a:xfrm rot="0">
            <a:off x="8398397" y="6149469"/>
            <a:ext cx="9313449" cy="2566395"/>
            <a:chOff x="0" y="0"/>
            <a:chExt cx="2059102" cy="567402"/>
          </a:xfrm>
        </p:grpSpPr>
        <p:sp>
          <p:nvSpPr>
            <p:cNvPr name="Freeform 10" id="10"/>
            <p:cNvSpPr/>
            <p:nvPr/>
          </p:nvSpPr>
          <p:spPr>
            <a:xfrm flipH="false" flipV="false" rot="0">
              <a:off x="0" y="0"/>
              <a:ext cx="2059102" cy="567402"/>
            </a:xfrm>
            <a:custGeom>
              <a:avLst/>
              <a:gdLst/>
              <a:ahLst/>
              <a:cxnLst/>
              <a:rect r="r" b="b" t="t" l="l"/>
              <a:pathLst>
                <a:path h="567402" w="2059102">
                  <a:moveTo>
                    <a:pt x="29094" y="0"/>
                  </a:moveTo>
                  <a:lnTo>
                    <a:pt x="2030008" y="0"/>
                  </a:lnTo>
                  <a:cubicBezTo>
                    <a:pt x="2046076" y="0"/>
                    <a:pt x="2059102" y="13026"/>
                    <a:pt x="2059102" y="29094"/>
                  </a:cubicBezTo>
                  <a:lnTo>
                    <a:pt x="2059102" y="538308"/>
                  </a:lnTo>
                  <a:cubicBezTo>
                    <a:pt x="2059102" y="554376"/>
                    <a:pt x="2046076" y="567402"/>
                    <a:pt x="2030008" y="567402"/>
                  </a:cubicBezTo>
                  <a:lnTo>
                    <a:pt x="29094" y="567402"/>
                  </a:lnTo>
                  <a:cubicBezTo>
                    <a:pt x="13026" y="567402"/>
                    <a:pt x="0" y="554376"/>
                    <a:pt x="0" y="538308"/>
                  </a:cubicBezTo>
                  <a:lnTo>
                    <a:pt x="0" y="29094"/>
                  </a:lnTo>
                  <a:cubicBezTo>
                    <a:pt x="0" y="13026"/>
                    <a:pt x="13026" y="0"/>
                    <a:pt x="29094" y="0"/>
                  </a:cubicBezTo>
                  <a:close/>
                </a:path>
              </a:pathLst>
            </a:custGeom>
            <a:solidFill>
              <a:srgbClr val="EDEDED"/>
            </a:solidFill>
          </p:spPr>
        </p:sp>
        <p:sp>
          <p:nvSpPr>
            <p:cNvPr name="TextBox 11" id="11"/>
            <p:cNvSpPr txBox="true"/>
            <p:nvPr/>
          </p:nvSpPr>
          <p:spPr>
            <a:xfrm>
              <a:off x="0" y="-66675"/>
              <a:ext cx="2059102" cy="634077"/>
            </a:xfrm>
            <a:prstGeom prst="rect">
              <a:avLst/>
            </a:prstGeom>
          </p:spPr>
          <p:txBody>
            <a:bodyPr anchor="ctr" rtlCol="false" tIns="50800" lIns="50800" bIns="50800" rIns="50800"/>
            <a:lstStyle/>
            <a:p>
              <a:pPr algn="ctr">
                <a:lnSpc>
                  <a:spcPts val="2345"/>
                </a:lnSpc>
              </a:pPr>
            </a:p>
          </p:txBody>
        </p:sp>
      </p:grpSp>
      <p:sp>
        <p:nvSpPr>
          <p:cNvPr name="AutoShape 12" id="12"/>
          <p:cNvSpPr/>
          <p:nvPr/>
        </p:nvSpPr>
        <p:spPr>
          <a:xfrm>
            <a:off x="10355352" y="537880"/>
            <a:ext cx="9525" cy="2238863"/>
          </a:xfrm>
          <a:prstGeom prst="line">
            <a:avLst/>
          </a:prstGeom>
          <a:ln cap="flat" w="19050">
            <a:solidFill>
              <a:srgbClr val="A3CF3E"/>
            </a:solidFill>
            <a:prstDash val="solid"/>
            <a:headEnd type="none" len="sm" w="sm"/>
            <a:tailEnd type="none" len="sm" w="sm"/>
          </a:ln>
        </p:spPr>
      </p:sp>
      <p:sp>
        <p:nvSpPr>
          <p:cNvPr name="AutoShape 13" id="13"/>
          <p:cNvSpPr/>
          <p:nvPr/>
        </p:nvSpPr>
        <p:spPr>
          <a:xfrm>
            <a:off x="10355352" y="3589403"/>
            <a:ext cx="0" cy="2006263"/>
          </a:xfrm>
          <a:prstGeom prst="line">
            <a:avLst/>
          </a:prstGeom>
          <a:ln cap="flat" w="19050">
            <a:solidFill>
              <a:srgbClr val="A3CF3E"/>
            </a:solidFill>
            <a:prstDash val="solid"/>
            <a:headEnd type="none" len="sm" w="sm"/>
            <a:tailEnd type="none" len="sm" w="sm"/>
          </a:ln>
        </p:spPr>
      </p:sp>
      <p:sp>
        <p:nvSpPr>
          <p:cNvPr name="AutoShape 14" id="14"/>
          <p:cNvSpPr/>
          <p:nvPr/>
        </p:nvSpPr>
        <p:spPr>
          <a:xfrm flipH="true">
            <a:off x="10345827" y="6441548"/>
            <a:ext cx="9525" cy="2006263"/>
          </a:xfrm>
          <a:prstGeom prst="line">
            <a:avLst/>
          </a:prstGeom>
          <a:ln cap="flat" w="19050">
            <a:solidFill>
              <a:srgbClr val="A3CF3E"/>
            </a:solidFill>
            <a:prstDash val="solid"/>
            <a:headEnd type="none" len="sm" w="sm"/>
            <a:tailEnd type="none" len="sm" w="sm"/>
          </a:ln>
        </p:spPr>
      </p:sp>
      <p:sp>
        <p:nvSpPr>
          <p:cNvPr name="Freeform 15" id="15"/>
          <p:cNvSpPr/>
          <p:nvPr/>
        </p:nvSpPr>
        <p:spPr>
          <a:xfrm flipH="false" flipV="false" rot="0">
            <a:off x="8991374" y="4106910"/>
            <a:ext cx="807214" cy="1062124"/>
          </a:xfrm>
          <a:custGeom>
            <a:avLst/>
            <a:gdLst/>
            <a:ahLst/>
            <a:cxnLst/>
            <a:rect r="r" b="b" t="t" l="l"/>
            <a:pathLst>
              <a:path h="1062124" w="807214">
                <a:moveTo>
                  <a:pt x="0" y="0"/>
                </a:moveTo>
                <a:lnTo>
                  <a:pt x="807214" y="0"/>
                </a:lnTo>
                <a:lnTo>
                  <a:pt x="807214" y="1062124"/>
                </a:lnTo>
                <a:lnTo>
                  <a:pt x="0" y="1062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8954311" y="1300229"/>
            <a:ext cx="881339" cy="881339"/>
          </a:xfrm>
          <a:custGeom>
            <a:avLst/>
            <a:gdLst/>
            <a:ahLst/>
            <a:cxnLst/>
            <a:rect r="r" b="b" t="t" l="l"/>
            <a:pathLst>
              <a:path h="881339" w="881339">
                <a:moveTo>
                  <a:pt x="0" y="0"/>
                </a:moveTo>
                <a:lnTo>
                  <a:pt x="881339" y="0"/>
                </a:lnTo>
                <a:lnTo>
                  <a:pt x="881339" y="881339"/>
                </a:lnTo>
                <a:lnTo>
                  <a:pt x="0" y="8813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8978305" y="7073394"/>
            <a:ext cx="833352" cy="1020810"/>
          </a:xfrm>
          <a:custGeom>
            <a:avLst/>
            <a:gdLst/>
            <a:ahLst/>
            <a:cxnLst/>
            <a:rect r="r" b="b" t="t" l="l"/>
            <a:pathLst>
              <a:path h="1020810" w="833352">
                <a:moveTo>
                  <a:pt x="0" y="0"/>
                </a:moveTo>
                <a:lnTo>
                  <a:pt x="833352" y="0"/>
                </a:lnTo>
                <a:lnTo>
                  <a:pt x="833352" y="1020810"/>
                </a:lnTo>
                <a:lnTo>
                  <a:pt x="0" y="10208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2796" y="26400"/>
            <a:ext cx="18275204" cy="10636604"/>
          </a:xfrm>
          <a:custGeom>
            <a:avLst/>
            <a:gdLst/>
            <a:ahLst/>
            <a:cxnLst/>
            <a:rect r="r" b="b" t="t" l="l"/>
            <a:pathLst>
              <a:path h="10636604" w="18275204">
                <a:moveTo>
                  <a:pt x="0" y="0"/>
                </a:moveTo>
                <a:lnTo>
                  <a:pt x="18275204" y="0"/>
                </a:lnTo>
                <a:lnTo>
                  <a:pt x="18275204" y="10636604"/>
                </a:lnTo>
                <a:lnTo>
                  <a:pt x="0" y="10636604"/>
                </a:lnTo>
                <a:lnTo>
                  <a:pt x="0" y="0"/>
                </a:lnTo>
                <a:close/>
              </a:path>
            </a:pathLst>
          </a:custGeom>
          <a:blipFill>
            <a:blip r:embed="rId8"/>
            <a:stretch>
              <a:fillRect l="-1707" t="0" r="-1707" b="0"/>
            </a:stretch>
          </a:blipFill>
        </p:spPr>
      </p:sp>
      <p:sp>
        <p:nvSpPr>
          <p:cNvPr name="AutoShape 19" id="19"/>
          <p:cNvSpPr/>
          <p:nvPr/>
        </p:nvSpPr>
        <p:spPr>
          <a:xfrm>
            <a:off x="8159627" y="1774727"/>
            <a:ext cx="0" cy="7468500"/>
          </a:xfrm>
          <a:prstGeom prst="line">
            <a:avLst/>
          </a:prstGeom>
          <a:ln cap="flat" w="19050">
            <a:solidFill>
              <a:srgbClr val="A3CF3E"/>
            </a:solidFill>
            <a:prstDash val="solid"/>
            <a:headEnd type="none" len="sm" w="sm"/>
            <a:tailEnd type="none" len="sm" w="sm"/>
          </a:ln>
        </p:spPr>
      </p:sp>
      <p:sp>
        <p:nvSpPr>
          <p:cNvPr name="AutoShape 20" id="20"/>
          <p:cNvSpPr/>
          <p:nvPr/>
        </p:nvSpPr>
        <p:spPr>
          <a:xfrm flipH="true" flipV="true">
            <a:off x="476381" y="2493812"/>
            <a:ext cx="6490022" cy="0"/>
          </a:xfrm>
          <a:prstGeom prst="line">
            <a:avLst/>
          </a:prstGeom>
          <a:ln cap="flat" w="19050">
            <a:solidFill>
              <a:srgbClr val="A3CF3E"/>
            </a:solidFill>
            <a:prstDash val="solid"/>
            <a:headEnd type="none" len="sm" w="sm"/>
            <a:tailEnd type="none" len="sm" w="sm"/>
          </a:ln>
        </p:spPr>
      </p:sp>
      <p:sp>
        <p:nvSpPr>
          <p:cNvPr name="TextBox 21" id="21"/>
          <p:cNvSpPr txBox="true"/>
          <p:nvPr/>
        </p:nvSpPr>
        <p:spPr>
          <a:xfrm rot="0">
            <a:off x="476381" y="2870198"/>
            <a:ext cx="6490022" cy="6729440"/>
          </a:xfrm>
          <a:prstGeom prst="rect">
            <a:avLst/>
          </a:prstGeom>
        </p:spPr>
        <p:txBody>
          <a:bodyPr anchor="t" rtlCol="false" tIns="0" lIns="0" bIns="0" rIns="0">
            <a:spAutoFit/>
          </a:bodyPr>
          <a:lstStyle/>
          <a:p>
            <a:pPr algn="just">
              <a:lnSpc>
                <a:spcPts val="1594"/>
              </a:lnSpc>
            </a:pPr>
            <a:r>
              <a:rPr lang="en-US" b="true" sz="1386" spc="-6">
                <a:solidFill>
                  <a:srgbClr val="A4CE3E"/>
                </a:solidFill>
                <a:latin typeface="Avenir Bold"/>
                <a:ea typeface="Avenir Bold"/>
                <a:cs typeface="Avenir Bold"/>
                <a:sym typeface="Avenir Bold"/>
              </a:rPr>
              <a:t>1. Declaration of Competence</a:t>
            </a:r>
          </a:p>
          <a:p>
            <a:pPr algn="just">
              <a:lnSpc>
                <a:spcPts val="1594"/>
              </a:lnSpc>
            </a:pPr>
          </a:p>
          <a:p>
            <a:pPr algn="just">
              <a:lnSpc>
                <a:spcPts val="1594"/>
              </a:lnSpc>
            </a:pPr>
            <a:r>
              <a:rPr lang="en-US" sz="1386" spc="-6">
                <a:solidFill>
                  <a:srgbClr val="FFFFFF"/>
                </a:solidFill>
                <a:latin typeface="Avenir"/>
                <a:ea typeface="Avenir"/>
                <a:cs typeface="Avenir"/>
                <a:sym typeface="Avenir"/>
              </a:rPr>
              <a:t>I, Andrew Wedlake confirm that I am the author and assessor of this Pre-Demolition Audit and that I am a suitably competent person to undertake this work in accordance with the requirements and intent of BREEAM (Building Research Establishment Environmental Assessment Methodology) and associated best practice guidance for pre-demolition resource audits.</a:t>
            </a:r>
          </a:p>
          <a:p>
            <a:pPr algn="just">
              <a:lnSpc>
                <a:spcPts val="1594"/>
              </a:lnSpc>
            </a:pPr>
          </a:p>
          <a:p>
            <a:pPr algn="just">
              <a:lnSpc>
                <a:spcPts val="1594"/>
              </a:lnSpc>
            </a:pPr>
            <a:r>
              <a:rPr lang="en-US" b="true" sz="1386" spc="-6">
                <a:solidFill>
                  <a:srgbClr val="A4CE3E"/>
                </a:solidFill>
                <a:latin typeface="Avenir Bold"/>
                <a:ea typeface="Avenir Bold"/>
                <a:cs typeface="Avenir Bold"/>
                <a:sym typeface="Avenir Bold"/>
              </a:rPr>
              <a:t>2. Professional Competence</a:t>
            </a:r>
          </a:p>
          <a:p>
            <a:pPr algn="just">
              <a:lnSpc>
                <a:spcPts val="1594"/>
              </a:lnSpc>
            </a:pPr>
          </a:p>
          <a:p>
            <a:pPr algn="just">
              <a:lnSpc>
                <a:spcPts val="1594"/>
              </a:lnSpc>
            </a:pPr>
            <a:r>
              <a:rPr lang="en-US" sz="1386" spc="-6">
                <a:solidFill>
                  <a:srgbClr val="FFFFFF"/>
                </a:solidFill>
                <a:latin typeface="Avenir"/>
                <a:ea typeface="Avenir"/>
                <a:cs typeface="Avenir"/>
                <a:sym typeface="Avenir"/>
              </a:rPr>
              <a:t>I confirm that I hold relevant qualifications, training, and professional experience appropriate to the preparation of pre-demolition audits and resource assessments, including:</a:t>
            </a:r>
          </a:p>
          <a:p>
            <a:pPr algn="just">
              <a:lnSpc>
                <a:spcPts val="1594"/>
              </a:lnSpc>
            </a:pPr>
          </a:p>
          <a:p>
            <a:pPr algn="just" marL="299299" indent="-149649" lvl="1">
              <a:lnSpc>
                <a:spcPts val="1594"/>
              </a:lnSpc>
              <a:buFont typeface="Arial"/>
              <a:buChar char="•"/>
            </a:pPr>
            <a:r>
              <a:rPr lang="en-US" sz="1386" spc="-6">
                <a:solidFill>
                  <a:srgbClr val="FFFFFF"/>
                </a:solidFill>
                <a:latin typeface="Avenir"/>
                <a:ea typeface="Avenir"/>
                <a:cs typeface="Avenir"/>
                <a:sym typeface="Avenir"/>
              </a:rPr>
              <a:t>Professional Membership(s): Licensed BREEAM Assessor </a:t>
            </a:r>
          </a:p>
          <a:p>
            <a:pPr algn="just" marL="299299" indent="-149649" lvl="1">
              <a:lnSpc>
                <a:spcPts val="1594"/>
              </a:lnSpc>
              <a:buFont typeface="Arial"/>
              <a:buChar char="•"/>
            </a:pPr>
            <a:r>
              <a:rPr lang="en-US" sz="1386" spc="-6">
                <a:solidFill>
                  <a:srgbClr val="FFFFFF"/>
                </a:solidFill>
                <a:latin typeface="Avenir"/>
                <a:ea typeface="Avenir"/>
                <a:cs typeface="Avenir"/>
                <a:sym typeface="Avenir"/>
              </a:rPr>
              <a:t>Relevant Experience: 12 years in Deconstruction auditing / Waste Management / Sustainable Construction / Circular Economy Assessments.</a:t>
            </a:r>
          </a:p>
          <a:p>
            <a:pPr algn="just">
              <a:lnSpc>
                <a:spcPts val="1594"/>
              </a:lnSpc>
            </a:pPr>
          </a:p>
          <a:p>
            <a:pPr algn="just">
              <a:lnSpc>
                <a:spcPts val="1594"/>
              </a:lnSpc>
            </a:pPr>
            <a:r>
              <a:rPr lang="en-US" sz="1386" spc="-6">
                <a:solidFill>
                  <a:srgbClr val="FFFFFF"/>
                </a:solidFill>
                <a:latin typeface="Avenir"/>
                <a:ea typeface="Avenir"/>
                <a:cs typeface="Avenir"/>
                <a:sym typeface="Avenir"/>
              </a:rPr>
              <a:t>I have sufficient knowledge of construction materials, demolition processes, waste streams, reuse opportunities, and relevant legislation and guidance applicable to this assessment.</a:t>
            </a:r>
          </a:p>
          <a:p>
            <a:pPr algn="just">
              <a:lnSpc>
                <a:spcPts val="1594"/>
              </a:lnSpc>
            </a:pPr>
          </a:p>
          <a:p>
            <a:pPr algn="just">
              <a:lnSpc>
                <a:spcPts val="1594"/>
              </a:lnSpc>
            </a:pPr>
          </a:p>
          <a:p>
            <a:pPr algn="just">
              <a:lnSpc>
                <a:spcPts val="1594"/>
              </a:lnSpc>
            </a:pPr>
            <a:r>
              <a:rPr lang="en-US" b="true" sz="1386" spc="-6">
                <a:solidFill>
                  <a:srgbClr val="A4CE3E"/>
                </a:solidFill>
                <a:latin typeface="Avenir Bold"/>
                <a:ea typeface="Avenir Bold"/>
                <a:cs typeface="Avenir Bold"/>
                <a:sym typeface="Avenir Bold"/>
              </a:rPr>
              <a:t>3. Methodology and Standards</a:t>
            </a:r>
          </a:p>
          <a:p>
            <a:pPr algn="just">
              <a:lnSpc>
                <a:spcPts val="1594"/>
              </a:lnSpc>
            </a:pPr>
          </a:p>
          <a:p>
            <a:pPr algn="just">
              <a:lnSpc>
                <a:spcPts val="1594"/>
              </a:lnSpc>
            </a:pPr>
            <a:r>
              <a:rPr lang="en-US" sz="1386" spc="-6">
                <a:solidFill>
                  <a:srgbClr val="FFFFFF"/>
                </a:solidFill>
                <a:latin typeface="Avenir"/>
                <a:ea typeface="Avenir"/>
                <a:cs typeface="Avenir"/>
                <a:sym typeface="Avenir"/>
              </a:rPr>
              <a:t>This report has been prepared using recognised industry methodologies and guidance, including (where applicable):</a:t>
            </a:r>
          </a:p>
          <a:p>
            <a:pPr algn="just" marL="299299" indent="-149649" lvl="1">
              <a:lnSpc>
                <a:spcPts val="1594"/>
              </a:lnSpc>
              <a:buFont typeface="Arial"/>
              <a:buChar char="•"/>
            </a:pPr>
            <a:r>
              <a:rPr lang="en-US" sz="1386" spc="-6">
                <a:solidFill>
                  <a:srgbClr val="FFFFFF"/>
                </a:solidFill>
                <a:latin typeface="Avenir"/>
                <a:ea typeface="Avenir"/>
                <a:cs typeface="Avenir"/>
                <a:sym typeface="Avenir"/>
              </a:rPr>
              <a:t>BREEAM guidance for pre-demolition audits and resource efficiency</a:t>
            </a:r>
          </a:p>
          <a:p>
            <a:pPr algn="just" marL="299299" indent="-149649" lvl="1">
              <a:lnSpc>
                <a:spcPts val="1594"/>
              </a:lnSpc>
              <a:buFont typeface="Arial"/>
              <a:buChar char="•"/>
            </a:pPr>
            <a:r>
              <a:rPr lang="en-US" sz="1386" spc="-6">
                <a:solidFill>
                  <a:srgbClr val="FFFFFF"/>
                </a:solidFill>
                <a:latin typeface="Avenir"/>
                <a:ea typeface="Avenir"/>
                <a:cs typeface="Avenir"/>
                <a:sym typeface="Avenir"/>
              </a:rPr>
              <a:t>Relevant UK waste and resource management legislation</a:t>
            </a:r>
          </a:p>
          <a:p>
            <a:pPr algn="just" marL="299299" indent="-149649" lvl="1">
              <a:lnSpc>
                <a:spcPts val="1594"/>
              </a:lnSpc>
              <a:buFont typeface="Arial"/>
              <a:buChar char="•"/>
            </a:pPr>
            <a:r>
              <a:rPr lang="en-US" sz="1386" spc="-6">
                <a:solidFill>
                  <a:srgbClr val="FFFFFF"/>
                </a:solidFill>
                <a:latin typeface="Avenir"/>
                <a:ea typeface="Avenir"/>
                <a:cs typeface="Avenir"/>
                <a:sym typeface="Avenir"/>
              </a:rPr>
              <a:t>Best practice principles for circular economy and material recovery</a:t>
            </a:r>
          </a:p>
          <a:p>
            <a:pPr algn="just" marL="299299" indent="-149649" lvl="1">
              <a:lnSpc>
                <a:spcPts val="1594"/>
              </a:lnSpc>
              <a:buFont typeface="Arial"/>
              <a:buChar char="•"/>
            </a:pPr>
            <a:r>
              <a:rPr lang="en-US" sz="1386" spc="-6">
                <a:solidFill>
                  <a:srgbClr val="FFFFFF"/>
                </a:solidFill>
                <a:latin typeface="Avenir"/>
                <a:ea typeface="Avenir"/>
                <a:cs typeface="Avenir"/>
                <a:sym typeface="Avenir"/>
              </a:rPr>
              <a:t>Site-specific information provided by the client and project team</a:t>
            </a:r>
          </a:p>
          <a:p>
            <a:pPr algn="just" marL="299299" indent="-149649" lvl="1">
              <a:lnSpc>
                <a:spcPts val="1594"/>
              </a:lnSpc>
              <a:buFont typeface="Arial"/>
              <a:buChar char="•"/>
            </a:pPr>
            <a:r>
              <a:rPr lang="en-US" sz="1386" spc="-6">
                <a:solidFill>
                  <a:srgbClr val="FFFFFF"/>
                </a:solidFill>
                <a:latin typeface="Avenir"/>
                <a:ea typeface="Avenir"/>
                <a:cs typeface="Avenir"/>
                <a:sym typeface="Avenir"/>
              </a:rPr>
              <a:t>Visual inspection and available record drawings / surveys</a:t>
            </a:r>
          </a:p>
          <a:p>
            <a:pPr algn="just">
              <a:lnSpc>
                <a:spcPts val="1594"/>
              </a:lnSpc>
            </a:pPr>
          </a:p>
          <a:p>
            <a:pPr algn="just" marL="0" indent="0" lvl="0">
              <a:lnSpc>
                <a:spcPts val="1594"/>
              </a:lnSpc>
              <a:spcBef>
                <a:spcPct val="0"/>
              </a:spcBef>
            </a:pPr>
          </a:p>
        </p:txBody>
      </p:sp>
      <p:sp>
        <p:nvSpPr>
          <p:cNvPr name="TextBox 22" id="22"/>
          <p:cNvSpPr txBox="true"/>
          <p:nvPr/>
        </p:nvSpPr>
        <p:spPr>
          <a:xfrm rot="0">
            <a:off x="476381" y="685445"/>
            <a:ext cx="6490022" cy="1412932"/>
          </a:xfrm>
          <a:prstGeom prst="rect">
            <a:avLst/>
          </a:prstGeom>
        </p:spPr>
        <p:txBody>
          <a:bodyPr anchor="t" rtlCol="false" tIns="0" lIns="0" bIns="0" rIns="0">
            <a:spAutoFit/>
          </a:bodyPr>
          <a:lstStyle/>
          <a:p>
            <a:pPr algn="l">
              <a:lnSpc>
                <a:spcPts val="3419"/>
              </a:lnSpc>
            </a:pPr>
            <a:r>
              <a:rPr lang="en-US" sz="3799" spc="-189">
                <a:solidFill>
                  <a:srgbClr val="A4CE3E"/>
                </a:solidFill>
                <a:latin typeface="Avenir"/>
                <a:ea typeface="Avenir"/>
                <a:cs typeface="Avenir"/>
                <a:sym typeface="Avenir"/>
              </a:rPr>
              <a:t>BREEAM</a:t>
            </a:r>
            <a:r>
              <a:rPr lang="en-US" sz="3799" spc="-189">
                <a:solidFill>
                  <a:srgbClr val="FFFFFF"/>
                </a:solidFill>
                <a:latin typeface="Avenir"/>
                <a:ea typeface="Avenir"/>
                <a:cs typeface="Avenir"/>
                <a:sym typeface="Avenir"/>
              </a:rPr>
              <a:t> - Competent Person </a:t>
            </a:r>
          </a:p>
          <a:p>
            <a:pPr algn="l">
              <a:lnSpc>
                <a:spcPts val="3419"/>
              </a:lnSpc>
            </a:pPr>
          </a:p>
          <a:p>
            <a:pPr algn="l" marL="0" indent="0" lvl="1">
              <a:lnSpc>
                <a:spcPts val="3419"/>
              </a:lnSpc>
              <a:spcBef>
                <a:spcPct val="0"/>
              </a:spcBef>
            </a:pPr>
            <a:r>
              <a:rPr lang="en-US" sz="3799" spc="-189">
                <a:solidFill>
                  <a:srgbClr val="FFFFFF"/>
                </a:solidFill>
                <a:latin typeface="Avenir"/>
                <a:ea typeface="Avenir"/>
                <a:cs typeface="Avenir"/>
                <a:sym typeface="Avenir"/>
              </a:rPr>
              <a:t>Andrew Wedlake</a:t>
            </a:r>
          </a:p>
        </p:txBody>
      </p:sp>
      <p:sp>
        <p:nvSpPr>
          <p:cNvPr name="TextBox 23" id="23"/>
          <p:cNvSpPr txBox="true"/>
          <p:nvPr/>
        </p:nvSpPr>
        <p:spPr>
          <a:xfrm rot="0">
            <a:off x="8954311" y="1362944"/>
            <a:ext cx="7920351" cy="1926844"/>
          </a:xfrm>
          <a:prstGeom prst="rect">
            <a:avLst/>
          </a:prstGeom>
        </p:spPr>
        <p:txBody>
          <a:bodyPr anchor="t" rtlCol="false" tIns="0" lIns="0" bIns="0" rIns="0">
            <a:spAutoFit/>
          </a:bodyPr>
          <a:lstStyle/>
          <a:p>
            <a:pPr algn="l">
              <a:lnSpc>
                <a:spcPts val="1945"/>
              </a:lnSpc>
            </a:pPr>
            <a:r>
              <a:rPr lang="en-US" sz="1389" spc="-6" b="true">
                <a:solidFill>
                  <a:srgbClr val="A4CE3E"/>
                </a:solidFill>
                <a:latin typeface="Avenir Bold"/>
                <a:ea typeface="Avenir Bold"/>
                <a:cs typeface="Avenir Bold"/>
                <a:sym typeface="Avenir Bold"/>
              </a:rPr>
              <a:t>4. Independence and Objectivity</a:t>
            </a:r>
          </a:p>
          <a:p>
            <a:pPr algn="l">
              <a:lnSpc>
                <a:spcPts val="1945"/>
              </a:lnSpc>
            </a:pPr>
          </a:p>
          <a:p>
            <a:pPr algn="l">
              <a:lnSpc>
                <a:spcPts val="1945"/>
              </a:lnSpc>
              <a:spcBef>
                <a:spcPct val="0"/>
              </a:spcBef>
            </a:pPr>
            <a:r>
              <a:rPr lang="en-US" sz="1389" spc="-6">
                <a:solidFill>
                  <a:srgbClr val="F7FBF8"/>
                </a:solidFill>
                <a:latin typeface="Avenir"/>
                <a:ea typeface="Avenir"/>
                <a:cs typeface="Avenir"/>
                <a:sym typeface="Avenir"/>
              </a:rPr>
              <a:t>I confirm that this assessment has been carried </a:t>
            </a:r>
            <a:r>
              <a:rPr lang="en-US" sz="1389" spc="-6">
                <a:solidFill>
                  <a:srgbClr val="F7FBF8"/>
                </a:solidFill>
                <a:latin typeface="Avenir"/>
                <a:ea typeface="Avenir"/>
                <a:cs typeface="Avenir"/>
                <a:sym typeface="Avenir"/>
              </a:rPr>
              <a:t>out with professional objectivity and integrity. Any conclusions and recommendations presented within this report are based on the information available at the time of assessment and my professional judgement as a competent assessor.</a:t>
            </a:r>
          </a:p>
          <a:p>
            <a:pPr algn="l">
              <a:lnSpc>
                <a:spcPts val="1945"/>
              </a:lnSpc>
              <a:spcBef>
                <a:spcPct val="0"/>
              </a:spcBef>
            </a:pPr>
            <a:r>
              <a:rPr lang="en-US" sz="1389" spc="-6">
                <a:solidFill>
                  <a:srgbClr val="F7FBF8"/>
                </a:solidFill>
                <a:latin typeface="Avenir"/>
                <a:ea typeface="Avenir"/>
                <a:cs typeface="Avenir"/>
                <a:sym typeface="Avenir"/>
              </a:rPr>
              <a:t>Where assumptions have been made due to limitations in available data, these are clearly identified within the report.</a:t>
            </a:r>
          </a:p>
          <a:p>
            <a:pPr algn="l">
              <a:lnSpc>
                <a:spcPts val="1945"/>
              </a:lnSpc>
              <a:spcBef>
                <a:spcPct val="0"/>
              </a:spcBef>
            </a:pPr>
          </a:p>
        </p:txBody>
      </p:sp>
      <p:sp>
        <p:nvSpPr>
          <p:cNvPr name="TextBox 24" id="24"/>
          <p:cNvSpPr txBox="true"/>
          <p:nvPr/>
        </p:nvSpPr>
        <p:spPr>
          <a:xfrm rot="0">
            <a:off x="8954311" y="3635523"/>
            <a:ext cx="8304989" cy="2641219"/>
          </a:xfrm>
          <a:prstGeom prst="rect">
            <a:avLst/>
          </a:prstGeom>
        </p:spPr>
        <p:txBody>
          <a:bodyPr anchor="t" rtlCol="false" tIns="0" lIns="0" bIns="0" rIns="0">
            <a:spAutoFit/>
          </a:bodyPr>
          <a:lstStyle/>
          <a:p>
            <a:pPr algn="l">
              <a:lnSpc>
                <a:spcPts val="1945"/>
              </a:lnSpc>
            </a:pPr>
            <a:r>
              <a:rPr lang="en-US" sz="1389" spc="-6" b="true">
                <a:solidFill>
                  <a:srgbClr val="A4CE3E"/>
                </a:solidFill>
                <a:latin typeface="Avenir Bold"/>
                <a:ea typeface="Avenir Bold"/>
                <a:cs typeface="Avenir Bold"/>
                <a:sym typeface="Avenir Bold"/>
              </a:rPr>
              <a:t>5. Limitations</a:t>
            </a:r>
          </a:p>
          <a:p>
            <a:pPr algn="l">
              <a:lnSpc>
                <a:spcPts val="1945"/>
              </a:lnSpc>
            </a:pPr>
          </a:p>
          <a:p>
            <a:pPr algn="l">
              <a:lnSpc>
                <a:spcPts val="1945"/>
              </a:lnSpc>
            </a:pPr>
            <a:r>
              <a:rPr lang="en-US" sz="1389" spc="-6">
                <a:solidFill>
                  <a:srgbClr val="F7FBF8"/>
                </a:solidFill>
                <a:latin typeface="Avenir"/>
                <a:ea typeface="Avenir"/>
                <a:cs typeface="Avenir"/>
                <a:sym typeface="Avenir"/>
              </a:rPr>
              <a:t>This declaration is based on:</a:t>
            </a:r>
          </a:p>
          <a:p>
            <a:pPr algn="l">
              <a:lnSpc>
                <a:spcPts val="1945"/>
              </a:lnSpc>
            </a:pPr>
          </a:p>
          <a:p>
            <a:pPr algn="l" marL="300100" indent="-150050" lvl="1">
              <a:lnSpc>
                <a:spcPts val="1945"/>
              </a:lnSpc>
              <a:spcBef>
                <a:spcPct val="0"/>
              </a:spcBef>
              <a:buFont typeface="Arial"/>
              <a:buChar char="•"/>
            </a:pPr>
            <a:r>
              <a:rPr lang="en-US" sz="1389">
                <a:solidFill>
                  <a:srgbClr val="F7FBF8"/>
                </a:solidFill>
                <a:latin typeface="Avenir"/>
                <a:ea typeface="Avenir"/>
                <a:cs typeface="Avenir"/>
                <a:sym typeface="Avenir"/>
              </a:rPr>
              <a:t>Inf</a:t>
            </a:r>
            <a:r>
              <a:rPr lang="en-US" sz="1389">
                <a:solidFill>
                  <a:srgbClr val="F7FBF8"/>
                </a:solidFill>
                <a:latin typeface="Avenir"/>
                <a:ea typeface="Avenir"/>
                <a:cs typeface="Avenir"/>
                <a:sym typeface="Avenir"/>
              </a:rPr>
              <a:t>ormation provided by {{CLIENT_NAME}}</a:t>
            </a:r>
          </a:p>
          <a:p>
            <a:pPr algn="l" marL="300100" indent="-150050" lvl="1">
              <a:lnSpc>
                <a:spcPts val="1945"/>
              </a:lnSpc>
              <a:spcBef>
                <a:spcPct val="0"/>
              </a:spcBef>
              <a:buFont typeface="Arial"/>
              <a:buChar char="•"/>
            </a:pPr>
            <a:r>
              <a:rPr lang="en-US" sz="1389">
                <a:solidFill>
                  <a:srgbClr val="F7FBF8"/>
                </a:solidFill>
                <a:latin typeface="Avenir"/>
                <a:ea typeface="Avenir"/>
                <a:cs typeface="Avenir"/>
                <a:sym typeface="Avenir"/>
              </a:rPr>
              <a:t>Site access conditions at the time of inspection on {{DATE_OF_REPORT}}</a:t>
            </a:r>
          </a:p>
          <a:p>
            <a:pPr algn="l" marL="300100" indent="-150050" lvl="1">
              <a:lnSpc>
                <a:spcPts val="1945"/>
              </a:lnSpc>
              <a:spcBef>
                <a:spcPct val="0"/>
              </a:spcBef>
              <a:buFont typeface="Arial"/>
              <a:buChar char="•"/>
            </a:pPr>
            <a:r>
              <a:rPr lang="en-US" sz="1389">
                <a:solidFill>
                  <a:srgbClr val="F7FBF8"/>
                </a:solidFill>
                <a:latin typeface="Avenir"/>
                <a:ea typeface="Avenir"/>
                <a:cs typeface="Avenir"/>
                <a:sym typeface="Avenir"/>
              </a:rPr>
              <a:t>Available documentation, which may include drawings, surveys, and asset registers</a:t>
            </a:r>
          </a:p>
          <a:p>
            <a:pPr algn="l">
              <a:lnSpc>
                <a:spcPts val="1945"/>
              </a:lnSpc>
              <a:spcBef>
                <a:spcPct val="0"/>
              </a:spcBef>
            </a:pPr>
          </a:p>
          <a:p>
            <a:pPr algn="l">
              <a:lnSpc>
                <a:spcPts val="1945"/>
              </a:lnSpc>
              <a:spcBef>
                <a:spcPct val="0"/>
              </a:spcBef>
            </a:pPr>
            <a:r>
              <a:rPr lang="en-US" sz="1389" spc="-6">
                <a:solidFill>
                  <a:srgbClr val="F7FBF8"/>
                </a:solidFill>
                <a:latin typeface="Avenir"/>
                <a:ea typeface="Avenir"/>
                <a:cs typeface="Avenir"/>
                <a:sym typeface="Avenir"/>
              </a:rPr>
              <a:t>No liability is accepted for conditions or materials not reasonably observable or disclosed at the time of assessment.</a:t>
            </a:r>
          </a:p>
          <a:p>
            <a:pPr algn="l">
              <a:lnSpc>
                <a:spcPts val="1945"/>
              </a:lnSpc>
              <a:spcBef>
                <a:spcPct val="0"/>
              </a:spcBef>
            </a:pPr>
          </a:p>
        </p:txBody>
      </p:sp>
      <p:sp>
        <p:nvSpPr>
          <p:cNvPr name="TextBox 25" id="25"/>
          <p:cNvSpPr txBox="true"/>
          <p:nvPr/>
        </p:nvSpPr>
        <p:spPr>
          <a:xfrm rot="0">
            <a:off x="8972324" y="6640197"/>
            <a:ext cx="8286976" cy="2641219"/>
          </a:xfrm>
          <a:prstGeom prst="rect">
            <a:avLst/>
          </a:prstGeom>
        </p:spPr>
        <p:txBody>
          <a:bodyPr anchor="t" rtlCol="false" tIns="0" lIns="0" bIns="0" rIns="0">
            <a:spAutoFit/>
          </a:bodyPr>
          <a:lstStyle/>
          <a:p>
            <a:pPr algn="l">
              <a:lnSpc>
                <a:spcPts val="1945"/>
              </a:lnSpc>
            </a:pPr>
            <a:r>
              <a:rPr lang="en-US" sz="1389" spc="-6" b="true">
                <a:solidFill>
                  <a:srgbClr val="A4CE3E"/>
                </a:solidFill>
                <a:latin typeface="Avenir Bold"/>
                <a:ea typeface="Avenir Bold"/>
                <a:cs typeface="Avenir Bold"/>
                <a:sym typeface="Avenir Bold"/>
              </a:rPr>
              <a:t>6. Declaration</a:t>
            </a:r>
          </a:p>
          <a:p>
            <a:pPr algn="l">
              <a:lnSpc>
                <a:spcPts val="1945"/>
              </a:lnSpc>
            </a:pPr>
          </a:p>
          <a:p>
            <a:pPr algn="l">
              <a:lnSpc>
                <a:spcPts val="1945"/>
              </a:lnSpc>
              <a:spcBef>
                <a:spcPct val="0"/>
              </a:spcBef>
            </a:pPr>
            <a:r>
              <a:rPr lang="en-US" sz="1389" spc="-6">
                <a:solidFill>
                  <a:srgbClr val="F7FBF8"/>
                </a:solidFill>
                <a:latin typeface="Avenir"/>
                <a:ea typeface="Avenir"/>
                <a:cs typeface="Avenir"/>
                <a:sym typeface="Avenir"/>
              </a:rPr>
              <a:t>I confirm that, to the best of my knowledge and professional belief, the inf</a:t>
            </a:r>
            <a:r>
              <a:rPr lang="en-US" sz="1389" spc="-6">
                <a:solidFill>
                  <a:srgbClr val="F7FBF8"/>
                </a:solidFill>
                <a:latin typeface="Avenir"/>
                <a:ea typeface="Avenir"/>
                <a:cs typeface="Avenir"/>
                <a:sym typeface="Avenir"/>
              </a:rPr>
              <a:t>ormation contained within this Pre-Demolition Audit has been prepared in accordance with good industry practice and is suitable for use in support of BREEAM assessment requirements.</a:t>
            </a:r>
          </a:p>
          <a:p>
            <a:pPr algn="l">
              <a:lnSpc>
                <a:spcPts val="1945"/>
              </a:lnSpc>
              <a:spcBef>
                <a:spcPct val="0"/>
              </a:spcBef>
            </a:pPr>
          </a:p>
          <a:p>
            <a:pPr algn="l">
              <a:lnSpc>
                <a:spcPts val="1945"/>
              </a:lnSpc>
              <a:spcBef>
                <a:spcPct val="0"/>
              </a:spcBef>
            </a:pPr>
            <a:r>
              <a:rPr lang="en-US" sz="1389" spc="-6">
                <a:solidFill>
                  <a:srgbClr val="F7FBF8"/>
                </a:solidFill>
                <a:latin typeface="Avenir"/>
                <a:ea typeface="Avenir"/>
                <a:cs typeface="Avenir"/>
                <a:sym typeface="Avenir"/>
              </a:rPr>
              <a:t>Name: Andrew Wedlake</a:t>
            </a:r>
          </a:p>
          <a:p>
            <a:pPr algn="l">
              <a:lnSpc>
                <a:spcPts val="1945"/>
              </a:lnSpc>
              <a:spcBef>
                <a:spcPct val="0"/>
              </a:spcBef>
            </a:pPr>
            <a:r>
              <a:rPr lang="en-US" sz="1389" spc="-6">
                <a:solidFill>
                  <a:srgbClr val="F7FBF8"/>
                </a:solidFill>
                <a:latin typeface="Avenir"/>
                <a:ea typeface="Avenir"/>
                <a:cs typeface="Avenir"/>
                <a:sym typeface="Avenir"/>
              </a:rPr>
              <a:t>Position: Sustainability Director</a:t>
            </a:r>
          </a:p>
          <a:p>
            <a:pPr algn="l">
              <a:lnSpc>
                <a:spcPts val="1945"/>
              </a:lnSpc>
              <a:spcBef>
                <a:spcPct val="0"/>
              </a:spcBef>
            </a:pPr>
            <a:r>
              <a:rPr lang="en-US" sz="1389" spc="-6">
                <a:solidFill>
                  <a:srgbClr val="F7FBF8"/>
                </a:solidFill>
                <a:latin typeface="Avenir"/>
                <a:ea typeface="Avenir"/>
                <a:cs typeface="Avenir"/>
                <a:sym typeface="Avenir"/>
              </a:rPr>
              <a:t>Company: Lawmens</a:t>
            </a:r>
          </a:p>
          <a:p>
            <a:pPr algn="l">
              <a:lnSpc>
                <a:spcPts val="1945"/>
              </a:lnSpc>
              <a:spcBef>
                <a:spcPct val="0"/>
              </a:spcBef>
            </a:pPr>
            <a:r>
              <a:rPr lang="en-US" sz="1389" spc="-6">
                <a:solidFill>
                  <a:srgbClr val="F7FBF8"/>
                </a:solidFill>
                <a:latin typeface="Avenir"/>
                <a:ea typeface="Avenir"/>
                <a:cs typeface="Avenir"/>
                <a:sym typeface="Avenir"/>
              </a:rPr>
              <a:t>Date: {{DATE_OF_REPORT}}</a:t>
            </a:r>
          </a:p>
          <a:p>
            <a:pPr algn="l">
              <a:lnSpc>
                <a:spcPts val="1945"/>
              </a:lnSpc>
              <a:spcBef>
                <a:spcPct val="0"/>
              </a:spcBef>
            </a:pPr>
          </a:p>
        </p:txBody>
      </p:sp>
      <p:sp>
        <p:nvSpPr>
          <p:cNvPr name="Freeform 26" id="26"/>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9"/>
            <a:stretch>
              <a:fillRect l="-3403" t="0" r="-284642" b="0"/>
            </a:stretch>
          </a:blipFill>
        </p:spPr>
      </p:sp>
      <p:sp>
        <p:nvSpPr>
          <p:cNvPr name="Freeform 27" id="27"/>
          <p:cNvSpPr/>
          <p:nvPr/>
        </p:nvSpPr>
        <p:spPr>
          <a:xfrm flipH="false" flipV="false" rot="0">
            <a:off x="4207666" y="1366415"/>
            <a:ext cx="820736" cy="815153"/>
          </a:xfrm>
          <a:custGeom>
            <a:avLst/>
            <a:gdLst/>
            <a:ahLst/>
            <a:cxnLst/>
            <a:rect r="r" b="b" t="t" l="l"/>
            <a:pathLst>
              <a:path h="815153" w="820736">
                <a:moveTo>
                  <a:pt x="0" y="0"/>
                </a:moveTo>
                <a:lnTo>
                  <a:pt x="820736" y="0"/>
                </a:lnTo>
                <a:lnTo>
                  <a:pt x="820736" y="815153"/>
                </a:lnTo>
                <a:lnTo>
                  <a:pt x="0" y="815153"/>
                </a:lnTo>
                <a:lnTo>
                  <a:pt x="0" y="0"/>
                </a:lnTo>
                <a:close/>
              </a:path>
            </a:pathLst>
          </a:custGeom>
          <a:blipFill>
            <a:blip r:embed="rId10"/>
            <a:stretch>
              <a:fillRect l="-8797" t="-66863" r="-261858" b="-81932"/>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477383"/>
          </a:xfrm>
          <a:custGeom>
            <a:avLst/>
            <a:gdLst/>
            <a:ahLst/>
            <a:cxnLst/>
            <a:rect r="r" b="b" t="t" l="l"/>
            <a:pathLst>
              <a:path h="10477383" w="18288000">
                <a:moveTo>
                  <a:pt x="0" y="0"/>
                </a:moveTo>
                <a:lnTo>
                  <a:pt x="18288000" y="0"/>
                </a:lnTo>
                <a:lnTo>
                  <a:pt x="18288000" y="10477383"/>
                </a:lnTo>
                <a:lnTo>
                  <a:pt x="0" y="10477383"/>
                </a:lnTo>
                <a:lnTo>
                  <a:pt x="0" y="0"/>
                </a:lnTo>
                <a:close/>
              </a:path>
            </a:pathLst>
          </a:custGeom>
          <a:blipFill>
            <a:blip r:embed="rId2"/>
            <a:stretch>
              <a:fillRect l="-898" t="0" r="-898" b="0"/>
            </a:stretch>
          </a:blipFill>
        </p:spPr>
      </p:sp>
      <p:sp>
        <p:nvSpPr>
          <p:cNvPr name="Freeform 3" id="3"/>
          <p:cNvSpPr/>
          <p:nvPr/>
        </p:nvSpPr>
        <p:spPr>
          <a:xfrm flipH="false" flipV="false" rot="-5400000">
            <a:off x="8230891" y="229891"/>
            <a:ext cx="10287000" cy="9827219"/>
          </a:xfrm>
          <a:custGeom>
            <a:avLst/>
            <a:gdLst/>
            <a:ahLst/>
            <a:cxnLst/>
            <a:rect r="r" b="b" t="t" l="l"/>
            <a:pathLst>
              <a:path h="9827219" w="10287000">
                <a:moveTo>
                  <a:pt x="0" y="0"/>
                </a:moveTo>
                <a:lnTo>
                  <a:pt x="10287000" y="0"/>
                </a:lnTo>
                <a:lnTo>
                  <a:pt x="10287000" y="9827218"/>
                </a:lnTo>
                <a:lnTo>
                  <a:pt x="0" y="9827218"/>
                </a:lnTo>
                <a:lnTo>
                  <a:pt x="0" y="0"/>
                </a:lnTo>
                <a:close/>
              </a:path>
            </a:pathLst>
          </a:custGeom>
          <a:blipFill>
            <a:blip r:embed="rId3">
              <a:alphaModFix amt="84000"/>
            </a:blip>
            <a:stretch>
              <a:fillRect l="0" t="-5713" r="-60068" b="-5713"/>
            </a:stretch>
          </a:blipFill>
        </p:spPr>
      </p:sp>
      <p:sp>
        <p:nvSpPr>
          <p:cNvPr name="TextBox 4" id="4"/>
          <p:cNvSpPr txBox="true"/>
          <p:nvPr/>
        </p:nvSpPr>
        <p:spPr>
          <a:xfrm rot="0">
            <a:off x="8575743" y="-638175"/>
            <a:ext cx="9848168" cy="10767866"/>
          </a:xfrm>
          <a:prstGeom prst="rect">
            <a:avLst/>
          </a:prstGeom>
        </p:spPr>
        <p:txBody>
          <a:bodyPr anchor="t" rtlCol="false" tIns="0" lIns="0" bIns="0" rIns="0">
            <a:spAutoFit/>
          </a:bodyPr>
          <a:lstStyle/>
          <a:p>
            <a:pPr algn="ctr">
              <a:lnSpc>
                <a:spcPts val="20745"/>
              </a:lnSpc>
              <a:spcBef>
                <a:spcPct val="0"/>
              </a:spcBef>
            </a:pPr>
            <a:r>
              <a:rPr lang="en-US" sz="14818">
                <a:solidFill>
                  <a:srgbClr val="FFFFFF"/>
                </a:solidFill>
                <a:latin typeface="Heading Now 71-78"/>
                <a:ea typeface="Heading Now 71-78"/>
                <a:cs typeface="Heading Now 71-78"/>
                <a:sym typeface="Heading Now 71-78"/>
              </a:rPr>
              <a:t>{{PHOTO_OF_BUILDING_FRONT}}</a:t>
            </a:r>
          </a:p>
        </p:txBody>
      </p:sp>
      <p:sp>
        <p:nvSpPr>
          <p:cNvPr name="Freeform 5" id="5"/>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
        <p:nvSpPr>
          <p:cNvPr name="Freeform 6" id="6"/>
          <p:cNvSpPr/>
          <p:nvPr/>
        </p:nvSpPr>
        <p:spPr>
          <a:xfrm flipH="false" flipV="false" rot="0">
            <a:off x="869096" y="1485220"/>
            <a:ext cx="5510155" cy="1397750"/>
          </a:xfrm>
          <a:custGeom>
            <a:avLst/>
            <a:gdLst/>
            <a:ahLst/>
            <a:cxnLst/>
            <a:rect r="r" b="b" t="t" l="l"/>
            <a:pathLst>
              <a:path h="1397750" w="5510155">
                <a:moveTo>
                  <a:pt x="0" y="0"/>
                </a:moveTo>
                <a:lnTo>
                  <a:pt x="5510155" y="0"/>
                </a:lnTo>
                <a:lnTo>
                  <a:pt x="5510155" y="1397750"/>
                </a:lnTo>
                <a:lnTo>
                  <a:pt x="0" y="1397750"/>
                </a:lnTo>
                <a:lnTo>
                  <a:pt x="0" y="0"/>
                </a:lnTo>
                <a:close/>
              </a:path>
            </a:pathLst>
          </a:custGeom>
          <a:blipFill>
            <a:blip r:embed="rId2"/>
            <a:stretch>
              <a:fillRect l="-44817" t="-119132" r="-420710" b="-1035573"/>
            </a:stretch>
          </a:blipFill>
        </p:spPr>
      </p:sp>
      <p:sp>
        <p:nvSpPr>
          <p:cNvPr name="Freeform 7" id="7"/>
          <p:cNvSpPr/>
          <p:nvPr/>
        </p:nvSpPr>
        <p:spPr>
          <a:xfrm flipH="false" flipV="false" rot="0">
            <a:off x="560642" y="1719221"/>
            <a:ext cx="936115" cy="929747"/>
          </a:xfrm>
          <a:custGeom>
            <a:avLst/>
            <a:gdLst/>
            <a:ahLst/>
            <a:cxnLst/>
            <a:rect r="r" b="b" t="t" l="l"/>
            <a:pathLst>
              <a:path h="929747" w="936115">
                <a:moveTo>
                  <a:pt x="0" y="0"/>
                </a:moveTo>
                <a:lnTo>
                  <a:pt x="936116" y="0"/>
                </a:lnTo>
                <a:lnTo>
                  <a:pt x="936116" y="929747"/>
                </a:lnTo>
                <a:lnTo>
                  <a:pt x="0" y="929747"/>
                </a:lnTo>
                <a:lnTo>
                  <a:pt x="0" y="0"/>
                </a:lnTo>
                <a:close/>
              </a:path>
            </a:pathLst>
          </a:custGeom>
          <a:blipFill>
            <a:blip r:embed="rId5"/>
            <a:stretch>
              <a:fillRect l="-8797" t="-66863" r="-261858" b="-81932"/>
            </a:stretch>
          </a:blipFill>
        </p:spPr>
      </p:sp>
      <p:sp>
        <p:nvSpPr>
          <p:cNvPr name="AutoShape 8" id="8"/>
          <p:cNvSpPr/>
          <p:nvPr/>
        </p:nvSpPr>
        <p:spPr>
          <a:xfrm flipH="true" flipV="true">
            <a:off x="1337154" y="2873445"/>
            <a:ext cx="6361129" cy="9525"/>
          </a:xfrm>
          <a:prstGeom prst="line">
            <a:avLst/>
          </a:prstGeom>
          <a:ln cap="flat" w="19050">
            <a:solidFill>
              <a:srgbClr val="A3CF3E"/>
            </a:solidFill>
            <a:prstDash val="solid"/>
            <a:headEnd type="none" len="sm" w="sm"/>
            <a:tailEnd type="none" len="sm" w="sm"/>
          </a:ln>
        </p:spPr>
      </p:sp>
      <p:sp>
        <p:nvSpPr>
          <p:cNvPr name="TextBox 9" id="9"/>
          <p:cNvSpPr txBox="true"/>
          <p:nvPr/>
        </p:nvSpPr>
        <p:spPr>
          <a:xfrm rot="0">
            <a:off x="1028700" y="3308956"/>
            <a:ext cx="5641539" cy="5677553"/>
          </a:xfrm>
          <a:prstGeom prst="rect">
            <a:avLst/>
          </a:prstGeom>
        </p:spPr>
        <p:txBody>
          <a:bodyPr anchor="t" rtlCol="false" tIns="0" lIns="0" bIns="0" rIns="0">
            <a:spAutoFit/>
          </a:bodyPr>
          <a:lstStyle/>
          <a:p>
            <a:pPr algn="just">
              <a:lnSpc>
                <a:spcPts val="1782"/>
              </a:lnSpc>
            </a:pPr>
            <a:r>
              <a:rPr lang="en-US" sz="1414" spc="-7">
                <a:solidFill>
                  <a:srgbClr val="F7FBF8"/>
                </a:solidFill>
                <a:latin typeface="Avenir"/>
                <a:ea typeface="Avenir"/>
                <a:cs typeface="Avenir"/>
                <a:sym typeface="Avenir"/>
              </a:rPr>
              <a:t>A pre-deconstruction audit was carried-out at {{PROJECT_ADDRESS}}</a:t>
            </a:r>
          </a:p>
          <a:p>
            <a:pPr algn="just">
              <a:lnSpc>
                <a:spcPts val="1782"/>
              </a:lnSpc>
            </a:pPr>
          </a:p>
          <a:p>
            <a:pPr algn="just">
              <a:lnSpc>
                <a:spcPts val="1782"/>
              </a:lnSpc>
            </a:pPr>
          </a:p>
          <a:p>
            <a:pPr algn="just">
              <a:lnSpc>
                <a:spcPts val="1782"/>
              </a:lnSpc>
            </a:pPr>
            <a:r>
              <a:rPr lang="en-US" sz="1414" spc="-7">
                <a:solidFill>
                  <a:srgbClr val="F7FBF8"/>
                </a:solidFill>
                <a:latin typeface="Avenir"/>
                <a:ea typeface="Avenir"/>
                <a:cs typeface="Avenir"/>
                <a:sym typeface="Avenir"/>
              </a:rPr>
              <a:t>The audit consisted in reviewing the items within the building that could be salvaged, reused or recycled. </a:t>
            </a:r>
          </a:p>
          <a:p>
            <a:pPr algn="just">
              <a:lnSpc>
                <a:spcPts val="1782"/>
              </a:lnSpc>
            </a:pPr>
          </a:p>
          <a:p>
            <a:pPr algn="just">
              <a:lnSpc>
                <a:spcPts val="1782"/>
              </a:lnSpc>
            </a:pPr>
            <a:r>
              <a:rPr lang="en-US" sz="1414" spc="-7">
                <a:solidFill>
                  <a:srgbClr val="F7FBF8"/>
                </a:solidFill>
                <a:latin typeface="Avenir"/>
                <a:ea typeface="Avenir"/>
                <a:cs typeface="Avenir"/>
                <a:sym typeface="Avenir"/>
              </a:rPr>
              <a:t>The audit was performed as part of the circular economy approach to the project. </a:t>
            </a:r>
          </a:p>
          <a:p>
            <a:pPr algn="just">
              <a:lnSpc>
                <a:spcPts val="1782"/>
              </a:lnSpc>
            </a:pPr>
          </a:p>
          <a:p>
            <a:pPr algn="just">
              <a:lnSpc>
                <a:spcPts val="1782"/>
              </a:lnSpc>
            </a:pPr>
            <a:r>
              <a:rPr lang="en-US" sz="1414" spc="-7">
                <a:solidFill>
                  <a:srgbClr val="F7FBF8"/>
                </a:solidFill>
                <a:latin typeface="Avenir"/>
                <a:ea typeface="Avenir"/>
                <a:cs typeface="Avenir"/>
                <a:sym typeface="Avenir"/>
              </a:rPr>
              <a:t>The building circularity for the proposed scheme follows the following principles and approach:</a:t>
            </a:r>
          </a:p>
          <a:p>
            <a:pPr algn="just" marL="305403" indent="-152701" lvl="1">
              <a:lnSpc>
                <a:spcPts val="1782"/>
              </a:lnSpc>
              <a:buFont typeface="Arial"/>
              <a:buChar char="•"/>
            </a:pPr>
            <a:r>
              <a:rPr lang="en-US" sz="1414" spc="-7">
                <a:solidFill>
                  <a:srgbClr val="F7FBF8"/>
                </a:solidFill>
                <a:latin typeface="Avenir"/>
                <a:ea typeface="Avenir"/>
                <a:cs typeface="Avenir"/>
                <a:sym typeface="Avenir"/>
              </a:rPr>
              <a:t>Conserve resources, increase efficiency and source sustainably </a:t>
            </a:r>
          </a:p>
          <a:p>
            <a:pPr algn="just" marL="305403" indent="-152701" lvl="1">
              <a:lnSpc>
                <a:spcPts val="1782"/>
              </a:lnSpc>
              <a:buFont typeface="Arial"/>
              <a:buChar char="•"/>
            </a:pPr>
            <a:r>
              <a:rPr lang="en-US" sz="1414" spc="-7">
                <a:solidFill>
                  <a:srgbClr val="F7FBF8"/>
                </a:solidFill>
                <a:latin typeface="Avenir"/>
                <a:ea typeface="Avenir"/>
                <a:cs typeface="Avenir"/>
                <a:sym typeface="Avenir"/>
              </a:rPr>
              <a:t>Minimise the quantity of the material used such that the whole life carbon doesn’t not exceed the Greater London Authority’s WLC benchmarks. </a:t>
            </a:r>
          </a:p>
          <a:p>
            <a:pPr algn="just" marL="305403" indent="-152701" lvl="1">
              <a:lnSpc>
                <a:spcPts val="1782"/>
              </a:lnSpc>
              <a:buFont typeface="Arial"/>
              <a:buChar char="•"/>
            </a:pPr>
            <a:r>
              <a:rPr lang="en-US" sz="1414" spc="-7">
                <a:solidFill>
                  <a:srgbClr val="F7FBF8"/>
                </a:solidFill>
                <a:latin typeface="Avenir"/>
                <a:ea typeface="Avenir"/>
                <a:cs typeface="Avenir"/>
                <a:sym typeface="Avenir"/>
              </a:rPr>
              <a:t>The aim is to further reduce the embodied carbon to meet the GLA benchmarks and get close to the GLA aspirational targets. </a:t>
            </a:r>
          </a:p>
          <a:p>
            <a:pPr algn="just" marL="305403" indent="-152701" lvl="1">
              <a:lnSpc>
                <a:spcPts val="1782"/>
              </a:lnSpc>
              <a:buFont typeface="Arial"/>
              <a:buChar char="•"/>
            </a:pPr>
            <a:r>
              <a:rPr lang="en-US" sz="1414" spc="-7">
                <a:solidFill>
                  <a:srgbClr val="F7FBF8"/>
                </a:solidFill>
                <a:latin typeface="Avenir"/>
                <a:ea typeface="Avenir"/>
                <a:cs typeface="Avenir"/>
                <a:sym typeface="Avenir"/>
              </a:rPr>
              <a:t>Maximise the reuse of existing structure on site. </a:t>
            </a:r>
          </a:p>
          <a:p>
            <a:pPr algn="just" marL="305403" indent="-152701" lvl="1">
              <a:lnSpc>
                <a:spcPts val="1782"/>
              </a:lnSpc>
              <a:buFont typeface="Arial"/>
              <a:buChar char="•"/>
            </a:pPr>
            <a:r>
              <a:rPr lang="en-US" sz="1414" spc="-7">
                <a:solidFill>
                  <a:srgbClr val="F7FBF8"/>
                </a:solidFill>
                <a:latin typeface="Avenir"/>
                <a:ea typeface="Avenir"/>
                <a:cs typeface="Avenir"/>
                <a:sym typeface="Avenir"/>
              </a:rPr>
              <a:t>Promote the use of recycled content. </a:t>
            </a:r>
          </a:p>
          <a:p>
            <a:pPr algn="just" marL="305403" indent="-152701" lvl="1">
              <a:lnSpc>
                <a:spcPts val="1782"/>
              </a:lnSpc>
              <a:buFont typeface="Arial"/>
              <a:buChar char="•"/>
            </a:pPr>
            <a:r>
              <a:rPr lang="en-US" sz="1414" spc="-7">
                <a:solidFill>
                  <a:srgbClr val="F7FBF8"/>
                </a:solidFill>
                <a:latin typeface="Avenir"/>
                <a:ea typeface="Avenir"/>
                <a:cs typeface="Avenir"/>
                <a:sym typeface="Avenir"/>
              </a:rPr>
              <a:t>The material will be procured sustainably. All timber or timber-based products will be FSC or PEFC certified. The use of suppliers with ISO 14001 or equivalent environmental management system will be encouraged for material procurement.</a:t>
            </a:r>
          </a:p>
          <a:p>
            <a:pPr algn="just">
              <a:lnSpc>
                <a:spcPts val="1782"/>
              </a:lnSpc>
            </a:pPr>
            <a:r>
              <a:rPr lang="en-US" sz="1414" spc="-7">
                <a:solidFill>
                  <a:srgbClr val="F7FBF8"/>
                </a:solidFill>
                <a:latin typeface="Avenir"/>
                <a:ea typeface="Avenir"/>
                <a:cs typeface="Avenir"/>
                <a:sym typeface="Avenir"/>
              </a:rPr>
              <a:t> </a:t>
            </a:r>
          </a:p>
          <a:p>
            <a:pPr algn="just" marL="0" indent="0" lvl="0">
              <a:lnSpc>
                <a:spcPts val="1782"/>
              </a:lnSpc>
            </a:pPr>
          </a:p>
        </p:txBody>
      </p:sp>
      <p:sp>
        <p:nvSpPr>
          <p:cNvPr name="TextBox 10" id="10"/>
          <p:cNvSpPr txBox="true"/>
          <p:nvPr/>
        </p:nvSpPr>
        <p:spPr>
          <a:xfrm rot="0">
            <a:off x="1669999" y="1943061"/>
            <a:ext cx="6221864" cy="705907"/>
          </a:xfrm>
          <a:prstGeom prst="rect">
            <a:avLst/>
          </a:prstGeom>
        </p:spPr>
        <p:txBody>
          <a:bodyPr anchor="t" rtlCol="false" tIns="0" lIns="0" bIns="0" rIns="0">
            <a:spAutoFit/>
          </a:bodyPr>
          <a:lstStyle/>
          <a:p>
            <a:pPr algn="l" marL="0" indent="0" lvl="1">
              <a:lnSpc>
                <a:spcPts val="5199"/>
              </a:lnSpc>
              <a:spcBef>
                <a:spcPct val="0"/>
              </a:spcBef>
            </a:pPr>
            <a:r>
              <a:rPr lang="en-US" sz="5777" spc="-288">
                <a:solidFill>
                  <a:srgbClr val="F7FBF8"/>
                </a:solidFill>
                <a:latin typeface="DM Sans"/>
                <a:ea typeface="DM Sans"/>
                <a:cs typeface="DM Sans"/>
                <a:sym typeface="DM Sans"/>
              </a:rPr>
              <a:t>Executive </a:t>
            </a:r>
            <a:r>
              <a:rPr lang="en-US" sz="5777" spc="-288">
                <a:solidFill>
                  <a:srgbClr val="A4CE3E"/>
                </a:solidFill>
                <a:latin typeface="DM Sans"/>
                <a:ea typeface="DM Sans"/>
                <a:cs typeface="DM Sans"/>
                <a:sym typeface="DM Sans"/>
              </a:rPr>
              <a:t>Summary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17" y="0"/>
            <a:ext cx="18278283" cy="10545880"/>
          </a:xfrm>
          <a:custGeom>
            <a:avLst/>
            <a:gdLst/>
            <a:ahLst/>
            <a:cxnLst/>
            <a:rect r="r" b="b" t="t" l="l"/>
            <a:pathLst>
              <a:path h="10545880" w="18278283">
                <a:moveTo>
                  <a:pt x="0" y="0"/>
                </a:moveTo>
                <a:lnTo>
                  <a:pt x="18278283" y="0"/>
                </a:lnTo>
                <a:lnTo>
                  <a:pt x="18278283" y="10545880"/>
                </a:lnTo>
                <a:lnTo>
                  <a:pt x="0" y="10545880"/>
                </a:lnTo>
                <a:lnTo>
                  <a:pt x="0" y="0"/>
                </a:lnTo>
                <a:close/>
              </a:path>
            </a:pathLst>
          </a:custGeom>
          <a:blipFill>
            <a:blip r:embed="rId2"/>
            <a:stretch>
              <a:fillRect l="-1258" t="0" r="-1258" b="0"/>
            </a:stretch>
          </a:blipFill>
        </p:spPr>
      </p:sp>
      <p:sp>
        <p:nvSpPr>
          <p:cNvPr name="AutoShape 3" id="3"/>
          <p:cNvSpPr/>
          <p:nvPr/>
        </p:nvSpPr>
        <p:spPr>
          <a:xfrm flipH="true">
            <a:off x="2104835" y="2372226"/>
            <a:ext cx="2551658" cy="0"/>
          </a:xfrm>
          <a:prstGeom prst="line">
            <a:avLst/>
          </a:prstGeom>
          <a:ln cap="flat" w="19050">
            <a:solidFill>
              <a:srgbClr val="A3CF3E"/>
            </a:solidFill>
            <a:prstDash val="solid"/>
            <a:headEnd type="none" len="sm" w="sm"/>
            <a:tailEnd type="none" len="sm" w="sm"/>
          </a:ln>
        </p:spPr>
      </p:sp>
      <p:sp>
        <p:nvSpPr>
          <p:cNvPr name="Freeform 4" id="4"/>
          <p:cNvSpPr/>
          <p:nvPr/>
        </p:nvSpPr>
        <p:spPr>
          <a:xfrm flipH="false" flipV="false" rot="0">
            <a:off x="9605733" y="6489288"/>
            <a:ext cx="4221525" cy="2462557"/>
          </a:xfrm>
          <a:custGeom>
            <a:avLst/>
            <a:gdLst/>
            <a:ahLst/>
            <a:cxnLst/>
            <a:rect r="r" b="b" t="t" l="l"/>
            <a:pathLst>
              <a:path h="2462557" w="4221525">
                <a:moveTo>
                  <a:pt x="0" y="0"/>
                </a:moveTo>
                <a:lnTo>
                  <a:pt x="4221526" y="0"/>
                </a:lnTo>
                <a:lnTo>
                  <a:pt x="4221526" y="2462556"/>
                </a:lnTo>
                <a:lnTo>
                  <a:pt x="0" y="2462556"/>
                </a:lnTo>
                <a:lnTo>
                  <a:pt x="0" y="0"/>
                </a:lnTo>
                <a:close/>
              </a:path>
            </a:pathLst>
          </a:custGeom>
          <a:blipFill>
            <a:blip r:embed="rId3"/>
            <a:stretch>
              <a:fillRect l="-22024" t="-23355" r="-24444" b="-44036"/>
            </a:stretch>
          </a:blipFill>
        </p:spPr>
      </p:sp>
      <p:sp>
        <p:nvSpPr>
          <p:cNvPr name="TextBox 5" id="5"/>
          <p:cNvSpPr txBox="true"/>
          <p:nvPr/>
        </p:nvSpPr>
        <p:spPr>
          <a:xfrm rot="0">
            <a:off x="2036421" y="1000066"/>
            <a:ext cx="7107579" cy="12001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F7FBF8"/>
                </a:solidFill>
                <a:latin typeface="DM Sans"/>
                <a:ea typeface="DM Sans"/>
                <a:cs typeface="DM Sans"/>
                <a:sym typeface="DM Sans"/>
              </a:rPr>
              <a:t>Minimising Waste </a:t>
            </a:r>
            <a:r>
              <a:rPr lang="en-US" sz="5000" spc="-250">
                <a:solidFill>
                  <a:srgbClr val="A4CE3E"/>
                </a:solidFill>
                <a:latin typeface="DM Sans"/>
                <a:ea typeface="DM Sans"/>
                <a:cs typeface="DM Sans"/>
                <a:sym typeface="DM Sans"/>
              </a:rPr>
              <a:t>Diversion </a:t>
            </a:r>
          </a:p>
        </p:txBody>
      </p:sp>
      <p:sp>
        <p:nvSpPr>
          <p:cNvPr name="TextBox 6" id="6"/>
          <p:cNvSpPr txBox="true"/>
          <p:nvPr/>
        </p:nvSpPr>
        <p:spPr>
          <a:xfrm rot="0">
            <a:off x="9883104" y="885985"/>
            <a:ext cx="6117989" cy="2093655"/>
          </a:xfrm>
          <a:prstGeom prst="rect">
            <a:avLst/>
          </a:prstGeom>
        </p:spPr>
        <p:txBody>
          <a:bodyPr anchor="t" rtlCol="false" tIns="0" lIns="0" bIns="0" rIns="0">
            <a:spAutoFit/>
          </a:bodyPr>
          <a:lstStyle/>
          <a:p>
            <a:pPr algn="l">
              <a:lnSpc>
                <a:spcPts val="1880"/>
              </a:lnSpc>
            </a:pPr>
            <a:r>
              <a:rPr lang="en-US" sz="1343">
                <a:solidFill>
                  <a:srgbClr val="F7FBF8"/>
                </a:solidFill>
                <a:latin typeface="Avenir"/>
                <a:ea typeface="Avenir"/>
                <a:cs typeface="Avenir"/>
                <a:sym typeface="Avenir"/>
              </a:rPr>
              <a:t>There is potential for reclamation and reuse of many of these materials such as the carpet tiles and partitions</a:t>
            </a:r>
            <a:r>
              <a:rPr lang="en-US" sz="1343">
                <a:solidFill>
                  <a:srgbClr val="F7FBF8"/>
                </a:solidFill>
                <a:latin typeface="Avenir"/>
                <a:ea typeface="Avenir"/>
                <a:cs typeface="Avenir"/>
                <a:sym typeface="Avenir"/>
              </a:rPr>
              <a:t>. Where this is not possible, there is potential for recycling the majority of these materials thereby diverting waste from landfill.</a:t>
            </a:r>
          </a:p>
          <a:p>
            <a:pPr algn="l">
              <a:lnSpc>
                <a:spcPts val="1880"/>
              </a:lnSpc>
            </a:pPr>
          </a:p>
          <a:p>
            <a:pPr algn="l">
              <a:lnSpc>
                <a:spcPts val="1880"/>
              </a:lnSpc>
            </a:pPr>
            <a:r>
              <a:rPr lang="en-US" sz="1343">
                <a:solidFill>
                  <a:srgbClr val="F7FBF8"/>
                </a:solidFill>
                <a:latin typeface="Avenir"/>
                <a:ea typeface="Avenir"/>
                <a:cs typeface="Avenir"/>
                <a:sym typeface="Avenir"/>
              </a:rPr>
              <a:t>It is recommended that a target of 95% diversion of waste from landfill should be set.</a:t>
            </a:r>
          </a:p>
          <a:p>
            <a:pPr algn="l">
              <a:lnSpc>
                <a:spcPts val="1880"/>
              </a:lnSpc>
            </a:pPr>
          </a:p>
          <a:p>
            <a:pPr algn="l">
              <a:lnSpc>
                <a:spcPts val="1880"/>
              </a:lnSpc>
            </a:pPr>
            <a:r>
              <a:rPr lang="en-US" sz="1343">
                <a:solidFill>
                  <a:srgbClr val="F7FBF8"/>
                </a:solidFill>
                <a:latin typeface="Avenir"/>
                <a:ea typeface="Avenir"/>
                <a:cs typeface="Avenir"/>
                <a:sym typeface="Avenir"/>
              </a:rPr>
              <a:t>Wherever possible on-site re-use of non-hazardous materials is also recommended.</a:t>
            </a:r>
          </a:p>
        </p:txBody>
      </p:sp>
      <p:sp>
        <p:nvSpPr>
          <p:cNvPr name="TextBox 7" id="7"/>
          <p:cNvSpPr txBox="true"/>
          <p:nvPr/>
        </p:nvSpPr>
        <p:spPr>
          <a:xfrm rot="0">
            <a:off x="9605733" y="3414227"/>
            <a:ext cx="6194933" cy="2808361"/>
          </a:xfrm>
          <a:prstGeom prst="rect">
            <a:avLst/>
          </a:prstGeom>
        </p:spPr>
        <p:txBody>
          <a:bodyPr anchor="t" rtlCol="false" tIns="0" lIns="0" bIns="0" rIns="0">
            <a:spAutoFit/>
          </a:bodyPr>
          <a:lstStyle/>
          <a:p>
            <a:pPr algn="just">
              <a:lnSpc>
                <a:spcPts val="1695"/>
              </a:lnSpc>
            </a:pPr>
          </a:p>
          <a:p>
            <a:pPr algn="just" marL="290559" indent="-145280" lvl="1">
              <a:lnSpc>
                <a:spcPts val="1695"/>
              </a:lnSpc>
              <a:buFont typeface="Arial"/>
              <a:buChar char="•"/>
            </a:pPr>
            <a:r>
              <a:rPr lang="en-US" sz="1345" spc="-6">
                <a:solidFill>
                  <a:srgbClr val="F7FBF8"/>
                </a:solidFill>
                <a:latin typeface="Avenir"/>
                <a:ea typeface="Avenir"/>
                <a:cs typeface="Avenir"/>
                <a:sym typeface="Avenir"/>
              </a:rPr>
              <a:t>The building layers with longer life expectancy will be designed for longevity, flexibility and adaptability and layers with shorter life expectancy for ease of maintenance, recoverability and replacement.</a:t>
            </a:r>
          </a:p>
          <a:p>
            <a:pPr algn="just">
              <a:lnSpc>
                <a:spcPts val="1695"/>
              </a:lnSpc>
            </a:pPr>
          </a:p>
          <a:p>
            <a:pPr algn="just">
              <a:lnSpc>
                <a:spcPts val="1695"/>
              </a:lnSpc>
            </a:pPr>
          </a:p>
          <a:p>
            <a:pPr algn="just">
              <a:lnSpc>
                <a:spcPts val="1695"/>
              </a:lnSpc>
            </a:pPr>
          </a:p>
          <a:p>
            <a:pPr algn="just" marL="290559" indent="-145280" lvl="1">
              <a:lnSpc>
                <a:spcPts val="1695"/>
              </a:lnSpc>
              <a:buFont typeface="Arial"/>
              <a:buChar char="•"/>
            </a:pPr>
            <a:r>
              <a:rPr lang="en-US" sz="1345" spc="-6">
                <a:solidFill>
                  <a:srgbClr val="F7FBF8"/>
                </a:solidFill>
                <a:latin typeface="Avenir"/>
                <a:ea typeface="Avenir"/>
                <a:cs typeface="Avenir"/>
                <a:sym typeface="Avenir"/>
              </a:rPr>
              <a:t>At least 99% of the waste can be diverted from going into landfill.</a:t>
            </a:r>
          </a:p>
          <a:p>
            <a:pPr algn="just" marL="290559" indent="-145280" lvl="1">
              <a:lnSpc>
                <a:spcPts val="1695"/>
              </a:lnSpc>
              <a:buFont typeface="Arial"/>
              <a:buChar char="•"/>
            </a:pPr>
            <a:r>
              <a:rPr lang="en-US" sz="1345" spc="-6">
                <a:solidFill>
                  <a:srgbClr val="F7FBF8"/>
                </a:solidFill>
                <a:latin typeface="Avenir"/>
                <a:ea typeface="Avenir"/>
                <a:cs typeface="Avenir"/>
                <a:sym typeface="Avenir"/>
              </a:rPr>
              <a:t>A site waste management plan will be implemented on site to minimise waste generation and then manage waste responsibly.</a:t>
            </a:r>
          </a:p>
          <a:p>
            <a:pPr algn="just" marL="290559" indent="-145280" lvl="1">
              <a:lnSpc>
                <a:spcPts val="1695"/>
              </a:lnSpc>
              <a:buFont typeface="Arial"/>
              <a:buChar char="•"/>
            </a:pPr>
            <a:r>
              <a:rPr lang="en-US" sz="1345" spc="-6">
                <a:solidFill>
                  <a:srgbClr val="F7FBF8"/>
                </a:solidFill>
                <a:latin typeface="Avenir"/>
                <a:ea typeface="Avenir"/>
                <a:cs typeface="Avenir"/>
                <a:sym typeface="Avenir"/>
              </a:rPr>
              <a:t>A operational waste strategy will be implemented to ensure municipal waste is managed sustainably.</a:t>
            </a:r>
          </a:p>
          <a:p>
            <a:pPr algn="just" marL="0" indent="0" lvl="0">
              <a:lnSpc>
                <a:spcPts val="1695"/>
              </a:lnSpc>
            </a:pPr>
          </a:p>
        </p:txBody>
      </p:sp>
      <p:sp>
        <p:nvSpPr>
          <p:cNvPr name="TextBox 8" id="8"/>
          <p:cNvSpPr txBox="true"/>
          <p:nvPr/>
        </p:nvSpPr>
        <p:spPr>
          <a:xfrm rot="0">
            <a:off x="9883104" y="3281141"/>
            <a:ext cx="6041044" cy="161660"/>
          </a:xfrm>
          <a:prstGeom prst="rect">
            <a:avLst/>
          </a:prstGeom>
        </p:spPr>
        <p:txBody>
          <a:bodyPr anchor="t" rtlCol="false" tIns="0" lIns="0" bIns="0" rIns="0">
            <a:spAutoFit/>
          </a:bodyPr>
          <a:lstStyle/>
          <a:p>
            <a:pPr algn="l" marL="0" indent="0" lvl="1">
              <a:lnSpc>
                <a:spcPts val="1208"/>
              </a:lnSpc>
              <a:spcBef>
                <a:spcPct val="0"/>
              </a:spcBef>
            </a:pPr>
            <a:r>
              <a:rPr lang="en-US" b="true" sz="1343" spc="-67">
                <a:solidFill>
                  <a:srgbClr val="A4CE3E"/>
                </a:solidFill>
                <a:latin typeface="DM Sans Bold"/>
                <a:ea typeface="DM Sans Bold"/>
                <a:cs typeface="DM Sans Bold"/>
                <a:sym typeface="DM Sans Bold"/>
              </a:rPr>
              <a:t>Design to eliminate waste</a:t>
            </a:r>
          </a:p>
        </p:txBody>
      </p:sp>
      <p:sp>
        <p:nvSpPr>
          <p:cNvPr name="TextBox 9" id="9"/>
          <p:cNvSpPr txBox="true"/>
          <p:nvPr/>
        </p:nvSpPr>
        <p:spPr>
          <a:xfrm rot="0">
            <a:off x="9883104" y="4520091"/>
            <a:ext cx="6041044" cy="161660"/>
          </a:xfrm>
          <a:prstGeom prst="rect">
            <a:avLst/>
          </a:prstGeom>
        </p:spPr>
        <p:txBody>
          <a:bodyPr anchor="t" rtlCol="false" tIns="0" lIns="0" bIns="0" rIns="0">
            <a:spAutoFit/>
          </a:bodyPr>
          <a:lstStyle/>
          <a:p>
            <a:pPr algn="l" marL="0" indent="0" lvl="1">
              <a:lnSpc>
                <a:spcPts val="1208"/>
              </a:lnSpc>
              <a:spcBef>
                <a:spcPct val="0"/>
              </a:spcBef>
            </a:pPr>
            <a:r>
              <a:rPr lang="en-US" b="true" sz="1343" spc="-67">
                <a:solidFill>
                  <a:srgbClr val="A4CE3E"/>
                </a:solidFill>
                <a:latin typeface="DM Sans Bold"/>
                <a:ea typeface="DM Sans Bold"/>
                <a:cs typeface="DM Sans Bold"/>
                <a:sym typeface="DM Sans Bold"/>
              </a:rPr>
              <a:t>Manage waste sustainably</a:t>
            </a:r>
          </a:p>
        </p:txBody>
      </p:sp>
      <p:sp>
        <p:nvSpPr>
          <p:cNvPr name="TextBox 10" id="10"/>
          <p:cNvSpPr txBox="true"/>
          <p:nvPr/>
        </p:nvSpPr>
        <p:spPr>
          <a:xfrm rot="0">
            <a:off x="2104835" y="2826231"/>
            <a:ext cx="4754420" cy="516691"/>
          </a:xfrm>
          <a:prstGeom prst="rect">
            <a:avLst/>
          </a:prstGeom>
        </p:spPr>
        <p:txBody>
          <a:bodyPr anchor="t" rtlCol="false" tIns="0" lIns="0" bIns="0" rIns="0">
            <a:spAutoFit/>
          </a:bodyPr>
          <a:lstStyle/>
          <a:p>
            <a:pPr algn="ctr">
              <a:lnSpc>
                <a:spcPts val="1981"/>
              </a:lnSpc>
            </a:pPr>
            <a:r>
              <a:rPr lang="en-US" b="true" sz="1415">
                <a:solidFill>
                  <a:srgbClr val="F7FBF8"/>
                </a:solidFill>
                <a:latin typeface="Avenir Bold"/>
                <a:ea typeface="Avenir Bold"/>
                <a:cs typeface="Avenir Bold"/>
                <a:sym typeface="Avenir Bold"/>
              </a:rPr>
              <a:t>The Key Waste Products by % of total weight (tonnes) are as follows: </a:t>
            </a:r>
          </a:p>
        </p:txBody>
      </p:sp>
      <p:sp>
        <p:nvSpPr>
          <p:cNvPr name="Freeform 11" id="11"/>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
        <p:nvSpPr>
          <p:cNvPr name="Freeform 12" id="12"/>
          <p:cNvSpPr/>
          <p:nvPr/>
        </p:nvSpPr>
        <p:spPr>
          <a:xfrm flipH="false" flipV="false" rot="0">
            <a:off x="675827" y="1005960"/>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5"/>
            <a:stretch>
              <a:fillRect l="-8797" t="-66863" r="-261858" b="-81932"/>
            </a:stretch>
          </a:blipFill>
        </p:spPr>
      </p:sp>
      <p:sp>
        <p:nvSpPr>
          <p:cNvPr name="TextBox 13" id="13"/>
          <p:cNvSpPr txBox="true"/>
          <p:nvPr/>
        </p:nvSpPr>
        <p:spPr>
          <a:xfrm rot="0">
            <a:off x="1619934" y="3676296"/>
            <a:ext cx="5724223" cy="5736561"/>
          </a:xfrm>
          <a:prstGeom prst="rect">
            <a:avLst/>
          </a:prstGeom>
        </p:spPr>
        <p:txBody>
          <a:bodyPr anchor="t" rtlCol="false" tIns="0" lIns="0" bIns="0" rIns="0">
            <a:spAutoFit/>
          </a:bodyPr>
          <a:lstStyle/>
          <a:p>
            <a:pPr algn="ctr">
              <a:lnSpc>
                <a:spcPts val="11026"/>
              </a:lnSpc>
              <a:spcBef>
                <a:spcPct val="0"/>
              </a:spcBef>
            </a:pPr>
            <a:r>
              <a:rPr lang="en-US" sz="7876">
                <a:solidFill>
                  <a:srgbClr val="FFFFFF"/>
                </a:solidFill>
                <a:latin typeface="Heading Now 71-78"/>
                <a:ea typeface="Heading Now 71-78"/>
                <a:cs typeface="Heading Now 71-78"/>
                <a:sym typeface="Heading Now 71-78"/>
              </a:rPr>
              <a:t>{{KWP_OF_TOTAL_WEIGHT_TONNES}}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65" y="0"/>
            <a:ext cx="18278283" cy="10453423"/>
          </a:xfrm>
          <a:custGeom>
            <a:avLst/>
            <a:gdLst/>
            <a:ahLst/>
            <a:cxnLst/>
            <a:rect r="r" b="b" t="t" l="l"/>
            <a:pathLst>
              <a:path h="10453423" w="18278283">
                <a:moveTo>
                  <a:pt x="0" y="0"/>
                </a:moveTo>
                <a:lnTo>
                  <a:pt x="18278283" y="0"/>
                </a:lnTo>
                <a:lnTo>
                  <a:pt x="18278283" y="10453423"/>
                </a:lnTo>
                <a:lnTo>
                  <a:pt x="0" y="10453423"/>
                </a:lnTo>
                <a:lnTo>
                  <a:pt x="0" y="0"/>
                </a:lnTo>
                <a:close/>
              </a:path>
            </a:pathLst>
          </a:custGeom>
          <a:blipFill>
            <a:blip r:embed="rId2"/>
            <a:stretch>
              <a:fillRect l="-808" t="0" r="-808" b="0"/>
            </a:stretch>
          </a:blipFill>
        </p:spPr>
      </p:sp>
      <p:sp>
        <p:nvSpPr>
          <p:cNvPr name="TextBox 3" id="3"/>
          <p:cNvSpPr txBox="true"/>
          <p:nvPr/>
        </p:nvSpPr>
        <p:spPr>
          <a:xfrm rot="0">
            <a:off x="5808131" y="575853"/>
            <a:ext cx="1021263"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06</a:t>
            </a:r>
          </a:p>
        </p:txBody>
      </p:sp>
      <p:sp>
        <p:nvSpPr>
          <p:cNvPr name="TextBox 4" id="4"/>
          <p:cNvSpPr txBox="true"/>
          <p:nvPr/>
        </p:nvSpPr>
        <p:spPr>
          <a:xfrm rot="0">
            <a:off x="8948475" y="3990734"/>
            <a:ext cx="37236" cy="560608"/>
          </a:xfrm>
          <a:prstGeom prst="rect">
            <a:avLst/>
          </a:prstGeom>
        </p:spPr>
        <p:txBody>
          <a:bodyPr anchor="t" rtlCol="false" tIns="0" lIns="0" bIns="0" rIns="0">
            <a:spAutoFit/>
          </a:bodyPr>
          <a:lstStyle/>
          <a:p>
            <a:pPr algn="ctr">
              <a:lnSpc>
                <a:spcPts val="4111"/>
              </a:lnSpc>
            </a:pPr>
          </a:p>
        </p:txBody>
      </p:sp>
      <p:sp>
        <p:nvSpPr>
          <p:cNvPr name="TextBox 5" id="5"/>
          <p:cNvSpPr txBox="true"/>
          <p:nvPr/>
        </p:nvSpPr>
        <p:spPr>
          <a:xfrm rot="0">
            <a:off x="6042309" y="1891960"/>
            <a:ext cx="787085"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07</a:t>
            </a:r>
          </a:p>
        </p:txBody>
      </p:sp>
      <p:sp>
        <p:nvSpPr>
          <p:cNvPr name="TextBox 6" id="6"/>
          <p:cNvSpPr txBox="true"/>
          <p:nvPr/>
        </p:nvSpPr>
        <p:spPr>
          <a:xfrm rot="0">
            <a:off x="5422559" y="3208067"/>
            <a:ext cx="1406835"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10</a:t>
            </a:r>
          </a:p>
        </p:txBody>
      </p:sp>
      <p:sp>
        <p:nvSpPr>
          <p:cNvPr name="TextBox 7" id="7"/>
          <p:cNvSpPr txBox="true"/>
          <p:nvPr/>
        </p:nvSpPr>
        <p:spPr>
          <a:xfrm rot="0">
            <a:off x="5780746" y="4524134"/>
            <a:ext cx="1048648"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19</a:t>
            </a:r>
          </a:p>
        </p:txBody>
      </p:sp>
      <p:sp>
        <p:nvSpPr>
          <p:cNvPr name="TextBox 8" id="8"/>
          <p:cNvSpPr txBox="true"/>
          <p:nvPr/>
        </p:nvSpPr>
        <p:spPr>
          <a:xfrm rot="0">
            <a:off x="5422559" y="5840242"/>
            <a:ext cx="1406835"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28</a:t>
            </a:r>
          </a:p>
        </p:txBody>
      </p:sp>
      <p:sp>
        <p:nvSpPr>
          <p:cNvPr name="TextBox 9" id="9"/>
          <p:cNvSpPr txBox="true"/>
          <p:nvPr/>
        </p:nvSpPr>
        <p:spPr>
          <a:xfrm rot="0">
            <a:off x="5649558" y="7156349"/>
            <a:ext cx="1179836"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32</a:t>
            </a:r>
          </a:p>
        </p:txBody>
      </p:sp>
      <p:sp>
        <p:nvSpPr>
          <p:cNvPr name="TextBox 10" id="10"/>
          <p:cNvSpPr txBox="true"/>
          <p:nvPr/>
        </p:nvSpPr>
        <p:spPr>
          <a:xfrm rot="0">
            <a:off x="5808131" y="8472456"/>
            <a:ext cx="1021263" cy="897007"/>
          </a:xfrm>
          <a:prstGeom prst="rect">
            <a:avLst/>
          </a:prstGeom>
        </p:spPr>
        <p:txBody>
          <a:bodyPr anchor="t" rtlCol="false" tIns="0" lIns="0" bIns="0" rIns="0">
            <a:spAutoFit/>
          </a:bodyPr>
          <a:lstStyle/>
          <a:p>
            <a:pPr algn="r">
              <a:lnSpc>
                <a:spcPts val="6470"/>
              </a:lnSpc>
            </a:pPr>
            <a:r>
              <a:rPr lang="en-US" sz="4621">
                <a:solidFill>
                  <a:srgbClr val="F7FBF8"/>
                </a:solidFill>
                <a:latin typeface="Heading Now 71-78"/>
                <a:ea typeface="Heading Now 71-78"/>
                <a:cs typeface="Heading Now 71-78"/>
                <a:sym typeface="Heading Now 71-78"/>
              </a:rPr>
              <a:t>33</a:t>
            </a:r>
          </a:p>
        </p:txBody>
      </p:sp>
      <p:sp>
        <p:nvSpPr>
          <p:cNvPr name="Freeform 11" id="11"/>
          <p:cNvSpPr/>
          <p:nvPr/>
        </p:nvSpPr>
        <p:spPr>
          <a:xfrm flipH="false" flipV="false" rot="0">
            <a:off x="497580" y="9019878"/>
            <a:ext cx="881155" cy="854823"/>
          </a:xfrm>
          <a:custGeom>
            <a:avLst/>
            <a:gdLst/>
            <a:ahLst/>
            <a:cxnLst/>
            <a:rect r="r" b="b" t="t" l="l"/>
            <a:pathLst>
              <a:path h="854823" w="881155">
                <a:moveTo>
                  <a:pt x="0" y="0"/>
                </a:moveTo>
                <a:lnTo>
                  <a:pt x="881155" y="0"/>
                </a:lnTo>
                <a:lnTo>
                  <a:pt x="881155" y="854823"/>
                </a:lnTo>
                <a:lnTo>
                  <a:pt x="0" y="854823"/>
                </a:lnTo>
                <a:lnTo>
                  <a:pt x="0" y="0"/>
                </a:lnTo>
                <a:close/>
              </a:path>
            </a:pathLst>
          </a:custGeom>
          <a:blipFill>
            <a:blip r:embed="rId3"/>
            <a:stretch>
              <a:fillRect l="-3403" t="0" r="-284642" b="0"/>
            </a:stretch>
          </a:blipFill>
        </p:spPr>
      </p:sp>
      <p:sp>
        <p:nvSpPr>
          <p:cNvPr name="Freeform 12" id="12"/>
          <p:cNvSpPr/>
          <p:nvPr/>
        </p:nvSpPr>
        <p:spPr>
          <a:xfrm flipH="false" flipV="false" rot="0">
            <a:off x="497580" y="489540"/>
            <a:ext cx="881155" cy="875160"/>
          </a:xfrm>
          <a:custGeom>
            <a:avLst/>
            <a:gdLst/>
            <a:ahLst/>
            <a:cxnLst/>
            <a:rect r="r" b="b" t="t" l="l"/>
            <a:pathLst>
              <a:path h="875160" w="881155">
                <a:moveTo>
                  <a:pt x="0" y="0"/>
                </a:moveTo>
                <a:lnTo>
                  <a:pt x="881155" y="0"/>
                </a:lnTo>
                <a:lnTo>
                  <a:pt x="881155" y="875161"/>
                </a:lnTo>
                <a:lnTo>
                  <a:pt x="0" y="875161"/>
                </a:lnTo>
                <a:lnTo>
                  <a:pt x="0" y="0"/>
                </a:lnTo>
                <a:close/>
              </a:path>
            </a:pathLst>
          </a:custGeom>
          <a:blipFill>
            <a:blip r:embed="rId4"/>
            <a:stretch>
              <a:fillRect l="-8797" t="-66863" r="-261858" b="-81932"/>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453423"/>
          </a:xfrm>
          <a:custGeom>
            <a:avLst/>
            <a:gdLst/>
            <a:ahLst/>
            <a:cxnLst/>
            <a:rect r="r" b="b" t="t" l="l"/>
            <a:pathLst>
              <a:path h="10453423" w="18278283">
                <a:moveTo>
                  <a:pt x="0" y="0"/>
                </a:moveTo>
                <a:lnTo>
                  <a:pt x="18278283" y="0"/>
                </a:lnTo>
                <a:lnTo>
                  <a:pt x="18278283" y="10453423"/>
                </a:lnTo>
                <a:lnTo>
                  <a:pt x="0" y="10453423"/>
                </a:lnTo>
                <a:lnTo>
                  <a:pt x="0" y="0"/>
                </a:lnTo>
                <a:close/>
              </a:path>
            </a:pathLst>
          </a:custGeom>
          <a:blipFill>
            <a:blip r:embed="rId2"/>
            <a:stretch>
              <a:fillRect l="-808" t="0" r="-808" b="0"/>
            </a:stretch>
          </a:blipFill>
        </p:spPr>
      </p:sp>
      <p:sp>
        <p:nvSpPr>
          <p:cNvPr name="TextBox 3" id="3"/>
          <p:cNvSpPr txBox="true"/>
          <p:nvPr/>
        </p:nvSpPr>
        <p:spPr>
          <a:xfrm rot="0">
            <a:off x="2461246" y="1488829"/>
            <a:ext cx="4112254" cy="707995"/>
          </a:xfrm>
          <a:prstGeom prst="rect">
            <a:avLst/>
          </a:prstGeom>
        </p:spPr>
        <p:txBody>
          <a:bodyPr anchor="t" rtlCol="false" tIns="0" lIns="0" bIns="0" rIns="0">
            <a:spAutoFit/>
          </a:bodyPr>
          <a:lstStyle/>
          <a:p>
            <a:pPr algn="l" marL="0" indent="0" lvl="1">
              <a:lnSpc>
                <a:spcPts val="5199"/>
              </a:lnSpc>
              <a:spcBef>
                <a:spcPct val="0"/>
              </a:spcBef>
            </a:pPr>
            <a:r>
              <a:rPr lang="en-US" sz="5777" spc="-288">
                <a:solidFill>
                  <a:srgbClr val="F7FBF8"/>
                </a:solidFill>
                <a:latin typeface="DM Sans"/>
                <a:ea typeface="DM Sans"/>
                <a:cs typeface="DM Sans"/>
                <a:sym typeface="DM Sans"/>
              </a:rPr>
              <a:t>Introduction </a:t>
            </a:r>
          </a:p>
        </p:txBody>
      </p:sp>
      <p:sp>
        <p:nvSpPr>
          <p:cNvPr name="TextBox 4" id="4"/>
          <p:cNvSpPr txBox="true"/>
          <p:nvPr/>
        </p:nvSpPr>
        <p:spPr>
          <a:xfrm rot="0">
            <a:off x="1028700" y="3197587"/>
            <a:ext cx="7806887" cy="5593124"/>
          </a:xfrm>
          <a:prstGeom prst="rect">
            <a:avLst/>
          </a:prstGeom>
        </p:spPr>
        <p:txBody>
          <a:bodyPr anchor="t" rtlCol="false" tIns="0" lIns="0" bIns="0" rIns="0">
            <a:spAutoFit/>
          </a:bodyPr>
          <a:lstStyle/>
          <a:p>
            <a:pPr algn="just">
              <a:lnSpc>
                <a:spcPts val="2156"/>
              </a:lnSpc>
            </a:pPr>
            <a:r>
              <a:rPr lang="en-US" sz="1540">
                <a:solidFill>
                  <a:srgbClr val="F7FBF8"/>
                </a:solidFill>
                <a:latin typeface="Avenir"/>
                <a:ea typeface="Avenir"/>
                <a:cs typeface="Avenir"/>
                <a:sym typeface="Avenir"/>
              </a:rPr>
              <a:t>Lawmens has conducted a pre-deconstruction waste audit of {{PROJECT_ADDRESS}}</a:t>
            </a:r>
          </a:p>
          <a:p>
            <a:pPr algn="just">
              <a:lnSpc>
                <a:spcPts val="2156"/>
              </a:lnSpc>
            </a:pPr>
          </a:p>
          <a:p>
            <a:pPr algn="just">
              <a:lnSpc>
                <a:spcPts val="2156"/>
              </a:lnSpc>
            </a:pPr>
            <a:r>
              <a:rPr lang="en-US" sz="1540">
                <a:solidFill>
                  <a:srgbClr val="F7FBF8"/>
                </a:solidFill>
                <a:latin typeface="Avenir"/>
                <a:ea typeface="Avenir"/>
                <a:cs typeface="Avenir"/>
                <a:sym typeface="Avenir"/>
              </a:rPr>
              <a:t>This report provides information on the site to be assessed, the likely types and amounts</a:t>
            </a:r>
          </a:p>
          <a:p>
            <a:pPr algn="just">
              <a:lnSpc>
                <a:spcPts val="2156"/>
              </a:lnSpc>
            </a:pPr>
            <a:r>
              <a:rPr lang="en-US" sz="1540">
                <a:solidFill>
                  <a:srgbClr val="F7FBF8"/>
                </a:solidFill>
                <a:latin typeface="Avenir"/>
                <a:ea typeface="Avenir"/>
                <a:cs typeface="Avenir"/>
                <a:sym typeface="Avenir"/>
              </a:rPr>
              <a:t>of materials arising from the refurbishment and recommendations for the management of these materials. </a:t>
            </a:r>
          </a:p>
          <a:p>
            <a:pPr algn="just">
              <a:lnSpc>
                <a:spcPts val="2156"/>
              </a:lnSpc>
            </a:pPr>
          </a:p>
          <a:p>
            <a:pPr algn="just">
              <a:lnSpc>
                <a:spcPts val="2156"/>
              </a:lnSpc>
            </a:pPr>
            <a:r>
              <a:rPr lang="en-US" sz="1540">
                <a:solidFill>
                  <a:srgbClr val="F7FBF8"/>
                </a:solidFill>
                <a:latin typeface="Avenir"/>
                <a:ea typeface="Avenir"/>
                <a:cs typeface="Avenir"/>
                <a:sym typeface="Avenir"/>
              </a:rPr>
              <a:t>Details of local reuse and recycling organisations have been provided. The products, services, companies and websites listed are for informational purposes only and constitute neither an endorsement nor a recommendation. We recommend that you check if a waste management facility or a company transporting your waste has the appropriate permit in place. This can be done via the Environment Agency website.</a:t>
            </a:r>
          </a:p>
          <a:p>
            <a:pPr algn="just">
              <a:lnSpc>
                <a:spcPts val="2156"/>
              </a:lnSpc>
            </a:pPr>
          </a:p>
          <a:p>
            <a:pPr algn="just">
              <a:lnSpc>
                <a:spcPts val="2156"/>
              </a:lnSpc>
            </a:pPr>
            <a:r>
              <a:rPr lang="en-US" sz="1540">
                <a:solidFill>
                  <a:srgbClr val="F7FBF8"/>
                </a:solidFill>
                <a:latin typeface="Avenir"/>
                <a:ea typeface="Avenir"/>
                <a:cs typeface="Avenir"/>
                <a:sym typeface="Avenir"/>
              </a:rPr>
              <a:t>This Pre-deconstruction audit was completed by a competent person with extensive sustainability knowledge and authorised by a competent person within the waste and demolition industry.</a:t>
            </a:r>
          </a:p>
          <a:p>
            <a:pPr algn="just">
              <a:lnSpc>
                <a:spcPts val="2156"/>
              </a:lnSpc>
            </a:pPr>
          </a:p>
          <a:p>
            <a:pPr algn="just">
              <a:lnSpc>
                <a:spcPts val="2156"/>
              </a:lnSpc>
            </a:pPr>
            <a:r>
              <a:rPr lang="en-US" sz="1540">
                <a:solidFill>
                  <a:srgbClr val="F7FBF8"/>
                </a:solidFill>
                <a:latin typeface="Avenir"/>
                <a:ea typeface="Avenir"/>
                <a:cs typeface="Avenir"/>
                <a:sym typeface="Avenir"/>
              </a:rPr>
              <a:t>We can confirm both persons have extensive knowledge of the value and condition of the materials within the project, and how they should be repaired, reused or recycled dependent on the condition of the items. Both persons have appropriate knowledge of buildings, waste and options for the materials being removed from site, allowing them to analyse and create the appropriate waste streams where neccessary. </a:t>
            </a:r>
          </a:p>
        </p:txBody>
      </p:sp>
      <p:sp>
        <p:nvSpPr>
          <p:cNvPr name="AutoShape 5" id="5"/>
          <p:cNvSpPr/>
          <p:nvPr/>
        </p:nvSpPr>
        <p:spPr>
          <a:xfrm flipH="true" flipV="true">
            <a:off x="2461246" y="2381917"/>
            <a:ext cx="4585444" cy="0"/>
          </a:xfrm>
          <a:prstGeom prst="line">
            <a:avLst/>
          </a:prstGeom>
          <a:ln cap="flat" w="19050">
            <a:solidFill>
              <a:srgbClr val="A3CF3E"/>
            </a:solidFill>
            <a:prstDash val="solid"/>
            <a:headEnd type="none" len="sm" w="sm"/>
            <a:tailEnd type="none" len="sm" w="sm"/>
          </a:ln>
        </p:spPr>
      </p:sp>
      <p:sp>
        <p:nvSpPr>
          <p:cNvPr name="TextBox 6" id="6"/>
          <p:cNvSpPr txBox="true"/>
          <p:nvPr/>
        </p:nvSpPr>
        <p:spPr>
          <a:xfrm rot="0">
            <a:off x="10827616" y="4315459"/>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F7FBF8"/>
                </a:solidFill>
                <a:latin typeface="Avenir"/>
                <a:ea typeface="Avenir"/>
                <a:cs typeface="Avenir"/>
                <a:sym typeface="Avenir"/>
              </a:rPr>
              <a:t>Provide an understanding of the waste materials likely to arise from the refurbishment of the building in order to help with the development of a waste management plan</a:t>
            </a:r>
          </a:p>
        </p:txBody>
      </p:sp>
      <p:sp>
        <p:nvSpPr>
          <p:cNvPr name="TextBox 7" id="7"/>
          <p:cNvSpPr txBox="true"/>
          <p:nvPr/>
        </p:nvSpPr>
        <p:spPr>
          <a:xfrm rot="0">
            <a:off x="10827616" y="6436832"/>
            <a:ext cx="6483092" cy="294005"/>
          </a:xfrm>
          <a:prstGeom prst="rect">
            <a:avLst/>
          </a:prstGeom>
        </p:spPr>
        <p:txBody>
          <a:bodyPr anchor="t" rtlCol="false" tIns="0" lIns="0" bIns="0" rIns="0">
            <a:spAutoFit/>
          </a:bodyPr>
          <a:lstStyle/>
          <a:p>
            <a:pPr algn="just">
              <a:lnSpc>
                <a:spcPts val="2170"/>
              </a:lnSpc>
              <a:spcBef>
                <a:spcPct val="0"/>
              </a:spcBef>
            </a:pPr>
            <a:r>
              <a:rPr lang="en-US" sz="1550">
                <a:solidFill>
                  <a:srgbClr val="F7FBF8"/>
                </a:solidFill>
                <a:latin typeface="Avenir"/>
                <a:ea typeface="Avenir"/>
                <a:cs typeface="Avenir"/>
                <a:sym typeface="Avenir"/>
              </a:rPr>
              <a:t>Provide evidence for environmental assessments such as BREEAM</a:t>
            </a:r>
          </a:p>
        </p:txBody>
      </p:sp>
      <p:sp>
        <p:nvSpPr>
          <p:cNvPr name="TextBox 8" id="8"/>
          <p:cNvSpPr txBox="true"/>
          <p:nvPr/>
        </p:nvSpPr>
        <p:spPr>
          <a:xfrm rot="0">
            <a:off x="10827616" y="5366303"/>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F7FBF8"/>
                </a:solidFill>
                <a:latin typeface="Avenir"/>
                <a:ea typeface="Avenir"/>
                <a:cs typeface="Avenir"/>
                <a:sym typeface="Avenir"/>
              </a:rPr>
              <a:t>Maximise the management of material removed from the building in line with the waste hierarchy i.e. maximise reuse and recycling and minimise waste to landfill</a:t>
            </a:r>
          </a:p>
        </p:txBody>
      </p:sp>
      <p:sp>
        <p:nvSpPr>
          <p:cNvPr name="TextBox 9" id="9"/>
          <p:cNvSpPr txBox="true"/>
          <p:nvPr/>
        </p:nvSpPr>
        <p:spPr>
          <a:xfrm rot="0">
            <a:off x="10827616" y="7130099"/>
            <a:ext cx="6483092" cy="560705"/>
          </a:xfrm>
          <a:prstGeom prst="rect">
            <a:avLst/>
          </a:prstGeom>
        </p:spPr>
        <p:txBody>
          <a:bodyPr anchor="t" rtlCol="false" tIns="0" lIns="0" bIns="0" rIns="0">
            <a:spAutoFit/>
          </a:bodyPr>
          <a:lstStyle/>
          <a:p>
            <a:pPr algn="just">
              <a:lnSpc>
                <a:spcPts val="2170"/>
              </a:lnSpc>
              <a:spcBef>
                <a:spcPct val="0"/>
              </a:spcBef>
            </a:pPr>
            <a:r>
              <a:rPr lang="en-US" sz="1550">
                <a:solidFill>
                  <a:srgbClr val="F7FBF8"/>
                </a:solidFill>
                <a:latin typeface="Avenir"/>
                <a:ea typeface="Avenir"/>
                <a:cs typeface="Avenir"/>
                <a:sym typeface="Avenir"/>
              </a:rPr>
              <a:t>Look at ways of promoting circular economy principles, including unique ways to re-purpose, re-condition and recycle materials.</a:t>
            </a:r>
          </a:p>
        </p:txBody>
      </p:sp>
      <p:sp>
        <p:nvSpPr>
          <p:cNvPr name="Freeform 10" id="10"/>
          <p:cNvSpPr/>
          <p:nvPr/>
        </p:nvSpPr>
        <p:spPr>
          <a:xfrm flipH="false" flipV="false" rot="0">
            <a:off x="9963504" y="4333870"/>
            <a:ext cx="657505" cy="295279"/>
          </a:xfrm>
          <a:custGeom>
            <a:avLst/>
            <a:gdLst/>
            <a:ahLst/>
            <a:cxnLst/>
            <a:rect r="r" b="b" t="t" l="l"/>
            <a:pathLst>
              <a:path h="295279" w="657505">
                <a:moveTo>
                  <a:pt x="0" y="0"/>
                </a:moveTo>
                <a:lnTo>
                  <a:pt x="657504" y="0"/>
                </a:lnTo>
                <a:lnTo>
                  <a:pt x="657504"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9963504" y="5413270"/>
            <a:ext cx="657505" cy="295279"/>
          </a:xfrm>
          <a:custGeom>
            <a:avLst/>
            <a:gdLst/>
            <a:ahLst/>
            <a:cxnLst/>
            <a:rect r="r" b="b" t="t" l="l"/>
            <a:pathLst>
              <a:path h="295279" w="657505">
                <a:moveTo>
                  <a:pt x="0" y="0"/>
                </a:moveTo>
                <a:lnTo>
                  <a:pt x="657504" y="0"/>
                </a:lnTo>
                <a:lnTo>
                  <a:pt x="657504"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9963504" y="6435557"/>
            <a:ext cx="657505" cy="295279"/>
          </a:xfrm>
          <a:custGeom>
            <a:avLst/>
            <a:gdLst/>
            <a:ahLst/>
            <a:cxnLst/>
            <a:rect r="r" b="b" t="t" l="l"/>
            <a:pathLst>
              <a:path h="295279" w="657505">
                <a:moveTo>
                  <a:pt x="0" y="0"/>
                </a:moveTo>
                <a:lnTo>
                  <a:pt x="657504" y="0"/>
                </a:lnTo>
                <a:lnTo>
                  <a:pt x="657504"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047134" y="7296149"/>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037231" y="3197587"/>
            <a:ext cx="7856161" cy="827405"/>
          </a:xfrm>
          <a:prstGeom prst="rect">
            <a:avLst/>
          </a:prstGeom>
        </p:spPr>
        <p:txBody>
          <a:bodyPr anchor="t" rtlCol="false" tIns="0" lIns="0" bIns="0" rIns="0">
            <a:spAutoFit/>
          </a:bodyPr>
          <a:lstStyle/>
          <a:p>
            <a:pPr algn="just">
              <a:lnSpc>
                <a:spcPts val="2170"/>
              </a:lnSpc>
            </a:pPr>
            <a:r>
              <a:rPr lang="en-US" sz="1550">
                <a:solidFill>
                  <a:srgbClr val="F7FBF8"/>
                </a:solidFill>
                <a:latin typeface="Avenir"/>
                <a:ea typeface="Avenir"/>
                <a:cs typeface="Avenir"/>
                <a:sym typeface="Avenir"/>
              </a:rPr>
              <a:t>This project addresses the potential for reusing and recycling components and materials</a:t>
            </a:r>
          </a:p>
          <a:p>
            <a:pPr algn="just">
              <a:lnSpc>
                <a:spcPts val="2170"/>
              </a:lnSpc>
            </a:pPr>
            <a:r>
              <a:rPr lang="en-US" sz="1550">
                <a:solidFill>
                  <a:srgbClr val="F7FBF8"/>
                </a:solidFill>
                <a:latin typeface="Avenir"/>
                <a:ea typeface="Avenir"/>
                <a:cs typeface="Avenir"/>
                <a:sym typeface="Avenir"/>
              </a:rPr>
              <a:t>from the building and aims to:</a:t>
            </a:r>
          </a:p>
          <a:p>
            <a:pPr algn="just">
              <a:lnSpc>
                <a:spcPts val="2170"/>
              </a:lnSpc>
            </a:pPr>
          </a:p>
        </p:txBody>
      </p:sp>
      <p:sp>
        <p:nvSpPr>
          <p:cNvPr name="Freeform 15" id="15"/>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5"/>
            <a:stretch>
              <a:fillRect l="-3403" t="0" r="-284642" b="0"/>
            </a:stretch>
          </a:blipFill>
        </p:spPr>
      </p:sp>
      <p:sp>
        <p:nvSpPr>
          <p:cNvPr name="Freeform 16" id="16"/>
          <p:cNvSpPr/>
          <p:nvPr/>
        </p:nvSpPr>
        <p:spPr>
          <a:xfrm flipH="false" flipV="false" rot="0">
            <a:off x="1028700" y="1317379"/>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6"/>
            <a:stretch>
              <a:fillRect l="-8797" t="-66863" r="-261858" b="-81932"/>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467546" cy="10588331"/>
          </a:xfrm>
          <a:custGeom>
            <a:avLst/>
            <a:gdLst/>
            <a:ahLst/>
            <a:cxnLst/>
            <a:rect r="r" b="b" t="t" l="l"/>
            <a:pathLst>
              <a:path h="10588331" w="18467546">
                <a:moveTo>
                  <a:pt x="0" y="0"/>
                </a:moveTo>
                <a:lnTo>
                  <a:pt x="18467546" y="0"/>
                </a:lnTo>
                <a:lnTo>
                  <a:pt x="18467546" y="10588331"/>
                </a:lnTo>
                <a:lnTo>
                  <a:pt x="0" y="10588331"/>
                </a:lnTo>
                <a:lnTo>
                  <a:pt x="0" y="0"/>
                </a:lnTo>
                <a:close/>
              </a:path>
            </a:pathLst>
          </a:custGeom>
          <a:blipFill>
            <a:blip r:embed="rId2"/>
            <a:stretch>
              <a:fillRect l="-451" t="0" r="-1423" b="0"/>
            </a:stretch>
          </a:blipFill>
        </p:spPr>
      </p:sp>
      <p:sp>
        <p:nvSpPr>
          <p:cNvPr name="Freeform 3" id="3"/>
          <p:cNvSpPr/>
          <p:nvPr/>
        </p:nvSpPr>
        <p:spPr>
          <a:xfrm flipH="false" flipV="false" rot="0">
            <a:off x="0" y="0"/>
            <a:ext cx="9146671" cy="6646166"/>
          </a:xfrm>
          <a:custGeom>
            <a:avLst/>
            <a:gdLst/>
            <a:ahLst/>
            <a:cxnLst/>
            <a:rect r="r" b="b" t="t" l="l"/>
            <a:pathLst>
              <a:path h="6646166" w="9146671">
                <a:moveTo>
                  <a:pt x="0" y="0"/>
                </a:moveTo>
                <a:lnTo>
                  <a:pt x="9146671" y="0"/>
                </a:lnTo>
                <a:lnTo>
                  <a:pt x="9146671" y="6646166"/>
                </a:lnTo>
                <a:lnTo>
                  <a:pt x="0" y="6646166"/>
                </a:lnTo>
                <a:lnTo>
                  <a:pt x="0" y="0"/>
                </a:lnTo>
                <a:close/>
              </a:path>
            </a:pathLst>
          </a:custGeom>
          <a:blipFill>
            <a:blip r:embed="rId3"/>
            <a:stretch>
              <a:fillRect l="-308988" t="0" r="0" b="-181431"/>
            </a:stretch>
          </a:blipFill>
        </p:spPr>
      </p:sp>
      <p:sp>
        <p:nvSpPr>
          <p:cNvPr name="AutoShape 4" id="4"/>
          <p:cNvSpPr/>
          <p:nvPr/>
        </p:nvSpPr>
        <p:spPr>
          <a:xfrm flipH="true">
            <a:off x="2323732" y="2307779"/>
            <a:ext cx="3207738" cy="9525"/>
          </a:xfrm>
          <a:prstGeom prst="line">
            <a:avLst/>
          </a:prstGeom>
          <a:ln cap="flat" w="19050">
            <a:solidFill>
              <a:srgbClr val="A3CF3E"/>
            </a:solidFill>
            <a:prstDash val="solid"/>
            <a:headEnd type="none" len="sm" w="sm"/>
            <a:tailEnd type="none" len="sm" w="sm"/>
          </a:ln>
        </p:spPr>
      </p:sp>
      <p:sp>
        <p:nvSpPr>
          <p:cNvPr name="Freeform 5" id="5"/>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
        <p:nvSpPr>
          <p:cNvPr name="Freeform 6" id="6"/>
          <p:cNvSpPr/>
          <p:nvPr/>
        </p:nvSpPr>
        <p:spPr>
          <a:xfrm flipH="false" flipV="false" rot="0">
            <a:off x="872044" y="836984"/>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5"/>
            <a:stretch>
              <a:fillRect l="-8797" t="-66863" r="-261858" b="-81932"/>
            </a:stretch>
          </a:blipFill>
        </p:spPr>
      </p:sp>
      <p:grpSp>
        <p:nvGrpSpPr>
          <p:cNvPr name="Group 7" id="7"/>
          <p:cNvGrpSpPr/>
          <p:nvPr/>
        </p:nvGrpSpPr>
        <p:grpSpPr>
          <a:xfrm rot="0">
            <a:off x="5418964" y="5993044"/>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7CB7"/>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065"/>
                </a:lnSpc>
              </a:pPr>
            </a:p>
          </p:txBody>
        </p:sp>
      </p:grpSp>
      <p:sp>
        <p:nvSpPr>
          <p:cNvPr name="Freeform 10" id="10"/>
          <p:cNvSpPr/>
          <p:nvPr/>
        </p:nvSpPr>
        <p:spPr>
          <a:xfrm flipH="false" flipV="false" rot="0">
            <a:off x="206907" y="5878650"/>
            <a:ext cx="8825590" cy="4240762"/>
          </a:xfrm>
          <a:custGeom>
            <a:avLst/>
            <a:gdLst/>
            <a:ahLst/>
            <a:cxnLst/>
            <a:rect r="r" b="b" t="t" l="l"/>
            <a:pathLst>
              <a:path h="4240762" w="8825590">
                <a:moveTo>
                  <a:pt x="0" y="0"/>
                </a:moveTo>
                <a:lnTo>
                  <a:pt x="8825590" y="0"/>
                </a:lnTo>
                <a:lnTo>
                  <a:pt x="8825590" y="4240762"/>
                </a:lnTo>
                <a:lnTo>
                  <a:pt x="0" y="4240762"/>
                </a:lnTo>
                <a:lnTo>
                  <a:pt x="0" y="0"/>
                </a:lnTo>
                <a:close/>
              </a:path>
            </a:pathLst>
          </a:custGeom>
          <a:blipFill>
            <a:blip r:embed="rId3"/>
            <a:stretch>
              <a:fillRect l="-10035" t="-22302" r="-10091" b="-2697"/>
            </a:stretch>
          </a:blipFill>
        </p:spPr>
      </p:sp>
      <p:sp>
        <p:nvSpPr>
          <p:cNvPr name="TextBox 11" id="11"/>
          <p:cNvSpPr txBox="true"/>
          <p:nvPr/>
        </p:nvSpPr>
        <p:spPr>
          <a:xfrm rot="0">
            <a:off x="2323703" y="781592"/>
            <a:ext cx="7808307" cy="1327722"/>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Circular Economy </a:t>
            </a:r>
            <a:r>
              <a:rPr lang="en-US" sz="5598" spc="-279">
                <a:solidFill>
                  <a:srgbClr val="A4CE3E"/>
                </a:solidFill>
                <a:latin typeface="DM Sans"/>
                <a:ea typeface="DM Sans"/>
                <a:cs typeface="DM Sans"/>
                <a:sym typeface="DM Sans"/>
              </a:rPr>
              <a:t>Principles</a:t>
            </a:r>
            <a:r>
              <a:rPr lang="en-US" sz="5598" spc="-279">
                <a:solidFill>
                  <a:srgbClr val="A4CE3E"/>
                </a:solidFill>
                <a:latin typeface="DM Sans"/>
                <a:ea typeface="DM Sans"/>
                <a:cs typeface="DM Sans"/>
                <a:sym typeface="DM Sans"/>
              </a:rPr>
              <a:t> </a:t>
            </a:r>
          </a:p>
        </p:txBody>
      </p:sp>
      <p:sp>
        <p:nvSpPr>
          <p:cNvPr name="TextBox 12" id="12"/>
          <p:cNvSpPr txBox="true"/>
          <p:nvPr/>
        </p:nvSpPr>
        <p:spPr>
          <a:xfrm rot="0">
            <a:off x="872044" y="3064554"/>
            <a:ext cx="7300578" cy="2915721"/>
          </a:xfrm>
          <a:prstGeom prst="rect">
            <a:avLst/>
          </a:prstGeom>
        </p:spPr>
        <p:txBody>
          <a:bodyPr anchor="t" rtlCol="false" tIns="0" lIns="0" bIns="0" rIns="0">
            <a:spAutoFit/>
          </a:bodyPr>
          <a:lstStyle/>
          <a:p>
            <a:pPr algn="just">
              <a:lnSpc>
                <a:spcPts val="1964"/>
              </a:lnSpc>
            </a:pPr>
            <a:r>
              <a:rPr lang="en-US" sz="1403">
                <a:solidFill>
                  <a:srgbClr val="F7FBF8"/>
                </a:solidFill>
                <a:latin typeface="Avenir"/>
                <a:ea typeface="Avenir"/>
                <a:cs typeface="Avenir"/>
                <a:sym typeface="Avenir"/>
              </a:rPr>
              <a:t>Current and future trends point toward the need for a fundamental shift in the way</a:t>
            </a:r>
          </a:p>
          <a:p>
            <a:pPr algn="just">
              <a:lnSpc>
                <a:spcPts val="1964"/>
              </a:lnSpc>
            </a:pPr>
            <a:r>
              <a:rPr lang="en-US" sz="1403">
                <a:solidFill>
                  <a:srgbClr val="F7FBF8"/>
                </a:solidFill>
                <a:latin typeface="Avenir"/>
                <a:ea typeface="Avenir"/>
                <a:cs typeface="Avenir"/>
                <a:sym typeface="Avenir"/>
              </a:rPr>
              <a:t>resources are consumed. A shift to a circular economy will provide considerable economic opportunities as a result.</a:t>
            </a:r>
          </a:p>
          <a:p>
            <a:pPr algn="just">
              <a:lnSpc>
                <a:spcPts val="1964"/>
              </a:lnSpc>
            </a:pPr>
          </a:p>
          <a:p>
            <a:pPr algn="just">
              <a:lnSpc>
                <a:spcPts val="1964"/>
              </a:lnSpc>
            </a:pPr>
            <a:r>
              <a:rPr lang="en-US" sz="1403">
                <a:solidFill>
                  <a:srgbClr val="F7FBF8"/>
                </a:solidFill>
                <a:latin typeface="Avenir"/>
                <a:ea typeface="Avenir"/>
                <a:cs typeface="Avenir"/>
                <a:sym typeface="Avenir"/>
              </a:rPr>
              <a:t>In contrast to a linear economy (take, make, dispose), a circular economy keeps products</a:t>
            </a:r>
          </a:p>
          <a:p>
            <a:pPr algn="just">
              <a:lnSpc>
                <a:spcPts val="1964"/>
              </a:lnSpc>
            </a:pPr>
            <a:r>
              <a:rPr lang="en-US" sz="1403">
                <a:solidFill>
                  <a:srgbClr val="F7FBF8"/>
                </a:solidFill>
                <a:latin typeface="Avenir"/>
                <a:ea typeface="Avenir"/>
                <a:cs typeface="Avenir"/>
                <a:sym typeface="Avenir"/>
              </a:rPr>
              <a:t>and materials circulating through the system at their highest value for as long as possible, through re- use, recycling, refurbishment and remanufacturing. As 60% of total UK waste is generated from construction, demolition and excavation (Defra and Government Statistical Service, 2019) this transition from linear to circular is essential.</a:t>
            </a:r>
          </a:p>
          <a:p>
            <a:pPr algn="just">
              <a:lnSpc>
                <a:spcPts val="1964"/>
              </a:lnSpc>
            </a:pPr>
          </a:p>
          <a:p>
            <a:pPr algn="just">
              <a:lnSpc>
                <a:spcPts val="1964"/>
              </a:lnSpc>
            </a:pPr>
            <a:r>
              <a:rPr lang="en-US" sz="1403">
                <a:solidFill>
                  <a:srgbClr val="F7FBF8"/>
                </a:solidFill>
                <a:latin typeface="Avenir"/>
                <a:ea typeface="Avenir"/>
                <a:cs typeface="Avenir"/>
                <a:sym typeface="Avenir"/>
              </a:rPr>
              <a:t>The successful implementation of circular economy principles will help to reduce the volume of waste that London produces and has to manage. </a:t>
            </a:r>
          </a:p>
        </p:txBody>
      </p:sp>
      <p:sp>
        <p:nvSpPr>
          <p:cNvPr name="TextBox 13" id="13"/>
          <p:cNvSpPr txBox="true"/>
          <p:nvPr/>
        </p:nvSpPr>
        <p:spPr>
          <a:xfrm rot="0">
            <a:off x="9323546" y="2613649"/>
            <a:ext cx="8372729" cy="193727"/>
          </a:xfrm>
          <a:prstGeom prst="rect">
            <a:avLst/>
          </a:prstGeom>
        </p:spPr>
        <p:txBody>
          <a:bodyPr anchor="t" rtlCol="false" tIns="0" lIns="0" bIns="0" rIns="0">
            <a:spAutoFit/>
          </a:bodyPr>
          <a:lstStyle/>
          <a:p>
            <a:pPr algn="just" marL="0" indent="0" lvl="1">
              <a:lnSpc>
                <a:spcPts val="1201"/>
              </a:lnSpc>
              <a:spcBef>
                <a:spcPct val="0"/>
              </a:spcBef>
            </a:pPr>
            <a:r>
              <a:rPr lang="en-US" b="true" sz="1334" spc="-66">
                <a:solidFill>
                  <a:srgbClr val="A4CE3E"/>
                </a:solidFill>
                <a:latin typeface="Avenir Bold"/>
                <a:ea typeface="Avenir Bold"/>
                <a:cs typeface="Avenir Bold"/>
                <a:sym typeface="Avenir Bold"/>
              </a:rPr>
              <a:t>Building in layers</a:t>
            </a:r>
          </a:p>
        </p:txBody>
      </p:sp>
      <p:sp>
        <p:nvSpPr>
          <p:cNvPr name="TextBox 14" id="14"/>
          <p:cNvSpPr txBox="true"/>
          <p:nvPr/>
        </p:nvSpPr>
        <p:spPr>
          <a:xfrm rot="0">
            <a:off x="9323546" y="3470448"/>
            <a:ext cx="8372729" cy="193727"/>
          </a:xfrm>
          <a:prstGeom prst="rect">
            <a:avLst/>
          </a:prstGeom>
        </p:spPr>
        <p:txBody>
          <a:bodyPr anchor="t" rtlCol="false" tIns="0" lIns="0" bIns="0" rIns="0">
            <a:spAutoFit/>
          </a:bodyPr>
          <a:lstStyle/>
          <a:p>
            <a:pPr algn="just" marL="0" indent="0" lvl="1">
              <a:lnSpc>
                <a:spcPts val="1201"/>
              </a:lnSpc>
              <a:spcBef>
                <a:spcPct val="0"/>
              </a:spcBef>
            </a:pPr>
            <a:r>
              <a:rPr lang="en-US" b="true" sz="1334" spc="-66">
                <a:solidFill>
                  <a:srgbClr val="A4CE3E"/>
                </a:solidFill>
                <a:latin typeface="Avenir Bold"/>
                <a:ea typeface="Avenir Bold"/>
                <a:cs typeface="Avenir Bold"/>
                <a:sym typeface="Avenir Bold"/>
              </a:rPr>
              <a:t>Designing out waste</a:t>
            </a:r>
          </a:p>
        </p:txBody>
      </p:sp>
      <p:sp>
        <p:nvSpPr>
          <p:cNvPr name="TextBox 15" id="15"/>
          <p:cNvSpPr txBox="true"/>
          <p:nvPr/>
        </p:nvSpPr>
        <p:spPr>
          <a:xfrm rot="0">
            <a:off x="9323546" y="4560794"/>
            <a:ext cx="8372729" cy="193727"/>
          </a:xfrm>
          <a:prstGeom prst="rect">
            <a:avLst/>
          </a:prstGeom>
        </p:spPr>
        <p:txBody>
          <a:bodyPr anchor="t" rtlCol="false" tIns="0" lIns="0" bIns="0" rIns="0">
            <a:spAutoFit/>
          </a:bodyPr>
          <a:lstStyle/>
          <a:p>
            <a:pPr algn="just" marL="0" indent="0" lvl="1">
              <a:lnSpc>
                <a:spcPts val="1201"/>
              </a:lnSpc>
              <a:spcBef>
                <a:spcPct val="0"/>
              </a:spcBef>
            </a:pPr>
            <a:r>
              <a:rPr lang="en-US" b="true" sz="1334" spc="-66">
                <a:solidFill>
                  <a:srgbClr val="A4CE3E"/>
                </a:solidFill>
                <a:latin typeface="Avenir Bold"/>
                <a:ea typeface="Avenir Bold"/>
                <a:cs typeface="Avenir Bold"/>
                <a:sym typeface="Avenir Bold"/>
              </a:rPr>
              <a:t>Designing for longevity</a:t>
            </a:r>
          </a:p>
        </p:txBody>
      </p:sp>
      <p:sp>
        <p:nvSpPr>
          <p:cNvPr name="TextBox 16" id="16"/>
          <p:cNvSpPr txBox="true"/>
          <p:nvPr/>
        </p:nvSpPr>
        <p:spPr>
          <a:xfrm rot="0">
            <a:off x="9323546" y="275975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F7FBF8"/>
                </a:solidFill>
                <a:latin typeface="Avenir"/>
                <a:ea typeface="Avenir"/>
                <a:cs typeface="Avenir"/>
                <a:sym typeface="Avenir"/>
              </a:rPr>
              <a:t>Ensuring that different parts of the building are accessible and can be maintained and replaced where necessary.</a:t>
            </a:r>
          </a:p>
        </p:txBody>
      </p:sp>
      <p:sp>
        <p:nvSpPr>
          <p:cNvPr name="TextBox 17" id="17"/>
          <p:cNvSpPr txBox="true"/>
          <p:nvPr/>
        </p:nvSpPr>
        <p:spPr>
          <a:xfrm rot="0">
            <a:off x="9323546" y="3624752"/>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F7FBF8"/>
                </a:solidFill>
                <a:latin typeface="Avenir"/>
                <a:ea typeface="Avenir"/>
                <a:cs typeface="Avenir"/>
                <a:sym typeface="Avenir"/>
              </a:rPr>
              <a:t>Ensuring that waste reduction is planned in from project inception to completion, including consideration of standardised components, modular build and re-use of secondary products and materials.</a:t>
            </a:r>
          </a:p>
        </p:txBody>
      </p:sp>
      <p:sp>
        <p:nvSpPr>
          <p:cNvPr name="TextBox 18" id="18"/>
          <p:cNvSpPr txBox="true"/>
          <p:nvPr/>
        </p:nvSpPr>
        <p:spPr>
          <a:xfrm rot="0">
            <a:off x="9323546" y="4737817"/>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F7FBF8"/>
                </a:solidFill>
                <a:latin typeface="Avenir"/>
                <a:ea typeface="Avenir"/>
                <a:cs typeface="Avenir"/>
                <a:sym typeface="Avenir"/>
              </a:rPr>
              <a:t>creating a built asset with well-defined long-term needs, while being durable, resilient or able to cope with societal and environmental change. It would require little modification / no replacement of parts, due to its ‘loose fit’, generous proportions and readiness for alternative technologies.</a:t>
            </a:r>
          </a:p>
        </p:txBody>
      </p:sp>
      <p:sp>
        <p:nvSpPr>
          <p:cNvPr name="TextBox 19" id="19"/>
          <p:cNvSpPr txBox="true"/>
          <p:nvPr/>
        </p:nvSpPr>
        <p:spPr>
          <a:xfrm rot="0">
            <a:off x="9323546" y="5888175"/>
            <a:ext cx="8372729" cy="193727"/>
          </a:xfrm>
          <a:prstGeom prst="rect">
            <a:avLst/>
          </a:prstGeom>
        </p:spPr>
        <p:txBody>
          <a:bodyPr anchor="t" rtlCol="false" tIns="0" lIns="0" bIns="0" rIns="0">
            <a:spAutoFit/>
          </a:bodyPr>
          <a:lstStyle/>
          <a:p>
            <a:pPr algn="just" marL="0" indent="0" lvl="1">
              <a:lnSpc>
                <a:spcPts val="1201"/>
              </a:lnSpc>
              <a:spcBef>
                <a:spcPct val="0"/>
              </a:spcBef>
            </a:pPr>
            <a:r>
              <a:rPr lang="en-US" b="true" sz="1334" spc="-66">
                <a:solidFill>
                  <a:srgbClr val="A4CE3E"/>
                </a:solidFill>
                <a:latin typeface="Avenir Bold"/>
                <a:ea typeface="Avenir Bold"/>
                <a:cs typeface="Avenir Bold"/>
                <a:sym typeface="Avenir Bold"/>
              </a:rPr>
              <a:t>Designing for adaptability or flexibility</a:t>
            </a:r>
          </a:p>
        </p:txBody>
      </p:sp>
      <p:sp>
        <p:nvSpPr>
          <p:cNvPr name="TextBox 20" id="20"/>
          <p:cNvSpPr txBox="true"/>
          <p:nvPr/>
        </p:nvSpPr>
        <p:spPr>
          <a:xfrm rot="0">
            <a:off x="9323546" y="7095279"/>
            <a:ext cx="8372729" cy="193727"/>
          </a:xfrm>
          <a:prstGeom prst="rect">
            <a:avLst/>
          </a:prstGeom>
        </p:spPr>
        <p:txBody>
          <a:bodyPr anchor="t" rtlCol="false" tIns="0" lIns="0" bIns="0" rIns="0">
            <a:spAutoFit/>
          </a:bodyPr>
          <a:lstStyle/>
          <a:p>
            <a:pPr algn="just" marL="0" indent="0" lvl="1">
              <a:lnSpc>
                <a:spcPts val="1201"/>
              </a:lnSpc>
              <a:spcBef>
                <a:spcPct val="0"/>
              </a:spcBef>
            </a:pPr>
            <a:r>
              <a:rPr lang="en-US" b="true" sz="1334" spc="-66">
                <a:solidFill>
                  <a:srgbClr val="A4CE3E"/>
                </a:solidFill>
                <a:latin typeface="Avenir Bold"/>
                <a:ea typeface="Avenir Bold"/>
                <a:cs typeface="Avenir Bold"/>
                <a:sym typeface="Avenir Bold"/>
              </a:rPr>
              <a:t>Design for assembly, disassembly and recoverability</a:t>
            </a:r>
          </a:p>
        </p:txBody>
      </p:sp>
      <p:sp>
        <p:nvSpPr>
          <p:cNvPr name="TextBox 21" id="21"/>
          <p:cNvSpPr txBox="true"/>
          <p:nvPr/>
        </p:nvSpPr>
        <p:spPr>
          <a:xfrm rot="0">
            <a:off x="9323546" y="7985869"/>
            <a:ext cx="8372729" cy="193727"/>
          </a:xfrm>
          <a:prstGeom prst="rect">
            <a:avLst/>
          </a:prstGeom>
        </p:spPr>
        <p:txBody>
          <a:bodyPr anchor="t" rtlCol="false" tIns="0" lIns="0" bIns="0" rIns="0">
            <a:spAutoFit/>
          </a:bodyPr>
          <a:lstStyle/>
          <a:p>
            <a:pPr algn="just" marL="0" indent="0" lvl="1">
              <a:lnSpc>
                <a:spcPts val="1201"/>
              </a:lnSpc>
              <a:spcBef>
                <a:spcPct val="0"/>
              </a:spcBef>
            </a:pPr>
            <a:r>
              <a:rPr lang="en-US" b="true" sz="1334" spc="-66">
                <a:solidFill>
                  <a:srgbClr val="A4CE3E"/>
                </a:solidFill>
                <a:latin typeface="Avenir Bold"/>
                <a:ea typeface="Avenir Bold"/>
                <a:cs typeface="Avenir Bold"/>
                <a:sym typeface="Avenir Bold"/>
              </a:rPr>
              <a:t>Selecting materials</a:t>
            </a:r>
          </a:p>
        </p:txBody>
      </p:sp>
      <p:sp>
        <p:nvSpPr>
          <p:cNvPr name="TextBox 22" id="22"/>
          <p:cNvSpPr txBox="true"/>
          <p:nvPr/>
        </p:nvSpPr>
        <p:spPr>
          <a:xfrm rot="0">
            <a:off x="9323546" y="6074814"/>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F7FBF8"/>
                </a:solidFill>
                <a:latin typeface="Avenir"/>
                <a:ea typeface="Avenir"/>
                <a:cs typeface="Avenir"/>
                <a:sym typeface="Avenir"/>
              </a:rPr>
              <a:t>To meet the needs of the present but with consideration of how those needs might change in the future, and to enable change in the form of periodic remodelling and reconfiguration, including alterations or replacement of non-structural parts.</a:t>
            </a:r>
          </a:p>
        </p:txBody>
      </p:sp>
      <p:sp>
        <p:nvSpPr>
          <p:cNvPr name="TextBox 23" id="23"/>
          <p:cNvSpPr txBox="true"/>
          <p:nvPr/>
        </p:nvSpPr>
        <p:spPr>
          <a:xfrm rot="0">
            <a:off x="9323546" y="7308055"/>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F7FBF8"/>
                </a:solidFill>
                <a:latin typeface="Avenir"/>
                <a:ea typeface="Avenir"/>
                <a:cs typeface="Avenir"/>
                <a:sym typeface="Avenir"/>
              </a:rPr>
              <a:t>Future proofing the asset by designing products and services to be assembled, deconstructed and reused or recycled on a part-by-part basis.</a:t>
            </a:r>
          </a:p>
        </p:txBody>
      </p:sp>
      <p:sp>
        <p:nvSpPr>
          <p:cNvPr name="TextBox 24" id="24"/>
          <p:cNvSpPr txBox="true"/>
          <p:nvPr/>
        </p:nvSpPr>
        <p:spPr>
          <a:xfrm rot="0">
            <a:off x="9323546" y="8169801"/>
            <a:ext cx="7662473" cy="932336"/>
          </a:xfrm>
          <a:prstGeom prst="rect">
            <a:avLst/>
          </a:prstGeom>
        </p:spPr>
        <p:txBody>
          <a:bodyPr anchor="t" rtlCol="false" tIns="0" lIns="0" bIns="0" rIns="0">
            <a:spAutoFit/>
          </a:bodyPr>
          <a:lstStyle/>
          <a:p>
            <a:pPr algn="just">
              <a:lnSpc>
                <a:spcPts val="1868"/>
              </a:lnSpc>
              <a:spcBef>
                <a:spcPct val="0"/>
              </a:spcBef>
            </a:pPr>
            <a:r>
              <a:rPr lang="en-US" sz="1334">
                <a:solidFill>
                  <a:srgbClr val="F7FBF8"/>
                </a:solidFill>
                <a:latin typeface="Avenir"/>
                <a:ea typeface="Avenir"/>
                <a:cs typeface="Avenir"/>
                <a:sym typeface="Avenir"/>
              </a:rPr>
              <a:t>Any new material specified in the development should aim to be low impact materials with little or no adverse effect on either the environment or on human health throughout its lifecycle. Recognise and encourage the use of recycled content and secondary aggregates, thereby reducing the demand for virgin material and optimising material efficiency in construction.</a:t>
            </a:r>
          </a:p>
        </p:txBody>
      </p:sp>
      <p:sp>
        <p:nvSpPr>
          <p:cNvPr name="TextBox 25" id="25"/>
          <p:cNvSpPr txBox="true"/>
          <p:nvPr/>
        </p:nvSpPr>
        <p:spPr>
          <a:xfrm rot="0">
            <a:off x="9323546" y="1855786"/>
            <a:ext cx="7662473" cy="471043"/>
          </a:xfrm>
          <a:prstGeom prst="rect">
            <a:avLst/>
          </a:prstGeom>
        </p:spPr>
        <p:txBody>
          <a:bodyPr anchor="t" rtlCol="false" tIns="0" lIns="0" bIns="0" rIns="0">
            <a:spAutoFit/>
          </a:bodyPr>
          <a:lstStyle/>
          <a:p>
            <a:pPr algn="just">
              <a:lnSpc>
                <a:spcPts val="1861"/>
              </a:lnSpc>
              <a:spcBef>
                <a:spcPct val="0"/>
              </a:spcBef>
            </a:pPr>
            <a:r>
              <a:rPr lang="en-US" sz="1329">
                <a:solidFill>
                  <a:srgbClr val="F7FBF8"/>
                </a:solidFill>
                <a:latin typeface="Avenir"/>
                <a:ea typeface="Avenir"/>
                <a:cs typeface="Avenir"/>
                <a:sym typeface="Avenir"/>
              </a:rPr>
              <a:t>A key way of achieving this will be through incorporating circular economy principles into the design of developments, these principals are as follows: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564371"/>
          </a:xfrm>
          <a:custGeom>
            <a:avLst/>
            <a:gdLst/>
            <a:ahLst/>
            <a:cxnLst/>
            <a:rect r="r" b="b" t="t" l="l"/>
            <a:pathLst>
              <a:path h="10564371" w="18278283">
                <a:moveTo>
                  <a:pt x="0" y="0"/>
                </a:moveTo>
                <a:lnTo>
                  <a:pt x="18278283" y="0"/>
                </a:lnTo>
                <a:lnTo>
                  <a:pt x="18278283" y="10564371"/>
                </a:lnTo>
                <a:lnTo>
                  <a:pt x="0" y="10564371"/>
                </a:lnTo>
                <a:lnTo>
                  <a:pt x="0" y="0"/>
                </a:lnTo>
                <a:close/>
              </a:path>
            </a:pathLst>
          </a:custGeom>
          <a:blipFill>
            <a:blip r:embed="rId2"/>
            <a:stretch>
              <a:fillRect l="-1348" t="0" r="-1348" b="0"/>
            </a:stretch>
          </a:blipFill>
        </p:spPr>
      </p:sp>
      <p:sp>
        <p:nvSpPr>
          <p:cNvPr name="Freeform 3" id="3"/>
          <p:cNvSpPr/>
          <p:nvPr/>
        </p:nvSpPr>
        <p:spPr>
          <a:xfrm flipH="false" flipV="false" rot="0">
            <a:off x="10319731" y="3303372"/>
            <a:ext cx="6430240" cy="6430240"/>
          </a:xfrm>
          <a:custGeom>
            <a:avLst/>
            <a:gdLst/>
            <a:ahLst/>
            <a:cxnLst/>
            <a:rect r="r" b="b" t="t" l="l"/>
            <a:pathLst>
              <a:path h="6430240" w="6430240">
                <a:moveTo>
                  <a:pt x="0" y="0"/>
                </a:moveTo>
                <a:lnTo>
                  <a:pt x="6430240" y="0"/>
                </a:lnTo>
                <a:lnTo>
                  <a:pt x="6430240" y="6430240"/>
                </a:lnTo>
                <a:lnTo>
                  <a:pt x="0" y="6430240"/>
                </a:lnTo>
                <a:lnTo>
                  <a:pt x="0" y="0"/>
                </a:lnTo>
                <a:close/>
              </a:path>
            </a:pathLst>
          </a:custGeom>
          <a:blipFill>
            <a:blip r:embed="rId3"/>
            <a:stretch>
              <a:fillRect l="0" t="0" r="0" b="0"/>
            </a:stretch>
          </a:blipFill>
        </p:spPr>
      </p:sp>
      <p:sp>
        <p:nvSpPr>
          <p:cNvPr name="TextBox 4" id="4"/>
          <p:cNvSpPr txBox="true"/>
          <p:nvPr/>
        </p:nvSpPr>
        <p:spPr>
          <a:xfrm rot="0">
            <a:off x="11703956" y="2581775"/>
            <a:ext cx="3661790" cy="232056"/>
          </a:xfrm>
          <a:prstGeom prst="rect">
            <a:avLst/>
          </a:prstGeom>
        </p:spPr>
        <p:txBody>
          <a:bodyPr anchor="t" rtlCol="false" tIns="0" lIns="0" bIns="0" rIns="0">
            <a:spAutoFit/>
          </a:bodyPr>
          <a:lstStyle/>
          <a:p>
            <a:pPr algn="ctr">
              <a:lnSpc>
                <a:spcPts val="1730"/>
              </a:lnSpc>
            </a:pPr>
            <a:r>
              <a:rPr lang="en-US" sz="1235">
                <a:solidFill>
                  <a:srgbClr val="F7FBF8"/>
                </a:solidFill>
                <a:latin typeface="Avenir"/>
                <a:ea typeface="Avenir"/>
                <a:cs typeface="Avenir"/>
                <a:sym typeface="Avenir"/>
              </a:rPr>
              <a:t>Figure 4: Circular Economy Principles (Source:RICS)</a:t>
            </a:r>
            <a:r>
              <a:rPr lang="en-US" sz="1235">
                <a:solidFill>
                  <a:srgbClr val="F7FBF8"/>
                </a:solidFill>
                <a:latin typeface="Avenir"/>
                <a:ea typeface="Avenir"/>
                <a:cs typeface="Avenir"/>
                <a:sym typeface="Avenir"/>
              </a:rPr>
              <a:t> </a:t>
            </a:r>
          </a:p>
        </p:txBody>
      </p:sp>
      <p:sp>
        <p:nvSpPr>
          <p:cNvPr name="TextBox 5" id="5"/>
          <p:cNvSpPr txBox="true"/>
          <p:nvPr/>
        </p:nvSpPr>
        <p:spPr>
          <a:xfrm rot="0">
            <a:off x="1180878" y="2654941"/>
            <a:ext cx="7000794" cy="4561205"/>
          </a:xfrm>
          <a:prstGeom prst="rect">
            <a:avLst/>
          </a:prstGeom>
        </p:spPr>
        <p:txBody>
          <a:bodyPr anchor="t" rtlCol="false" tIns="0" lIns="0" bIns="0" rIns="0">
            <a:spAutoFit/>
          </a:bodyPr>
          <a:lstStyle/>
          <a:p>
            <a:pPr algn="just">
              <a:lnSpc>
                <a:spcPts val="2170"/>
              </a:lnSpc>
            </a:pPr>
            <a:r>
              <a:rPr lang="en-US" sz="1550">
                <a:solidFill>
                  <a:srgbClr val="F7FBF8"/>
                </a:solidFill>
                <a:latin typeface="Avenir"/>
                <a:ea typeface="Avenir"/>
                <a:cs typeface="Avenir"/>
                <a:sym typeface="Avenir"/>
              </a:rPr>
              <a:t>Building circularity into projects is complex. There are many different approaches a project can identify and adopt solutions, with input from all design team members, including project managers and cost consultants.</a:t>
            </a:r>
          </a:p>
          <a:p>
            <a:pPr algn="just">
              <a:lnSpc>
                <a:spcPts val="2170"/>
              </a:lnSpc>
            </a:pPr>
          </a:p>
          <a:p>
            <a:pPr algn="just">
              <a:lnSpc>
                <a:spcPts val="2170"/>
              </a:lnSpc>
            </a:pPr>
            <a:r>
              <a:rPr lang="en-US" sz="1550">
                <a:solidFill>
                  <a:srgbClr val="F7FBF8"/>
                </a:solidFill>
                <a:latin typeface="Avenir"/>
                <a:ea typeface="Avenir"/>
                <a:cs typeface="Avenir"/>
                <a:sym typeface="Avenir"/>
              </a:rPr>
              <a:t>Figure 4 defines a hierarchy for building approaches which maximises use of existing materials, with the ideal being to retain existing buildings.</a:t>
            </a:r>
          </a:p>
          <a:p>
            <a:pPr algn="just">
              <a:lnSpc>
                <a:spcPts val="2170"/>
              </a:lnSpc>
            </a:pPr>
          </a:p>
          <a:p>
            <a:pPr algn="just">
              <a:lnSpc>
                <a:spcPts val="2170"/>
              </a:lnSpc>
            </a:pPr>
            <a:r>
              <a:rPr lang="en-US" sz="1550">
                <a:solidFill>
                  <a:srgbClr val="F7FBF8"/>
                </a:solidFill>
                <a:latin typeface="Avenir"/>
                <a:ea typeface="Avenir"/>
                <a:cs typeface="Avenir"/>
                <a:sym typeface="Avenir"/>
              </a:rPr>
              <a:t>A noted previously, the Mayor’s updated London Plan will require all new referable developments to submit a Circular Economy Statement. This policy focuses on waste reduction, increases in material re-use and recycling and aim to be net zero-waste.</a:t>
            </a:r>
          </a:p>
          <a:p>
            <a:pPr algn="just">
              <a:lnSpc>
                <a:spcPts val="2170"/>
              </a:lnSpc>
            </a:pPr>
          </a:p>
          <a:p>
            <a:pPr algn="just">
              <a:lnSpc>
                <a:spcPts val="2170"/>
              </a:lnSpc>
            </a:pPr>
            <a:r>
              <a:rPr lang="en-US" sz="1550">
                <a:solidFill>
                  <a:srgbClr val="F7FBF8"/>
                </a:solidFill>
                <a:latin typeface="Avenir"/>
                <a:ea typeface="Avenir"/>
                <a:cs typeface="Avenir"/>
                <a:sym typeface="Avenir"/>
              </a:rPr>
              <a:t>For circular principles to be successful, it requires a whole building approach. Figure 5 suggests methods to incorporate circular economy principles into a development process using the RIBA stages as an indicator of when the action should be undertaken.</a:t>
            </a:r>
          </a:p>
          <a:p>
            <a:pPr algn="just">
              <a:lnSpc>
                <a:spcPts val="2170"/>
              </a:lnSpc>
            </a:pPr>
          </a:p>
        </p:txBody>
      </p:sp>
      <p:sp>
        <p:nvSpPr>
          <p:cNvPr name="TextBox 6" id="6"/>
          <p:cNvSpPr txBox="true"/>
          <p:nvPr/>
        </p:nvSpPr>
        <p:spPr>
          <a:xfrm rot="0">
            <a:off x="2605812" y="919450"/>
            <a:ext cx="11917514" cy="689547"/>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Implementing Circular </a:t>
            </a:r>
            <a:r>
              <a:rPr lang="en-US" sz="5598" spc="-279">
                <a:solidFill>
                  <a:srgbClr val="A4CE3E"/>
                </a:solidFill>
                <a:latin typeface="DM Sans"/>
                <a:ea typeface="DM Sans"/>
                <a:cs typeface="DM Sans"/>
                <a:sym typeface="DM Sans"/>
              </a:rPr>
              <a:t>Economy</a:t>
            </a:r>
            <a:r>
              <a:rPr lang="en-US" sz="5598" spc="-279">
                <a:solidFill>
                  <a:srgbClr val="A4CE3E"/>
                </a:solidFill>
                <a:latin typeface="DM Sans"/>
                <a:ea typeface="DM Sans"/>
                <a:cs typeface="DM Sans"/>
                <a:sym typeface="DM Sans"/>
              </a:rPr>
              <a:t> </a:t>
            </a:r>
          </a:p>
        </p:txBody>
      </p:sp>
      <p:sp>
        <p:nvSpPr>
          <p:cNvPr name="AutoShape 7" id="7"/>
          <p:cNvSpPr/>
          <p:nvPr/>
        </p:nvSpPr>
        <p:spPr>
          <a:xfrm flipH="true">
            <a:off x="2605812" y="1887326"/>
            <a:ext cx="8267098" cy="0"/>
          </a:xfrm>
          <a:prstGeom prst="line">
            <a:avLst/>
          </a:prstGeom>
          <a:ln cap="flat" w="19050">
            <a:solidFill>
              <a:srgbClr val="A3CF3E"/>
            </a:solidFill>
            <a:prstDash val="solid"/>
            <a:headEnd type="none" len="sm" w="sm"/>
            <a:tailEnd type="none" len="sm" w="sm"/>
          </a:ln>
        </p:spPr>
      </p:sp>
      <p:sp>
        <p:nvSpPr>
          <p:cNvPr name="Freeform 8" id="8"/>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
        <p:nvSpPr>
          <p:cNvPr name="Freeform 9" id="9"/>
          <p:cNvSpPr/>
          <p:nvPr/>
        </p:nvSpPr>
        <p:spPr>
          <a:xfrm flipH="false" flipV="false" rot="0">
            <a:off x="1180878" y="655755"/>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5"/>
            <a:stretch>
              <a:fillRect l="-8797" t="-66863" r="-261858" b="-81932"/>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656828"/>
          </a:xfrm>
          <a:custGeom>
            <a:avLst/>
            <a:gdLst/>
            <a:ahLst/>
            <a:cxnLst/>
            <a:rect r="r" b="b" t="t" l="l"/>
            <a:pathLst>
              <a:path h="10656828" w="18278283">
                <a:moveTo>
                  <a:pt x="0" y="0"/>
                </a:moveTo>
                <a:lnTo>
                  <a:pt x="18278283" y="0"/>
                </a:lnTo>
                <a:lnTo>
                  <a:pt x="18278283" y="10656828"/>
                </a:lnTo>
                <a:lnTo>
                  <a:pt x="0" y="10656828"/>
                </a:lnTo>
                <a:lnTo>
                  <a:pt x="0" y="0"/>
                </a:lnTo>
                <a:close/>
              </a:path>
            </a:pathLst>
          </a:custGeom>
          <a:blipFill>
            <a:blip r:embed="rId2"/>
            <a:stretch>
              <a:fillRect l="-1797" t="0" r="-1797" b="0"/>
            </a:stretch>
          </a:blipFill>
        </p:spPr>
      </p:sp>
      <p:sp>
        <p:nvSpPr>
          <p:cNvPr name="Freeform 3" id="3"/>
          <p:cNvSpPr/>
          <p:nvPr/>
        </p:nvSpPr>
        <p:spPr>
          <a:xfrm flipH="false" flipV="false" rot="0">
            <a:off x="2743095" y="2109760"/>
            <a:ext cx="7808307" cy="7148540"/>
          </a:xfrm>
          <a:custGeom>
            <a:avLst/>
            <a:gdLst/>
            <a:ahLst/>
            <a:cxnLst/>
            <a:rect r="r" b="b" t="t" l="l"/>
            <a:pathLst>
              <a:path h="7148540" w="7808307">
                <a:moveTo>
                  <a:pt x="0" y="0"/>
                </a:moveTo>
                <a:lnTo>
                  <a:pt x="7808307" y="0"/>
                </a:lnTo>
                <a:lnTo>
                  <a:pt x="7808307" y="7148540"/>
                </a:lnTo>
                <a:lnTo>
                  <a:pt x="0" y="7148540"/>
                </a:lnTo>
                <a:lnTo>
                  <a:pt x="0" y="0"/>
                </a:lnTo>
                <a:close/>
              </a:path>
            </a:pathLst>
          </a:custGeom>
          <a:blipFill>
            <a:blip r:embed="rId3"/>
            <a:stretch>
              <a:fillRect l="-67821" t="-45246" r="-151206" b="-50874"/>
            </a:stretch>
          </a:blipFill>
        </p:spPr>
      </p:sp>
      <p:sp>
        <p:nvSpPr>
          <p:cNvPr name="AutoShape 4" id="4"/>
          <p:cNvSpPr/>
          <p:nvPr/>
        </p:nvSpPr>
        <p:spPr>
          <a:xfrm flipH="true">
            <a:off x="2743095" y="1975989"/>
            <a:ext cx="3496364" cy="0"/>
          </a:xfrm>
          <a:prstGeom prst="line">
            <a:avLst/>
          </a:prstGeom>
          <a:ln cap="flat" w="19050">
            <a:solidFill>
              <a:srgbClr val="A3CF3E"/>
            </a:solidFill>
            <a:prstDash val="solid"/>
            <a:headEnd type="none" len="sm" w="sm"/>
            <a:tailEnd type="none" len="sm" w="sm"/>
          </a:ln>
        </p:spPr>
      </p:sp>
      <p:grpSp>
        <p:nvGrpSpPr>
          <p:cNvPr name="Group 5" id="5"/>
          <p:cNvGrpSpPr/>
          <p:nvPr/>
        </p:nvGrpSpPr>
        <p:grpSpPr>
          <a:xfrm rot="0">
            <a:off x="975780" y="3693369"/>
            <a:ext cx="2102905" cy="597388"/>
            <a:chOff x="0" y="0"/>
            <a:chExt cx="553852" cy="157337"/>
          </a:xfrm>
        </p:grpSpPr>
        <p:sp>
          <p:nvSpPr>
            <p:cNvPr name="Freeform 6" id="6"/>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7" id="7"/>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8" id="8"/>
          <p:cNvGrpSpPr/>
          <p:nvPr/>
        </p:nvGrpSpPr>
        <p:grpSpPr>
          <a:xfrm rot="0">
            <a:off x="975780" y="4630299"/>
            <a:ext cx="2102905" cy="597388"/>
            <a:chOff x="0" y="0"/>
            <a:chExt cx="553852" cy="157337"/>
          </a:xfrm>
        </p:grpSpPr>
        <p:sp>
          <p:nvSpPr>
            <p:cNvPr name="Freeform 9" id="9"/>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0" id="10"/>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1" id="11"/>
          <p:cNvGrpSpPr/>
          <p:nvPr/>
        </p:nvGrpSpPr>
        <p:grpSpPr>
          <a:xfrm rot="0">
            <a:off x="975780" y="5547073"/>
            <a:ext cx="2102905" cy="597388"/>
            <a:chOff x="0" y="0"/>
            <a:chExt cx="553852" cy="157337"/>
          </a:xfrm>
        </p:grpSpPr>
        <p:sp>
          <p:nvSpPr>
            <p:cNvPr name="Freeform 12" id="12"/>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3" id="13"/>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4" id="14"/>
          <p:cNvGrpSpPr/>
          <p:nvPr/>
        </p:nvGrpSpPr>
        <p:grpSpPr>
          <a:xfrm rot="0">
            <a:off x="975780" y="6505141"/>
            <a:ext cx="2102905" cy="597388"/>
            <a:chOff x="0" y="0"/>
            <a:chExt cx="553852" cy="157337"/>
          </a:xfrm>
        </p:grpSpPr>
        <p:sp>
          <p:nvSpPr>
            <p:cNvPr name="Freeform 15" id="15"/>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6" id="16"/>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7" id="17"/>
          <p:cNvGrpSpPr/>
          <p:nvPr/>
        </p:nvGrpSpPr>
        <p:grpSpPr>
          <a:xfrm rot="0">
            <a:off x="975780" y="7463209"/>
            <a:ext cx="2102905" cy="597388"/>
            <a:chOff x="0" y="0"/>
            <a:chExt cx="553852" cy="157337"/>
          </a:xfrm>
        </p:grpSpPr>
        <p:sp>
          <p:nvSpPr>
            <p:cNvPr name="Freeform 18" id="18"/>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9" id="19"/>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0" id="20"/>
          <p:cNvGrpSpPr/>
          <p:nvPr/>
        </p:nvGrpSpPr>
        <p:grpSpPr>
          <a:xfrm rot="0">
            <a:off x="975780" y="8348658"/>
            <a:ext cx="2102905" cy="597388"/>
            <a:chOff x="0" y="0"/>
            <a:chExt cx="553852" cy="157337"/>
          </a:xfrm>
        </p:grpSpPr>
        <p:sp>
          <p:nvSpPr>
            <p:cNvPr name="Freeform 21" id="21"/>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2" id="22"/>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sp>
        <p:nvSpPr>
          <p:cNvPr name="Freeform 23" id="23"/>
          <p:cNvSpPr/>
          <p:nvPr/>
        </p:nvSpPr>
        <p:spPr>
          <a:xfrm flipH="false" flipV="false" rot="0">
            <a:off x="10551402" y="-1210246"/>
            <a:ext cx="7998766" cy="10640203"/>
          </a:xfrm>
          <a:custGeom>
            <a:avLst/>
            <a:gdLst/>
            <a:ahLst/>
            <a:cxnLst/>
            <a:rect r="r" b="b" t="t" l="l"/>
            <a:pathLst>
              <a:path h="10640203" w="7998766">
                <a:moveTo>
                  <a:pt x="0" y="0"/>
                </a:moveTo>
                <a:lnTo>
                  <a:pt x="7998766" y="0"/>
                </a:lnTo>
                <a:lnTo>
                  <a:pt x="7998766" y="10640203"/>
                </a:lnTo>
                <a:lnTo>
                  <a:pt x="0" y="10640203"/>
                </a:lnTo>
                <a:lnTo>
                  <a:pt x="0" y="0"/>
                </a:lnTo>
                <a:close/>
              </a:path>
            </a:pathLst>
          </a:custGeom>
          <a:blipFill>
            <a:blip r:embed="rId3"/>
            <a:stretch>
              <a:fillRect l="-209498" t="-10479" r="-50288" b="-41740"/>
            </a:stretch>
          </a:blipFill>
        </p:spPr>
      </p:sp>
      <p:sp>
        <p:nvSpPr>
          <p:cNvPr name="Freeform 24" id="24"/>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
        <p:nvSpPr>
          <p:cNvPr name="Freeform 25" id="25"/>
          <p:cNvSpPr/>
          <p:nvPr/>
        </p:nvSpPr>
        <p:spPr>
          <a:xfrm flipH="false" flipV="false" rot="0">
            <a:off x="1375745" y="787626"/>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5"/>
            <a:stretch>
              <a:fillRect l="-8797" t="-66863" r="-261858" b="-81932"/>
            </a:stretch>
          </a:blipFill>
        </p:spPr>
      </p:sp>
      <p:sp>
        <p:nvSpPr>
          <p:cNvPr name="TextBox 26" id="26"/>
          <p:cNvSpPr txBox="true"/>
          <p:nvPr/>
        </p:nvSpPr>
        <p:spPr>
          <a:xfrm rot="0">
            <a:off x="2743095" y="1042644"/>
            <a:ext cx="7808307" cy="689547"/>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RIBA </a:t>
            </a:r>
            <a:r>
              <a:rPr lang="en-US" sz="5598" spc="-279">
                <a:solidFill>
                  <a:srgbClr val="A4CE3E"/>
                </a:solidFill>
                <a:latin typeface="DM Sans"/>
                <a:ea typeface="DM Sans"/>
                <a:cs typeface="DM Sans"/>
                <a:sym typeface="DM Sans"/>
              </a:rPr>
              <a:t>Stages</a:t>
            </a:r>
          </a:p>
        </p:txBody>
      </p:sp>
      <p:sp>
        <p:nvSpPr>
          <p:cNvPr name="TextBox 27" id="27"/>
          <p:cNvSpPr txBox="true"/>
          <p:nvPr/>
        </p:nvSpPr>
        <p:spPr>
          <a:xfrm rot="0">
            <a:off x="1167435" y="2404614"/>
            <a:ext cx="11876116" cy="827405"/>
          </a:xfrm>
          <a:prstGeom prst="rect">
            <a:avLst/>
          </a:prstGeom>
        </p:spPr>
        <p:txBody>
          <a:bodyPr anchor="t" rtlCol="false" tIns="0" lIns="0" bIns="0" rIns="0">
            <a:spAutoFit/>
          </a:bodyPr>
          <a:lstStyle/>
          <a:p>
            <a:pPr algn="just">
              <a:lnSpc>
                <a:spcPts val="2170"/>
              </a:lnSpc>
            </a:pPr>
            <a:r>
              <a:rPr lang="en-US" sz="1550">
                <a:solidFill>
                  <a:srgbClr val="F7FBF8"/>
                </a:solidFill>
                <a:latin typeface="Avenir"/>
                <a:ea typeface="Avenir"/>
                <a:cs typeface="Avenir"/>
                <a:sym typeface="Avenir"/>
              </a:rPr>
              <a:t>These principles need to be proactively considered throughout specification, design, procurement, construction and operation. This includes collaborating with supply chains to explore and develop solutions which implement these principles and realise the benefits.</a:t>
            </a:r>
          </a:p>
          <a:p>
            <a:pPr algn="just">
              <a:lnSpc>
                <a:spcPts val="2170"/>
              </a:lnSpc>
            </a:pPr>
          </a:p>
        </p:txBody>
      </p:sp>
      <p:sp>
        <p:nvSpPr>
          <p:cNvPr name="TextBox 28" id="28"/>
          <p:cNvSpPr txBox="true"/>
          <p:nvPr/>
        </p:nvSpPr>
        <p:spPr>
          <a:xfrm rot="0">
            <a:off x="4306855" y="3584444"/>
            <a:ext cx="5597277" cy="644055"/>
          </a:xfrm>
          <a:prstGeom prst="rect">
            <a:avLst/>
          </a:prstGeom>
        </p:spPr>
        <p:txBody>
          <a:bodyPr anchor="t" rtlCol="false" tIns="0" lIns="0" bIns="0" rIns="0">
            <a:spAutoFit/>
          </a:bodyPr>
          <a:lstStyle/>
          <a:p>
            <a:pPr algn="l" marL="258787" indent="-129394" lvl="1">
              <a:lnSpc>
                <a:spcPts val="1678"/>
              </a:lnSpc>
              <a:spcBef>
                <a:spcPct val="0"/>
              </a:spcBef>
              <a:buFont typeface="Arial"/>
              <a:buChar char="•"/>
            </a:pPr>
            <a:r>
              <a:rPr lang="en-US" sz="1198">
                <a:solidFill>
                  <a:srgbClr val="F7FBF8"/>
                </a:solidFill>
                <a:latin typeface="Avenir"/>
                <a:ea typeface="Avenir"/>
                <a:cs typeface="Avenir"/>
                <a:sym typeface="Avenir"/>
              </a:rPr>
              <a:t>Set broad objective for Circular Economy aspirations </a:t>
            </a:r>
          </a:p>
          <a:p>
            <a:pPr algn="l" marL="258787" indent="-129394" lvl="1">
              <a:lnSpc>
                <a:spcPts val="1678"/>
              </a:lnSpc>
              <a:spcBef>
                <a:spcPct val="0"/>
              </a:spcBef>
              <a:buFont typeface="Arial"/>
              <a:buChar char="•"/>
            </a:pPr>
            <a:r>
              <a:rPr lang="en-US" sz="1198">
                <a:solidFill>
                  <a:srgbClr val="F7FBF8"/>
                </a:solidFill>
                <a:latin typeface="Avenir"/>
                <a:ea typeface="Avenir"/>
                <a:cs typeface="Avenir"/>
                <a:sym typeface="Avenir"/>
              </a:rPr>
              <a:t>Assess current site - undertake pre-demolition/ Pre-demolition audit (demolition contract)</a:t>
            </a:r>
          </a:p>
        </p:txBody>
      </p:sp>
      <p:sp>
        <p:nvSpPr>
          <p:cNvPr name="TextBox 29" id="29"/>
          <p:cNvSpPr txBox="true"/>
          <p:nvPr/>
        </p:nvSpPr>
        <p:spPr>
          <a:xfrm rot="0">
            <a:off x="4306855" y="4656743"/>
            <a:ext cx="5791642" cy="436245"/>
          </a:xfrm>
          <a:prstGeom prst="rect">
            <a:avLst/>
          </a:prstGeom>
        </p:spPr>
        <p:txBody>
          <a:bodyPr anchor="t" rtlCol="false" tIns="0" lIns="0" bIns="0" rIns="0">
            <a:spAutoFit/>
          </a:bodyPr>
          <a:lstStyle/>
          <a:p>
            <a:pPr algn="l" marL="259080" indent="-129540" lvl="1">
              <a:lnSpc>
                <a:spcPts val="1679"/>
              </a:lnSpc>
              <a:spcBef>
                <a:spcPct val="0"/>
              </a:spcBef>
              <a:buFont typeface="Arial"/>
              <a:buChar char="•"/>
            </a:pPr>
            <a:r>
              <a:rPr lang="en-US" sz="1200">
                <a:solidFill>
                  <a:srgbClr val="FFFFFF"/>
                </a:solidFill>
                <a:latin typeface="Avenir"/>
                <a:ea typeface="Avenir"/>
                <a:cs typeface="Avenir"/>
                <a:sym typeface="Avenir"/>
              </a:rPr>
              <a:t>Develop objectives with specific metrics (design team and facility management) </a:t>
            </a:r>
          </a:p>
          <a:p>
            <a:pPr algn="l" marL="259080" indent="-129540" lvl="1">
              <a:lnSpc>
                <a:spcPts val="1679"/>
              </a:lnSpc>
              <a:spcBef>
                <a:spcPct val="0"/>
              </a:spcBef>
              <a:buFont typeface="Arial"/>
              <a:buChar char="•"/>
            </a:pPr>
            <a:r>
              <a:rPr lang="en-US" sz="1200">
                <a:solidFill>
                  <a:srgbClr val="FFFFFF"/>
                </a:solidFill>
                <a:latin typeface="Avenir"/>
                <a:ea typeface="Avenir"/>
                <a:cs typeface="Avenir"/>
                <a:sym typeface="Avenir"/>
              </a:rPr>
              <a:t>Identify further information required (e.g. carbon/ cost consultant, case studies)</a:t>
            </a:r>
          </a:p>
        </p:txBody>
      </p:sp>
      <p:sp>
        <p:nvSpPr>
          <p:cNvPr name="TextBox 30" id="30"/>
          <p:cNvSpPr txBox="true"/>
          <p:nvPr/>
        </p:nvSpPr>
        <p:spPr>
          <a:xfrm rot="0">
            <a:off x="4306855" y="5521232"/>
            <a:ext cx="5959563" cy="645795"/>
          </a:xfrm>
          <a:prstGeom prst="rect">
            <a:avLst/>
          </a:prstGeom>
        </p:spPr>
        <p:txBody>
          <a:bodyPr anchor="t" rtlCol="false" tIns="0" lIns="0" bIns="0" rIns="0">
            <a:spAutoFit/>
          </a:bodyPr>
          <a:lstStyle/>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Hold workshop to investigate CE alternative approach (contractor, suppliers, design team, facility managers)</a:t>
            </a:r>
          </a:p>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Agree opportunities, commitments and metrics/ targets (contractor, design team)</a:t>
            </a:r>
          </a:p>
        </p:txBody>
      </p:sp>
      <p:sp>
        <p:nvSpPr>
          <p:cNvPr name="TextBox 31" id="31"/>
          <p:cNvSpPr txBox="true"/>
          <p:nvPr/>
        </p:nvSpPr>
        <p:spPr>
          <a:xfrm rot="0">
            <a:off x="4306855" y="6595652"/>
            <a:ext cx="6511919" cy="436245"/>
          </a:xfrm>
          <a:prstGeom prst="rect">
            <a:avLst/>
          </a:prstGeom>
        </p:spPr>
        <p:txBody>
          <a:bodyPr anchor="t" rtlCol="false" tIns="0" lIns="0" bIns="0" rIns="0">
            <a:spAutoFit/>
          </a:bodyPr>
          <a:lstStyle/>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Include metrics as clauses within procurement packages </a:t>
            </a:r>
          </a:p>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Monitor design against metrics, continue to engage with suppliers </a:t>
            </a:r>
          </a:p>
        </p:txBody>
      </p:sp>
      <p:sp>
        <p:nvSpPr>
          <p:cNvPr name="TextBox 32" id="32"/>
          <p:cNvSpPr txBox="true"/>
          <p:nvPr/>
        </p:nvSpPr>
        <p:spPr>
          <a:xfrm rot="0">
            <a:off x="4311104" y="7460522"/>
            <a:ext cx="4832896" cy="436245"/>
          </a:xfrm>
          <a:prstGeom prst="rect">
            <a:avLst/>
          </a:prstGeom>
        </p:spPr>
        <p:txBody>
          <a:bodyPr anchor="t" rtlCol="false" tIns="0" lIns="0" bIns="0" rIns="0">
            <a:spAutoFit/>
          </a:bodyPr>
          <a:lstStyle/>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Monitor</a:t>
            </a:r>
            <a:r>
              <a:rPr lang="en-US" sz="1200">
                <a:solidFill>
                  <a:srgbClr val="F7FBF8"/>
                </a:solidFill>
                <a:latin typeface="Avenir"/>
                <a:ea typeface="Avenir"/>
                <a:cs typeface="Avenir"/>
                <a:sym typeface="Avenir"/>
              </a:rPr>
              <a:t> metrics as clauses within procurement packages </a:t>
            </a:r>
          </a:p>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Monitor design against metrics, continue to engage with suppliers </a:t>
            </a:r>
          </a:p>
        </p:txBody>
      </p:sp>
      <p:sp>
        <p:nvSpPr>
          <p:cNvPr name="TextBox 33" id="33"/>
          <p:cNvSpPr txBox="true"/>
          <p:nvPr/>
        </p:nvSpPr>
        <p:spPr>
          <a:xfrm rot="0">
            <a:off x="4311104" y="8367708"/>
            <a:ext cx="4031307" cy="436245"/>
          </a:xfrm>
          <a:prstGeom prst="rect">
            <a:avLst/>
          </a:prstGeom>
        </p:spPr>
        <p:txBody>
          <a:bodyPr anchor="t" rtlCol="false" tIns="0" lIns="0" bIns="0" rIns="0">
            <a:spAutoFit/>
          </a:bodyPr>
          <a:lstStyle/>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Monitor metrics with contractor (and supply chain) </a:t>
            </a:r>
          </a:p>
          <a:p>
            <a:pPr algn="l" marL="259080" indent="-129540" lvl="1">
              <a:lnSpc>
                <a:spcPts val="1679"/>
              </a:lnSpc>
              <a:spcBef>
                <a:spcPct val="0"/>
              </a:spcBef>
              <a:buFont typeface="Arial"/>
              <a:buChar char="•"/>
            </a:pPr>
            <a:r>
              <a:rPr lang="en-US" sz="1200">
                <a:solidFill>
                  <a:srgbClr val="F7FBF8"/>
                </a:solidFill>
                <a:latin typeface="Avenir"/>
                <a:ea typeface="Avenir"/>
                <a:cs typeface="Avenir"/>
                <a:sym typeface="Avenir"/>
              </a:rPr>
              <a:t>Continue to investigate alternative materials/ products </a:t>
            </a:r>
          </a:p>
        </p:txBody>
      </p:sp>
      <p:sp>
        <p:nvSpPr>
          <p:cNvPr name="TextBox 34" id="34"/>
          <p:cNvSpPr txBox="true"/>
          <p:nvPr/>
        </p:nvSpPr>
        <p:spPr>
          <a:xfrm rot="0">
            <a:off x="975780" y="3836170"/>
            <a:ext cx="2102905" cy="273685"/>
          </a:xfrm>
          <a:prstGeom prst="rect">
            <a:avLst/>
          </a:prstGeom>
        </p:spPr>
        <p:txBody>
          <a:bodyPr anchor="t" rtlCol="false" tIns="0" lIns="0" bIns="0" rIns="0">
            <a:spAutoFit/>
          </a:bodyPr>
          <a:lstStyle/>
          <a:p>
            <a:pPr algn="ctr">
              <a:lnSpc>
                <a:spcPts val="2239"/>
              </a:lnSpc>
            </a:pPr>
            <a:r>
              <a:rPr lang="en-US" sz="1599">
                <a:solidFill>
                  <a:srgbClr val="F7FBF8"/>
                </a:solidFill>
                <a:latin typeface="Metropolis Medium"/>
                <a:ea typeface="Metropolis Medium"/>
                <a:cs typeface="Metropolis Medium"/>
                <a:sym typeface="Metropolis Medium"/>
              </a:rPr>
              <a:t>RIBA 0/1</a:t>
            </a:r>
          </a:p>
        </p:txBody>
      </p:sp>
      <p:sp>
        <p:nvSpPr>
          <p:cNvPr name="TextBox 35" id="35"/>
          <p:cNvSpPr txBox="true"/>
          <p:nvPr/>
        </p:nvSpPr>
        <p:spPr>
          <a:xfrm rot="0">
            <a:off x="975780" y="4773101"/>
            <a:ext cx="2102905" cy="273685"/>
          </a:xfrm>
          <a:prstGeom prst="rect">
            <a:avLst/>
          </a:prstGeom>
        </p:spPr>
        <p:txBody>
          <a:bodyPr anchor="t" rtlCol="false" tIns="0" lIns="0" bIns="0" rIns="0">
            <a:spAutoFit/>
          </a:bodyPr>
          <a:lstStyle/>
          <a:p>
            <a:pPr algn="ctr">
              <a:lnSpc>
                <a:spcPts val="2239"/>
              </a:lnSpc>
            </a:pPr>
            <a:r>
              <a:rPr lang="en-US" sz="1599">
                <a:solidFill>
                  <a:srgbClr val="F7FBF8"/>
                </a:solidFill>
                <a:latin typeface="Metropolis Medium"/>
                <a:ea typeface="Metropolis Medium"/>
                <a:cs typeface="Metropolis Medium"/>
                <a:sym typeface="Metropolis Medium"/>
              </a:rPr>
              <a:t>RIBA 1</a:t>
            </a:r>
          </a:p>
        </p:txBody>
      </p:sp>
      <p:sp>
        <p:nvSpPr>
          <p:cNvPr name="TextBox 36" id="36"/>
          <p:cNvSpPr txBox="true"/>
          <p:nvPr/>
        </p:nvSpPr>
        <p:spPr>
          <a:xfrm rot="0">
            <a:off x="975780" y="5689874"/>
            <a:ext cx="2102905" cy="273685"/>
          </a:xfrm>
          <a:prstGeom prst="rect">
            <a:avLst/>
          </a:prstGeom>
        </p:spPr>
        <p:txBody>
          <a:bodyPr anchor="t" rtlCol="false" tIns="0" lIns="0" bIns="0" rIns="0">
            <a:spAutoFit/>
          </a:bodyPr>
          <a:lstStyle/>
          <a:p>
            <a:pPr algn="ctr">
              <a:lnSpc>
                <a:spcPts val="2239"/>
              </a:lnSpc>
            </a:pPr>
            <a:r>
              <a:rPr lang="en-US" sz="1599">
                <a:solidFill>
                  <a:srgbClr val="F7FBF8"/>
                </a:solidFill>
                <a:latin typeface="Metropolis Medium"/>
                <a:ea typeface="Metropolis Medium"/>
                <a:cs typeface="Metropolis Medium"/>
                <a:sym typeface="Metropolis Medium"/>
              </a:rPr>
              <a:t>RIBA 2/3</a:t>
            </a:r>
          </a:p>
        </p:txBody>
      </p:sp>
      <p:sp>
        <p:nvSpPr>
          <p:cNvPr name="TextBox 37" id="37"/>
          <p:cNvSpPr txBox="true"/>
          <p:nvPr/>
        </p:nvSpPr>
        <p:spPr>
          <a:xfrm rot="0">
            <a:off x="975780" y="6647942"/>
            <a:ext cx="2102905" cy="273685"/>
          </a:xfrm>
          <a:prstGeom prst="rect">
            <a:avLst/>
          </a:prstGeom>
        </p:spPr>
        <p:txBody>
          <a:bodyPr anchor="t" rtlCol="false" tIns="0" lIns="0" bIns="0" rIns="0">
            <a:spAutoFit/>
          </a:bodyPr>
          <a:lstStyle/>
          <a:p>
            <a:pPr algn="ctr">
              <a:lnSpc>
                <a:spcPts val="2239"/>
              </a:lnSpc>
            </a:pPr>
            <a:r>
              <a:rPr lang="en-US" sz="1599">
                <a:solidFill>
                  <a:srgbClr val="F7FBF8"/>
                </a:solidFill>
                <a:latin typeface="Metropolis Medium"/>
                <a:ea typeface="Metropolis Medium"/>
                <a:cs typeface="Metropolis Medium"/>
                <a:sym typeface="Metropolis Medium"/>
              </a:rPr>
              <a:t>RIBA 4</a:t>
            </a:r>
          </a:p>
        </p:txBody>
      </p:sp>
      <p:sp>
        <p:nvSpPr>
          <p:cNvPr name="TextBox 38" id="38"/>
          <p:cNvSpPr txBox="true"/>
          <p:nvPr/>
        </p:nvSpPr>
        <p:spPr>
          <a:xfrm rot="0">
            <a:off x="975780" y="7606010"/>
            <a:ext cx="2102905" cy="273685"/>
          </a:xfrm>
          <a:prstGeom prst="rect">
            <a:avLst/>
          </a:prstGeom>
        </p:spPr>
        <p:txBody>
          <a:bodyPr anchor="t" rtlCol="false" tIns="0" lIns="0" bIns="0" rIns="0">
            <a:spAutoFit/>
          </a:bodyPr>
          <a:lstStyle/>
          <a:p>
            <a:pPr algn="ctr">
              <a:lnSpc>
                <a:spcPts val="2239"/>
              </a:lnSpc>
            </a:pPr>
            <a:r>
              <a:rPr lang="en-US" sz="1599">
                <a:solidFill>
                  <a:srgbClr val="F7FBF8"/>
                </a:solidFill>
                <a:latin typeface="Metropolis Medium"/>
                <a:ea typeface="Metropolis Medium"/>
                <a:cs typeface="Metropolis Medium"/>
                <a:sym typeface="Metropolis Medium"/>
              </a:rPr>
              <a:t>RIBA 5</a:t>
            </a:r>
          </a:p>
        </p:txBody>
      </p:sp>
      <p:sp>
        <p:nvSpPr>
          <p:cNvPr name="TextBox 39" id="39"/>
          <p:cNvSpPr txBox="true"/>
          <p:nvPr/>
        </p:nvSpPr>
        <p:spPr>
          <a:xfrm rot="0">
            <a:off x="975780" y="8491459"/>
            <a:ext cx="2102905" cy="273685"/>
          </a:xfrm>
          <a:prstGeom prst="rect">
            <a:avLst/>
          </a:prstGeom>
        </p:spPr>
        <p:txBody>
          <a:bodyPr anchor="t" rtlCol="false" tIns="0" lIns="0" bIns="0" rIns="0">
            <a:spAutoFit/>
          </a:bodyPr>
          <a:lstStyle/>
          <a:p>
            <a:pPr algn="ctr">
              <a:lnSpc>
                <a:spcPts val="2239"/>
              </a:lnSpc>
            </a:pPr>
            <a:r>
              <a:rPr lang="en-US" sz="1599">
                <a:solidFill>
                  <a:srgbClr val="F7FBF8"/>
                </a:solidFill>
                <a:latin typeface="Metropolis Medium"/>
                <a:ea typeface="Metropolis Medium"/>
                <a:cs typeface="Metropolis Medium"/>
                <a:sym typeface="Metropolis Medium"/>
              </a:rPr>
              <a:t>RIBA 6/7</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067"/>
            <a:ext cx="18296170" cy="10297067"/>
          </a:xfrm>
          <a:custGeom>
            <a:avLst/>
            <a:gdLst/>
            <a:ahLst/>
            <a:cxnLst/>
            <a:rect r="r" b="b" t="t" l="l"/>
            <a:pathLst>
              <a:path h="10297067" w="18296170">
                <a:moveTo>
                  <a:pt x="0" y="0"/>
                </a:moveTo>
                <a:lnTo>
                  <a:pt x="18296170" y="0"/>
                </a:lnTo>
                <a:lnTo>
                  <a:pt x="18296170" y="10297067"/>
                </a:lnTo>
                <a:lnTo>
                  <a:pt x="0" y="10297067"/>
                </a:lnTo>
                <a:lnTo>
                  <a:pt x="0" y="0"/>
                </a:lnTo>
                <a:close/>
              </a:path>
            </a:pathLst>
          </a:custGeom>
          <a:blipFill>
            <a:blip r:embed="rId2"/>
            <a:stretch>
              <a:fillRect l="0" t="0" r="0" b="0"/>
            </a:stretch>
          </a:blipFill>
        </p:spPr>
      </p:sp>
      <p:sp>
        <p:nvSpPr>
          <p:cNvPr name="AutoShape 3" id="3"/>
          <p:cNvSpPr/>
          <p:nvPr/>
        </p:nvSpPr>
        <p:spPr>
          <a:xfrm flipH="true">
            <a:off x="2319064" y="1690644"/>
            <a:ext cx="3681278" cy="0"/>
          </a:xfrm>
          <a:prstGeom prst="line">
            <a:avLst/>
          </a:prstGeom>
          <a:ln cap="flat" w="19050">
            <a:solidFill>
              <a:srgbClr val="A3CF3E"/>
            </a:solidFill>
            <a:prstDash val="solid"/>
            <a:headEnd type="none" len="sm" w="sm"/>
            <a:tailEnd type="none" len="sm" w="sm"/>
          </a:ln>
        </p:spPr>
      </p:sp>
      <p:sp>
        <p:nvSpPr>
          <p:cNvPr name="TextBox 4" id="4"/>
          <p:cNvSpPr txBox="true"/>
          <p:nvPr/>
        </p:nvSpPr>
        <p:spPr>
          <a:xfrm rot="0">
            <a:off x="8249090" y="2351029"/>
            <a:ext cx="8896961" cy="3131325"/>
          </a:xfrm>
          <a:prstGeom prst="rect">
            <a:avLst/>
          </a:prstGeom>
        </p:spPr>
        <p:txBody>
          <a:bodyPr anchor="t" rtlCol="false" tIns="0" lIns="0" bIns="0" rIns="0">
            <a:spAutoFit/>
          </a:bodyPr>
          <a:lstStyle/>
          <a:p>
            <a:pPr algn="just">
              <a:lnSpc>
                <a:spcPts val="2103"/>
              </a:lnSpc>
            </a:pPr>
            <a:r>
              <a:rPr lang="en-US" sz="1502">
                <a:solidFill>
                  <a:srgbClr val="F7FBF8"/>
                </a:solidFill>
                <a:latin typeface="Avenir"/>
                <a:ea typeface="Avenir"/>
                <a:cs typeface="Avenir"/>
                <a:sym typeface="Avenir"/>
              </a:rPr>
              <a:t>Adopting a design approach that focuses on material resource efficiency so that less material is used in the design (i.e. lean design), and / or less waste is produced in the construction process, without compromising the design concept. For waste reduction, minimisation of excavation, simplification and standardisation of materials and components of choice, and dimensional coordination have been considered.</a:t>
            </a:r>
          </a:p>
          <a:p>
            <a:pPr algn="just">
              <a:lnSpc>
                <a:spcPts val="2103"/>
              </a:lnSpc>
            </a:pPr>
          </a:p>
          <a:p>
            <a:pPr algn="just">
              <a:lnSpc>
                <a:spcPts val="2103"/>
              </a:lnSpc>
            </a:pPr>
            <a:r>
              <a:rPr lang="en-US" sz="1502">
                <a:solidFill>
                  <a:srgbClr val="F7FBF8"/>
                </a:solidFill>
                <a:latin typeface="Avenir"/>
                <a:ea typeface="Avenir"/>
                <a:cs typeface="Avenir"/>
                <a:sym typeface="Avenir"/>
              </a:rPr>
              <a:t>The development will aim to ‘design out’ waste through the consideration of material</a:t>
            </a:r>
          </a:p>
          <a:p>
            <a:pPr algn="just">
              <a:lnSpc>
                <a:spcPts val="2103"/>
              </a:lnSpc>
            </a:pPr>
            <a:r>
              <a:rPr lang="en-US" sz="1502">
                <a:solidFill>
                  <a:srgbClr val="F7FBF8"/>
                </a:solidFill>
                <a:latin typeface="Avenir"/>
                <a:ea typeface="Avenir"/>
                <a:cs typeface="Avenir"/>
                <a:sym typeface="Avenir"/>
              </a:rPr>
              <a:t>specification, such as maximising use of existing materials, and construction techniques in</a:t>
            </a:r>
          </a:p>
          <a:p>
            <a:pPr algn="just">
              <a:lnSpc>
                <a:spcPts val="2103"/>
              </a:lnSpc>
            </a:pPr>
            <a:r>
              <a:rPr lang="en-US" sz="1502">
                <a:solidFill>
                  <a:srgbClr val="F7FBF8"/>
                </a:solidFill>
                <a:latin typeface="Avenir"/>
                <a:ea typeface="Avenir"/>
                <a:cs typeface="Avenir"/>
                <a:sym typeface="Avenir"/>
              </a:rPr>
              <a:t>order to prevent and minimise waste generation.</a:t>
            </a:r>
          </a:p>
          <a:p>
            <a:pPr algn="just">
              <a:lnSpc>
                <a:spcPts val="2103"/>
              </a:lnSpc>
            </a:pPr>
          </a:p>
          <a:p>
            <a:pPr algn="just">
              <a:lnSpc>
                <a:spcPts val="2103"/>
              </a:lnSpc>
            </a:pPr>
            <a:r>
              <a:rPr lang="en-US" sz="1502">
                <a:solidFill>
                  <a:srgbClr val="F7FBF8"/>
                </a:solidFill>
                <a:latin typeface="Avenir"/>
                <a:ea typeface="Avenir"/>
                <a:cs typeface="Avenir"/>
                <a:sym typeface="Avenir"/>
              </a:rPr>
              <a:t>When selecting and designing components the following will be applied where feasible:</a:t>
            </a:r>
          </a:p>
          <a:p>
            <a:pPr algn="just">
              <a:lnSpc>
                <a:spcPts val="2103"/>
              </a:lnSpc>
            </a:pPr>
          </a:p>
        </p:txBody>
      </p:sp>
      <p:sp>
        <p:nvSpPr>
          <p:cNvPr name="TextBox 5" id="5"/>
          <p:cNvSpPr txBox="true"/>
          <p:nvPr/>
        </p:nvSpPr>
        <p:spPr>
          <a:xfrm rot="0">
            <a:off x="2319064" y="781592"/>
            <a:ext cx="5372966" cy="689547"/>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Design </a:t>
            </a:r>
            <a:r>
              <a:rPr lang="en-US" sz="5598" spc="-279">
                <a:solidFill>
                  <a:srgbClr val="A4CE3E"/>
                </a:solidFill>
                <a:latin typeface="DM Sans"/>
                <a:ea typeface="DM Sans"/>
                <a:cs typeface="DM Sans"/>
                <a:sym typeface="DM Sans"/>
              </a:rPr>
              <a:t>Principles</a:t>
            </a:r>
          </a:p>
        </p:txBody>
      </p:sp>
      <p:sp>
        <p:nvSpPr>
          <p:cNvPr name="TextBox 6" id="6"/>
          <p:cNvSpPr txBox="true"/>
          <p:nvPr/>
        </p:nvSpPr>
        <p:spPr>
          <a:xfrm rot="0">
            <a:off x="849483" y="2320239"/>
            <a:ext cx="6609948" cy="1050300"/>
          </a:xfrm>
          <a:prstGeom prst="rect">
            <a:avLst/>
          </a:prstGeom>
        </p:spPr>
        <p:txBody>
          <a:bodyPr anchor="t" rtlCol="false" tIns="0" lIns="0" bIns="0" rIns="0">
            <a:spAutoFit/>
          </a:bodyPr>
          <a:lstStyle/>
          <a:p>
            <a:pPr algn="just">
              <a:lnSpc>
                <a:spcPts val="2097"/>
              </a:lnSpc>
            </a:pPr>
            <a:r>
              <a:rPr lang="en-US" sz="1498">
                <a:solidFill>
                  <a:srgbClr val="F7FBF8"/>
                </a:solidFill>
                <a:latin typeface="Avenir"/>
                <a:ea typeface="Avenir"/>
                <a:cs typeface="Avenir"/>
                <a:sym typeface="Avenir"/>
              </a:rPr>
              <a:t>This section will review circular economy design principles and detail measures the proposed development could implement throughout the design, construction and operational phases in addition to those company objectives that are already in place.</a:t>
            </a:r>
          </a:p>
        </p:txBody>
      </p:sp>
      <p:sp>
        <p:nvSpPr>
          <p:cNvPr name="TextBox 7" id="7"/>
          <p:cNvSpPr txBox="true"/>
          <p:nvPr/>
        </p:nvSpPr>
        <p:spPr>
          <a:xfrm rot="0">
            <a:off x="8249090" y="997617"/>
            <a:ext cx="2340769" cy="909949"/>
          </a:xfrm>
          <a:prstGeom prst="rect">
            <a:avLst/>
          </a:prstGeom>
        </p:spPr>
        <p:txBody>
          <a:bodyPr anchor="t" rtlCol="false" tIns="0" lIns="0" bIns="0" rIns="0">
            <a:spAutoFit/>
          </a:bodyPr>
          <a:lstStyle/>
          <a:p>
            <a:pPr algn="l">
              <a:lnSpc>
                <a:spcPts val="2345"/>
              </a:lnSpc>
              <a:spcBef>
                <a:spcPct val="0"/>
              </a:spcBef>
            </a:pPr>
            <a:r>
              <a:rPr lang="en-US" b="true" sz="1675">
                <a:solidFill>
                  <a:srgbClr val="A4CE3E"/>
                </a:solidFill>
                <a:latin typeface="Avenir Bold"/>
                <a:ea typeface="Avenir Bold"/>
                <a:cs typeface="Avenir Bold"/>
                <a:sym typeface="Avenir Bold"/>
              </a:rPr>
              <a:t>Designing Out Waste</a:t>
            </a:r>
          </a:p>
          <a:p>
            <a:pPr algn="l">
              <a:lnSpc>
                <a:spcPts val="2345"/>
              </a:lnSpc>
              <a:spcBef>
                <a:spcPct val="0"/>
              </a:spcBef>
            </a:pPr>
            <a:r>
              <a:rPr lang="en-US" b="true" sz="1675">
                <a:solidFill>
                  <a:srgbClr val="A4CE3E"/>
                </a:solidFill>
                <a:latin typeface="Avenir Bold"/>
                <a:ea typeface="Avenir Bold"/>
                <a:cs typeface="Avenir Bold"/>
                <a:sym typeface="Avenir Bold"/>
              </a:rPr>
              <a:t> </a:t>
            </a:r>
          </a:p>
          <a:p>
            <a:pPr algn="l">
              <a:lnSpc>
                <a:spcPts val="2345"/>
              </a:lnSpc>
              <a:spcBef>
                <a:spcPct val="0"/>
              </a:spcBef>
            </a:pPr>
            <a:r>
              <a:rPr lang="en-US" b="true" sz="1675">
                <a:solidFill>
                  <a:srgbClr val="A4CE3E"/>
                </a:solidFill>
                <a:latin typeface="Avenir Bold"/>
                <a:ea typeface="Avenir Bold"/>
                <a:cs typeface="Avenir Bold"/>
                <a:sym typeface="Avenir Bold"/>
              </a:rPr>
              <a:t>Minimised Material Use</a:t>
            </a:r>
          </a:p>
        </p:txBody>
      </p:sp>
      <p:sp>
        <p:nvSpPr>
          <p:cNvPr name="TextBox 8" id="8"/>
          <p:cNvSpPr txBox="true"/>
          <p:nvPr/>
        </p:nvSpPr>
        <p:spPr>
          <a:xfrm rot="0">
            <a:off x="8755646" y="5691904"/>
            <a:ext cx="8625206" cy="3494405"/>
          </a:xfrm>
          <a:prstGeom prst="rect">
            <a:avLst/>
          </a:prstGeom>
        </p:spPr>
        <p:txBody>
          <a:bodyPr anchor="t" rtlCol="false" tIns="0" lIns="0" bIns="0" rIns="0">
            <a:spAutoFit/>
          </a:bodyPr>
          <a:lstStyle/>
          <a:p>
            <a:pPr algn="just" marL="334646" indent="-167323" lvl="1">
              <a:lnSpc>
                <a:spcPts val="2170"/>
              </a:lnSpc>
              <a:buFont typeface="Arial"/>
              <a:buChar char="•"/>
            </a:pPr>
            <a:r>
              <a:rPr lang="en-US" sz="1550">
                <a:solidFill>
                  <a:srgbClr val="F7FBF8"/>
                </a:solidFill>
                <a:latin typeface="Avenir"/>
                <a:ea typeface="Avenir"/>
                <a:cs typeface="Avenir"/>
                <a:sym typeface="Avenir"/>
              </a:rPr>
              <a:t>Design out the need for the component or material.</a:t>
            </a:r>
          </a:p>
          <a:p>
            <a:pPr algn="just" marL="334646" indent="-167323" lvl="1">
              <a:lnSpc>
                <a:spcPts val="2170"/>
              </a:lnSpc>
              <a:buFont typeface="Arial"/>
              <a:buChar char="•"/>
            </a:pPr>
            <a:r>
              <a:rPr lang="en-US" sz="1550">
                <a:solidFill>
                  <a:srgbClr val="F7FBF8"/>
                </a:solidFill>
                <a:latin typeface="Avenir"/>
                <a:ea typeface="Avenir"/>
                <a:cs typeface="Avenir"/>
                <a:sym typeface="Avenir"/>
              </a:rPr>
              <a:t>Use reclaimed material over new and remanufactured components over new, where possible.</a:t>
            </a:r>
          </a:p>
          <a:p>
            <a:pPr algn="just" marL="334646" indent="-167323" lvl="1">
              <a:lnSpc>
                <a:spcPts val="2170"/>
              </a:lnSpc>
              <a:buFont typeface="Arial"/>
              <a:buChar char="•"/>
            </a:pPr>
            <a:r>
              <a:rPr lang="en-US" sz="1550">
                <a:solidFill>
                  <a:srgbClr val="F7FBF8"/>
                </a:solidFill>
                <a:latin typeface="Avenir"/>
                <a:ea typeface="Avenir"/>
                <a:cs typeface="Avenir"/>
                <a:sym typeface="Avenir"/>
              </a:rPr>
              <a:t>Use products with labels such as Cradle to Cradle (C2C) and Natureplus.</a:t>
            </a:r>
          </a:p>
          <a:p>
            <a:pPr algn="just" marL="334646" indent="-167323" lvl="1">
              <a:lnSpc>
                <a:spcPts val="2170"/>
              </a:lnSpc>
              <a:buFont typeface="Arial"/>
              <a:buChar char="•"/>
            </a:pPr>
            <a:r>
              <a:rPr lang="en-US" sz="1550">
                <a:solidFill>
                  <a:srgbClr val="F7FBF8"/>
                </a:solidFill>
                <a:latin typeface="Avenir"/>
                <a:ea typeface="Avenir"/>
                <a:cs typeface="Avenir"/>
                <a:sym typeface="Avenir"/>
              </a:rPr>
              <a:t>Select products that can be remanufactured or reused at end of first life.</a:t>
            </a:r>
          </a:p>
          <a:p>
            <a:pPr algn="just" marL="334646" indent="-167323" lvl="1">
              <a:lnSpc>
                <a:spcPts val="2170"/>
              </a:lnSpc>
              <a:buFont typeface="Arial"/>
              <a:buChar char="•"/>
            </a:pPr>
            <a:r>
              <a:rPr lang="en-US" sz="1550">
                <a:solidFill>
                  <a:srgbClr val="F7FBF8"/>
                </a:solidFill>
                <a:latin typeface="Avenir"/>
                <a:ea typeface="Avenir"/>
                <a:cs typeface="Avenir"/>
                <a:sym typeface="Avenir"/>
              </a:rPr>
              <a:t>Use materials with recycled content.</a:t>
            </a:r>
          </a:p>
          <a:p>
            <a:pPr algn="just" marL="334646" indent="-167323" lvl="1">
              <a:lnSpc>
                <a:spcPts val="2170"/>
              </a:lnSpc>
              <a:buFont typeface="Arial"/>
              <a:buChar char="•"/>
            </a:pPr>
            <a:r>
              <a:rPr lang="en-US" sz="1550">
                <a:solidFill>
                  <a:srgbClr val="F7FBF8"/>
                </a:solidFill>
                <a:latin typeface="Avenir"/>
                <a:ea typeface="Avenir"/>
                <a:cs typeface="Avenir"/>
                <a:sym typeface="Avenir"/>
              </a:rPr>
              <a:t>Select products that are designed for disassembly.</a:t>
            </a:r>
          </a:p>
          <a:p>
            <a:pPr algn="just" marL="334646" indent="-167323" lvl="1">
              <a:lnSpc>
                <a:spcPts val="2170"/>
              </a:lnSpc>
              <a:buFont typeface="Arial"/>
              <a:buChar char="•"/>
            </a:pPr>
            <a:r>
              <a:rPr lang="en-US" sz="1550">
                <a:solidFill>
                  <a:srgbClr val="F7FBF8"/>
                </a:solidFill>
                <a:latin typeface="Avenir"/>
                <a:ea typeface="Avenir"/>
                <a:cs typeface="Avenir"/>
                <a:sym typeface="Avenir"/>
              </a:rPr>
              <a:t>Select materials that can be recycled or composted at end of life; and,</a:t>
            </a:r>
          </a:p>
          <a:p>
            <a:pPr algn="just" marL="334646" indent="-167323" lvl="1">
              <a:lnSpc>
                <a:spcPts val="2170"/>
              </a:lnSpc>
              <a:buFont typeface="Arial"/>
              <a:buChar char="•"/>
            </a:pPr>
            <a:r>
              <a:rPr lang="en-US" sz="1550">
                <a:solidFill>
                  <a:srgbClr val="F7FBF8"/>
                </a:solidFill>
                <a:latin typeface="Avenir"/>
                <a:ea typeface="Avenir"/>
                <a:cs typeface="Avenir"/>
                <a:sym typeface="Avenir"/>
              </a:rPr>
              <a:t>Consider leasing short lived components.</a:t>
            </a:r>
          </a:p>
          <a:p>
            <a:pPr algn="just">
              <a:lnSpc>
                <a:spcPts val="2170"/>
              </a:lnSpc>
            </a:pPr>
          </a:p>
          <a:p>
            <a:pPr algn="just">
              <a:lnSpc>
                <a:spcPts val="2170"/>
              </a:lnSpc>
            </a:pPr>
            <a:r>
              <a:rPr lang="en-US" sz="1550">
                <a:solidFill>
                  <a:srgbClr val="F7FBF8"/>
                </a:solidFill>
                <a:latin typeface="Avenir"/>
                <a:ea typeface="Avenir"/>
                <a:cs typeface="Avenir"/>
                <a:sym typeface="Avenir"/>
              </a:rPr>
              <a:t>When applying the above, complete transparency and visibility throughout the supply chain will be encouraged. Early engagement with the contractor and partnering within the supply chain will be required</a:t>
            </a:r>
          </a:p>
          <a:p>
            <a:pPr algn="just">
              <a:lnSpc>
                <a:spcPts val="2170"/>
              </a:lnSpc>
            </a:pPr>
          </a:p>
        </p:txBody>
      </p:sp>
      <p:sp>
        <p:nvSpPr>
          <p:cNvPr name="Freeform 9" id="9"/>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10" id="10"/>
          <p:cNvSpPr/>
          <p:nvPr/>
        </p:nvSpPr>
        <p:spPr>
          <a:xfrm flipH="false" flipV="false" rot="0">
            <a:off x="1028700" y="626106"/>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4"/>
            <a:stretch>
              <a:fillRect l="-8797" t="-66863" r="-261858" b="-81932"/>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65122" y="2861739"/>
            <a:ext cx="7588038" cy="4247686"/>
          </a:xfrm>
          <a:custGeom>
            <a:avLst/>
            <a:gdLst/>
            <a:ahLst/>
            <a:cxnLst/>
            <a:rect r="r" b="b" t="t" l="l"/>
            <a:pathLst>
              <a:path h="4247686" w="7588038">
                <a:moveTo>
                  <a:pt x="0" y="0"/>
                </a:moveTo>
                <a:lnTo>
                  <a:pt x="7588038" y="0"/>
                </a:lnTo>
                <a:lnTo>
                  <a:pt x="7588038" y="4247686"/>
                </a:lnTo>
                <a:lnTo>
                  <a:pt x="0" y="4247686"/>
                </a:lnTo>
                <a:lnTo>
                  <a:pt x="0" y="0"/>
                </a:lnTo>
                <a:close/>
              </a:path>
            </a:pathLst>
          </a:custGeom>
          <a:blipFill>
            <a:blip r:embed="rId2"/>
            <a:stretch>
              <a:fillRect l="0" t="-10716" r="0" b="0"/>
            </a:stretch>
          </a:blipFill>
        </p:spPr>
      </p:sp>
      <p:sp>
        <p:nvSpPr>
          <p:cNvPr name="Freeform 3" id="3"/>
          <p:cNvSpPr/>
          <p:nvPr/>
        </p:nvSpPr>
        <p:spPr>
          <a:xfrm flipH="false" flipV="false" rot="0">
            <a:off x="17482518" y="315404"/>
            <a:ext cx="458657" cy="444951"/>
          </a:xfrm>
          <a:custGeom>
            <a:avLst/>
            <a:gdLst/>
            <a:ahLst/>
            <a:cxnLst/>
            <a:rect r="r" b="b" t="t" l="l"/>
            <a:pathLst>
              <a:path h="444951" w="458657">
                <a:moveTo>
                  <a:pt x="0" y="0"/>
                </a:moveTo>
                <a:lnTo>
                  <a:pt x="458657" y="0"/>
                </a:lnTo>
                <a:lnTo>
                  <a:pt x="458657" y="444952"/>
                </a:lnTo>
                <a:lnTo>
                  <a:pt x="0" y="444952"/>
                </a:lnTo>
                <a:lnTo>
                  <a:pt x="0" y="0"/>
                </a:lnTo>
                <a:close/>
              </a:path>
            </a:pathLst>
          </a:custGeom>
          <a:blipFill>
            <a:blip r:embed="rId3"/>
            <a:stretch>
              <a:fillRect l="-3403" t="0" r="-284642" b="0"/>
            </a:stretch>
          </a:blipFill>
        </p:spPr>
      </p:sp>
      <p:sp>
        <p:nvSpPr>
          <p:cNvPr name="Freeform 4" id="4"/>
          <p:cNvSpPr/>
          <p:nvPr/>
        </p:nvSpPr>
        <p:spPr>
          <a:xfrm flipH="false" flipV="false" rot="0">
            <a:off x="16874662" y="286507"/>
            <a:ext cx="506190" cy="502747"/>
          </a:xfrm>
          <a:custGeom>
            <a:avLst/>
            <a:gdLst/>
            <a:ahLst/>
            <a:cxnLst/>
            <a:rect r="r" b="b" t="t" l="l"/>
            <a:pathLst>
              <a:path h="502747" w="506190">
                <a:moveTo>
                  <a:pt x="0" y="0"/>
                </a:moveTo>
                <a:lnTo>
                  <a:pt x="506190" y="0"/>
                </a:lnTo>
                <a:lnTo>
                  <a:pt x="506190" y="502746"/>
                </a:lnTo>
                <a:lnTo>
                  <a:pt x="0" y="502746"/>
                </a:lnTo>
                <a:lnTo>
                  <a:pt x="0" y="0"/>
                </a:lnTo>
                <a:close/>
              </a:path>
            </a:pathLst>
          </a:custGeom>
          <a:blipFill>
            <a:blip r:embed="rId4"/>
            <a:stretch>
              <a:fillRect l="-8797" t="-66863" r="-261858" b="-81932"/>
            </a:stretch>
          </a:blipFill>
        </p:spPr>
      </p:sp>
      <p:sp>
        <p:nvSpPr>
          <p:cNvPr name="Freeform 5" id="5"/>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5"/>
            <a:stretch>
              <a:fillRect l="0" t="0" r="0" b="0"/>
            </a:stretch>
          </a:blipFill>
        </p:spPr>
      </p:sp>
      <p:sp>
        <p:nvSpPr>
          <p:cNvPr name="TextBox 6" id="6"/>
          <p:cNvSpPr txBox="true"/>
          <p:nvPr/>
        </p:nvSpPr>
        <p:spPr>
          <a:xfrm rot="0">
            <a:off x="734014" y="1862582"/>
            <a:ext cx="7149483" cy="1941164"/>
          </a:xfrm>
          <a:prstGeom prst="rect">
            <a:avLst/>
          </a:prstGeom>
        </p:spPr>
        <p:txBody>
          <a:bodyPr anchor="t" rtlCol="false" tIns="0" lIns="0" bIns="0" rIns="0">
            <a:spAutoFit/>
          </a:bodyPr>
          <a:lstStyle/>
          <a:p>
            <a:pPr algn="just">
              <a:lnSpc>
                <a:spcPts val="1952"/>
              </a:lnSpc>
            </a:pPr>
            <a:r>
              <a:rPr lang="en-US" sz="1394" b="true">
                <a:solidFill>
                  <a:srgbClr val="A4CE3E"/>
                </a:solidFill>
                <a:latin typeface="Avenir Bold"/>
                <a:ea typeface="Avenir Bold"/>
                <a:cs typeface="Avenir Bold"/>
                <a:sym typeface="Avenir Bold"/>
              </a:rPr>
              <a:t>Waste Hierarchy </a:t>
            </a:r>
          </a:p>
          <a:p>
            <a:pPr algn="just">
              <a:lnSpc>
                <a:spcPts val="1952"/>
              </a:lnSpc>
            </a:pPr>
          </a:p>
          <a:p>
            <a:pPr algn="just">
              <a:lnSpc>
                <a:spcPts val="1952"/>
              </a:lnSpc>
            </a:pPr>
            <a:r>
              <a:rPr lang="en-US" sz="1394">
                <a:solidFill>
                  <a:srgbClr val="F7FBF8"/>
                </a:solidFill>
                <a:latin typeface="Avenir"/>
                <a:ea typeface="Avenir"/>
                <a:cs typeface="Avenir"/>
                <a:sym typeface="Avenir"/>
              </a:rPr>
              <a:t>The design team will consider the Waste Hierarchy (Figure 7), to optimise reuse, recycling and recovery opportunities for the purpose of minimising waste as far as possible. The principal contractor, once appointed, will be responsible for implementing the principles within the Waste Management Strategy and the Site Waste Management Plan (SWMP) during the construction phase of the proposed development.</a:t>
            </a:r>
          </a:p>
          <a:p>
            <a:pPr algn="just">
              <a:lnSpc>
                <a:spcPts val="1952"/>
              </a:lnSpc>
            </a:pPr>
          </a:p>
        </p:txBody>
      </p:sp>
      <p:sp>
        <p:nvSpPr>
          <p:cNvPr name="TextBox 7" id="7"/>
          <p:cNvSpPr txBox="true"/>
          <p:nvPr/>
        </p:nvSpPr>
        <p:spPr>
          <a:xfrm rot="0">
            <a:off x="734014" y="3955640"/>
            <a:ext cx="7269382" cy="5302660"/>
          </a:xfrm>
          <a:prstGeom prst="rect">
            <a:avLst/>
          </a:prstGeom>
        </p:spPr>
        <p:txBody>
          <a:bodyPr anchor="t" rtlCol="false" tIns="0" lIns="0" bIns="0" rIns="0">
            <a:spAutoFit/>
          </a:bodyPr>
          <a:lstStyle/>
          <a:p>
            <a:pPr algn="just">
              <a:lnSpc>
                <a:spcPts val="1953"/>
              </a:lnSpc>
            </a:pPr>
            <a:r>
              <a:rPr lang="en-US" sz="1395" b="true">
                <a:solidFill>
                  <a:srgbClr val="A4CE3E"/>
                </a:solidFill>
                <a:latin typeface="Avenir Bold"/>
                <a:ea typeface="Avenir Bold"/>
                <a:cs typeface="Avenir Bold"/>
                <a:sym typeface="Avenir Bold"/>
              </a:rPr>
              <a:t>Estimated Waste from Construction</a:t>
            </a:r>
          </a:p>
          <a:p>
            <a:pPr algn="just">
              <a:lnSpc>
                <a:spcPts val="1953"/>
              </a:lnSpc>
            </a:pPr>
          </a:p>
          <a:p>
            <a:pPr algn="just">
              <a:lnSpc>
                <a:spcPts val="1953"/>
              </a:lnSpc>
            </a:pPr>
            <a:r>
              <a:rPr lang="en-US" sz="1395">
                <a:solidFill>
                  <a:srgbClr val="F7FBF8"/>
                </a:solidFill>
                <a:latin typeface="Avenir"/>
                <a:ea typeface="Avenir"/>
                <a:cs typeface="Avenir"/>
                <a:sym typeface="Avenir"/>
              </a:rPr>
              <a:t>At this stage, no detailed bill of quantities for building material has been drawn up for the</a:t>
            </a:r>
          </a:p>
          <a:p>
            <a:pPr algn="just">
              <a:lnSpc>
                <a:spcPts val="1953"/>
              </a:lnSpc>
            </a:pPr>
            <a:r>
              <a:rPr lang="en-US" sz="1395">
                <a:solidFill>
                  <a:srgbClr val="F7FBF8"/>
                </a:solidFill>
                <a:latin typeface="Avenir"/>
                <a:ea typeface="Avenir"/>
                <a:cs typeface="Avenir"/>
                <a:sym typeface="Avenir"/>
              </a:rPr>
              <a:t>proposed development. Assumptions on the likely quantity of waste to arise have been made</a:t>
            </a:r>
          </a:p>
          <a:p>
            <a:pPr algn="just">
              <a:lnSpc>
                <a:spcPts val="1953"/>
              </a:lnSpc>
            </a:pPr>
            <a:r>
              <a:rPr lang="en-US" sz="1395">
                <a:solidFill>
                  <a:srgbClr val="F7FBF8"/>
                </a:solidFill>
                <a:latin typeface="Avenir"/>
                <a:ea typeface="Avenir"/>
                <a:cs typeface="Avenir"/>
                <a:sym typeface="Avenir"/>
              </a:rPr>
              <a:t>based on the building use schedule, and using typical construction waste composition data</a:t>
            </a:r>
          </a:p>
          <a:p>
            <a:pPr algn="just">
              <a:lnSpc>
                <a:spcPts val="1953"/>
              </a:lnSpc>
            </a:pPr>
            <a:r>
              <a:rPr lang="en-US" sz="1395">
                <a:solidFill>
                  <a:srgbClr val="F7FBF8"/>
                </a:solidFill>
                <a:latin typeface="Avenir"/>
                <a:ea typeface="Avenir"/>
                <a:cs typeface="Avenir"/>
                <a:sym typeface="Avenir"/>
              </a:rPr>
              <a:t>(DEFRA, 2009). Therefore, estimations at present, do not account for measures that should</a:t>
            </a:r>
          </a:p>
          <a:p>
            <a:pPr algn="just">
              <a:lnSpc>
                <a:spcPts val="1953"/>
              </a:lnSpc>
            </a:pPr>
            <a:r>
              <a:rPr lang="en-US" sz="1395">
                <a:solidFill>
                  <a:srgbClr val="F7FBF8"/>
                </a:solidFill>
                <a:latin typeface="Avenir"/>
                <a:ea typeface="Avenir"/>
                <a:cs typeface="Avenir"/>
                <a:sym typeface="Avenir"/>
              </a:rPr>
              <a:t>be incorporated to reduce waste produced during construction, for example through design</a:t>
            </a:r>
          </a:p>
          <a:p>
            <a:pPr algn="just">
              <a:lnSpc>
                <a:spcPts val="1953"/>
              </a:lnSpc>
            </a:pPr>
            <a:r>
              <a:rPr lang="en-US" sz="1395">
                <a:solidFill>
                  <a:srgbClr val="F7FBF8"/>
                </a:solidFill>
                <a:latin typeface="Avenir"/>
                <a:ea typeface="Avenir"/>
                <a:cs typeface="Avenir"/>
                <a:sym typeface="Avenir"/>
              </a:rPr>
              <a:t>and procurement.</a:t>
            </a:r>
          </a:p>
          <a:p>
            <a:pPr algn="just">
              <a:lnSpc>
                <a:spcPts val="1953"/>
              </a:lnSpc>
            </a:pPr>
          </a:p>
          <a:p>
            <a:pPr algn="just">
              <a:lnSpc>
                <a:spcPts val="1953"/>
              </a:lnSpc>
            </a:pPr>
            <a:r>
              <a:rPr lang="en-US" sz="1395" b="true">
                <a:solidFill>
                  <a:srgbClr val="A4CE3E"/>
                </a:solidFill>
                <a:latin typeface="Avenir Bold"/>
                <a:ea typeface="Avenir Bold"/>
                <a:cs typeface="Avenir Bold"/>
                <a:sym typeface="Avenir Bold"/>
              </a:rPr>
              <a:t>Reuse and Recovery</a:t>
            </a:r>
          </a:p>
          <a:p>
            <a:pPr algn="just">
              <a:lnSpc>
                <a:spcPts val="1953"/>
              </a:lnSpc>
            </a:pPr>
          </a:p>
          <a:p>
            <a:pPr algn="just">
              <a:lnSpc>
                <a:spcPts val="1953"/>
              </a:lnSpc>
            </a:pPr>
            <a:r>
              <a:rPr lang="en-US" sz="1395" b="true">
                <a:solidFill>
                  <a:srgbClr val="A4CE3E"/>
                </a:solidFill>
                <a:latin typeface="Avenir Bold"/>
                <a:ea typeface="Avenir Bold"/>
                <a:cs typeface="Avenir Bold"/>
                <a:sym typeface="Avenir Bold"/>
              </a:rPr>
              <a:t>Site Analysis and Potential for Reuse</a:t>
            </a:r>
          </a:p>
          <a:p>
            <a:pPr algn="just">
              <a:lnSpc>
                <a:spcPts val="1953"/>
              </a:lnSpc>
            </a:pPr>
          </a:p>
          <a:p>
            <a:pPr algn="just">
              <a:lnSpc>
                <a:spcPts val="1953"/>
              </a:lnSpc>
            </a:pPr>
            <a:r>
              <a:rPr lang="en-US" sz="1395">
                <a:solidFill>
                  <a:srgbClr val="F7FBF8"/>
                </a:solidFill>
                <a:latin typeface="Avenir"/>
                <a:ea typeface="Avenir"/>
                <a:cs typeface="Avenir"/>
                <a:sym typeface="Avenir"/>
              </a:rPr>
              <a:t>A site analysis including this pre-deconstruction audit will be carried out to determine opportunities for reusing existing materials and / or components. The existing materials on site will be reviewed to determine if they meet the required functionality of the new building design. Where no such opportunities exist, good practice measures will be taken in the strip-out to ensure maximum recovery of materials through recycling. All elements from the strip-out phase that cannot be reused on site will be sent to organisations for onward use where feasible.</a:t>
            </a:r>
          </a:p>
        </p:txBody>
      </p:sp>
      <p:sp>
        <p:nvSpPr>
          <p:cNvPr name="Freeform 8" id="8"/>
          <p:cNvSpPr/>
          <p:nvPr/>
        </p:nvSpPr>
        <p:spPr>
          <a:xfrm flipH="false" flipV="false" rot="0">
            <a:off x="17259300" y="235165"/>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9" id="9"/>
          <p:cNvSpPr/>
          <p:nvPr/>
        </p:nvSpPr>
        <p:spPr>
          <a:xfrm flipH="false" flipV="false" rot="0">
            <a:off x="734014" y="511911"/>
            <a:ext cx="1017191" cy="1010271"/>
          </a:xfrm>
          <a:custGeom>
            <a:avLst/>
            <a:gdLst/>
            <a:ahLst/>
            <a:cxnLst/>
            <a:rect r="r" b="b" t="t" l="l"/>
            <a:pathLst>
              <a:path h="1010271" w="1017191">
                <a:moveTo>
                  <a:pt x="0" y="0"/>
                </a:moveTo>
                <a:lnTo>
                  <a:pt x="1017191" y="0"/>
                </a:lnTo>
                <a:lnTo>
                  <a:pt x="1017191" y="1010271"/>
                </a:lnTo>
                <a:lnTo>
                  <a:pt x="0" y="1010271"/>
                </a:lnTo>
                <a:lnTo>
                  <a:pt x="0" y="0"/>
                </a:lnTo>
                <a:close/>
              </a:path>
            </a:pathLst>
          </a:custGeom>
          <a:blipFill>
            <a:blip r:embed="rId4"/>
            <a:stretch>
              <a:fillRect l="-8797" t="-66863" r="-261858" b="-81932"/>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97580" y="3335774"/>
            <a:ext cx="6928639" cy="5736046"/>
          </a:xfrm>
          <a:prstGeom prst="rect">
            <a:avLst/>
          </a:prstGeom>
        </p:spPr>
        <p:txBody>
          <a:bodyPr anchor="t" rtlCol="false" tIns="0" lIns="0" bIns="0" rIns="0">
            <a:spAutoFit/>
          </a:bodyPr>
          <a:lstStyle/>
          <a:p>
            <a:pPr algn="just">
              <a:lnSpc>
                <a:spcPts val="1928"/>
              </a:lnSpc>
            </a:pPr>
            <a:r>
              <a:rPr lang="en-US" sz="1377">
                <a:solidFill>
                  <a:srgbClr val="F7FBF8"/>
                </a:solidFill>
                <a:latin typeface="Avenir"/>
                <a:ea typeface="Avenir"/>
                <a:cs typeface="Avenir"/>
                <a:sym typeface="Avenir"/>
              </a:rPr>
              <a:t>Investigations will be carried out to establish where possible the extent of reuse, including</a:t>
            </a:r>
          </a:p>
          <a:p>
            <a:pPr algn="just">
              <a:lnSpc>
                <a:spcPts val="1928"/>
              </a:lnSpc>
            </a:pPr>
            <a:r>
              <a:rPr lang="en-US" sz="1377">
                <a:solidFill>
                  <a:srgbClr val="F7FBF8"/>
                </a:solidFill>
                <a:latin typeface="Avenir"/>
                <a:ea typeface="Avenir"/>
                <a:cs typeface="Avenir"/>
                <a:sym typeface="Avenir"/>
              </a:rPr>
              <a:t>reuse of materials and components from other projects (whether of major assemblies – e.g.</a:t>
            </a:r>
          </a:p>
          <a:p>
            <a:pPr algn="just">
              <a:lnSpc>
                <a:spcPts val="1928"/>
              </a:lnSpc>
            </a:pPr>
            <a:r>
              <a:rPr lang="en-US" sz="1377">
                <a:solidFill>
                  <a:srgbClr val="F7FBF8"/>
                </a:solidFill>
                <a:latin typeface="Avenir"/>
                <a:ea typeface="Avenir"/>
                <a:cs typeface="Avenir"/>
                <a:sym typeface="Avenir"/>
              </a:rPr>
              <a:t>structural steel frame – components, materials, etc.), and its practicality as early as possible.</a:t>
            </a:r>
          </a:p>
          <a:p>
            <a:pPr algn="just">
              <a:lnSpc>
                <a:spcPts val="1928"/>
              </a:lnSpc>
            </a:pPr>
            <a:r>
              <a:rPr lang="en-US" sz="1377">
                <a:solidFill>
                  <a:srgbClr val="F7FBF8"/>
                </a:solidFill>
                <a:latin typeface="Avenir"/>
                <a:ea typeface="Avenir"/>
                <a:cs typeface="Avenir"/>
                <a:sym typeface="Avenir"/>
              </a:rPr>
              <a:t>Throughout this process, carbon impacts will also be considered to ensure they are not</a:t>
            </a:r>
          </a:p>
          <a:p>
            <a:pPr algn="just">
              <a:lnSpc>
                <a:spcPts val="1928"/>
              </a:lnSpc>
            </a:pPr>
            <a:r>
              <a:rPr lang="en-US" sz="1377">
                <a:solidFill>
                  <a:srgbClr val="F7FBF8"/>
                </a:solidFill>
                <a:latin typeface="Avenir"/>
                <a:ea typeface="Avenir"/>
                <a:cs typeface="Avenir"/>
                <a:sym typeface="Avenir"/>
              </a:rPr>
              <a:t>compromised in material selection.</a:t>
            </a:r>
          </a:p>
          <a:p>
            <a:pPr algn="just">
              <a:lnSpc>
                <a:spcPts val="1928"/>
              </a:lnSpc>
            </a:pPr>
          </a:p>
          <a:p>
            <a:pPr algn="just">
              <a:lnSpc>
                <a:spcPts val="1928"/>
              </a:lnSpc>
            </a:pPr>
            <a:r>
              <a:rPr lang="en-US" sz="1377">
                <a:solidFill>
                  <a:srgbClr val="F7FBF8"/>
                </a:solidFill>
                <a:latin typeface="Avenir"/>
                <a:ea typeface="Avenir"/>
                <a:cs typeface="Avenir"/>
                <a:sym typeface="Avenir"/>
              </a:rPr>
              <a:t>Site Waste Management</a:t>
            </a:r>
          </a:p>
          <a:p>
            <a:pPr algn="just">
              <a:lnSpc>
                <a:spcPts val="1928"/>
              </a:lnSpc>
            </a:pPr>
          </a:p>
          <a:p>
            <a:pPr algn="just">
              <a:lnSpc>
                <a:spcPts val="1928"/>
              </a:lnSpc>
            </a:pPr>
            <a:r>
              <a:rPr lang="en-US" b="true" sz="1377">
                <a:solidFill>
                  <a:srgbClr val="F7FBF8"/>
                </a:solidFill>
                <a:latin typeface="Avenir Bold"/>
                <a:ea typeface="Avenir Bold"/>
                <a:cs typeface="Avenir Bold"/>
                <a:sym typeface="Avenir Bold"/>
              </a:rPr>
              <a:t>Reuse and recycling general requirements and targets</a:t>
            </a:r>
          </a:p>
          <a:p>
            <a:pPr algn="just">
              <a:lnSpc>
                <a:spcPts val="1928"/>
              </a:lnSpc>
            </a:pPr>
          </a:p>
          <a:p>
            <a:pPr algn="just" marL="297356" indent="-148678" lvl="1">
              <a:lnSpc>
                <a:spcPts val="1928"/>
              </a:lnSpc>
              <a:buAutoNum type="arabicPeriod" startAt="1"/>
            </a:pPr>
            <a:r>
              <a:rPr lang="en-US" sz="1377">
                <a:solidFill>
                  <a:srgbClr val="F7FBF8"/>
                </a:solidFill>
                <a:latin typeface="Avenir"/>
                <a:ea typeface="Avenir"/>
                <a:cs typeface="Avenir"/>
                <a:sym typeface="Avenir"/>
              </a:rPr>
              <a:t>The principal contractor will divert &gt;99% of (non- hazardous) strip-out waste from landfill. i.e. to be reused or recycled</a:t>
            </a:r>
          </a:p>
          <a:p>
            <a:pPr algn="just" marL="297356" indent="-148678" lvl="1">
              <a:lnSpc>
                <a:spcPts val="1928"/>
              </a:lnSpc>
              <a:buAutoNum type="arabicPeriod" startAt="1"/>
            </a:pPr>
            <a:r>
              <a:rPr lang="en-US" sz="1377">
                <a:solidFill>
                  <a:srgbClr val="F7FBF8"/>
                </a:solidFill>
                <a:latin typeface="Avenir"/>
                <a:ea typeface="Avenir"/>
                <a:cs typeface="Avenir"/>
                <a:sym typeface="Avenir"/>
              </a:rPr>
              <a:t>The principal contractor will find reuse pathways for as much material as possible. Each project should achieve or exceed 20% by volume, or 30% by weight of stripped out material to be reused on-site or elsewhere.</a:t>
            </a:r>
          </a:p>
          <a:p>
            <a:pPr algn="just" marL="297356" indent="-148678" lvl="1">
              <a:lnSpc>
                <a:spcPts val="1928"/>
              </a:lnSpc>
              <a:buAutoNum type="arabicPeriod" startAt="1"/>
            </a:pPr>
            <a:r>
              <a:rPr lang="en-US" sz="1377">
                <a:solidFill>
                  <a:srgbClr val="F7FBF8"/>
                </a:solidFill>
                <a:latin typeface="Avenir"/>
                <a:ea typeface="Avenir"/>
                <a:cs typeface="Avenir"/>
                <a:sym typeface="Avenir"/>
              </a:rPr>
              <a:t> Waste not sent to reuse pathways will be separated and sorted into key waste groups as per either on-site or through a licensed contractor for recycling or recovery.</a:t>
            </a:r>
          </a:p>
          <a:p>
            <a:pPr algn="just" marL="297356" indent="-148678" lvl="1">
              <a:lnSpc>
                <a:spcPts val="1928"/>
              </a:lnSpc>
              <a:buAutoNum type="arabicPeriod" startAt="1"/>
            </a:pPr>
            <a:r>
              <a:rPr lang="en-US" sz="1377">
                <a:solidFill>
                  <a:srgbClr val="F7FBF8"/>
                </a:solidFill>
                <a:latin typeface="Avenir"/>
                <a:ea typeface="Avenir"/>
                <a:cs typeface="Avenir"/>
                <a:sym typeface="Avenir"/>
              </a:rPr>
              <a:t>The principal contractor will send stripped out materials to pathways prioritised by the waste preference hierarchy</a:t>
            </a:r>
          </a:p>
          <a:p>
            <a:pPr algn="just">
              <a:lnSpc>
                <a:spcPts val="1928"/>
              </a:lnSpc>
            </a:pPr>
          </a:p>
        </p:txBody>
      </p:sp>
      <p:sp>
        <p:nvSpPr>
          <p:cNvPr name="TextBox 4" id="4"/>
          <p:cNvSpPr txBox="true"/>
          <p:nvPr/>
        </p:nvSpPr>
        <p:spPr>
          <a:xfrm rot="0">
            <a:off x="1927579" y="762542"/>
            <a:ext cx="5399874" cy="1733457"/>
          </a:xfrm>
          <a:prstGeom prst="rect">
            <a:avLst/>
          </a:prstGeom>
        </p:spPr>
        <p:txBody>
          <a:bodyPr anchor="t" rtlCol="false" tIns="0" lIns="0" bIns="0" rIns="0">
            <a:spAutoFit/>
          </a:bodyPr>
          <a:lstStyle/>
          <a:p>
            <a:pPr algn="l" marL="0" indent="0" lvl="1">
              <a:lnSpc>
                <a:spcPts val="4497"/>
              </a:lnSpc>
              <a:spcBef>
                <a:spcPct val="0"/>
              </a:spcBef>
            </a:pPr>
            <a:r>
              <a:rPr lang="en-US" sz="4997" spc="-249">
                <a:solidFill>
                  <a:srgbClr val="F7FBF8"/>
                </a:solidFill>
                <a:latin typeface="DM Sans"/>
                <a:ea typeface="DM Sans"/>
                <a:cs typeface="DM Sans"/>
                <a:sym typeface="DM Sans"/>
              </a:rPr>
              <a:t>Early Investigations for Sustainable Material </a:t>
            </a:r>
            <a:r>
              <a:rPr lang="en-US" sz="4997" spc="-249">
                <a:solidFill>
                  <a:srgbClr val="A4CE3E"/>
                </a:solidFill>
                <a:latin typeface="DM Sans"/>
                <a:ea typeface="DM Sans"/>
                <a:cs typeface="DM Sans"/>
                <a:sym typeface="DM Sans"/>
              </a:rPr>
              <a:t>Recovery</a:t>
            </a:r>
          </a:p>
        </p:txBody>
      </p:sp>
      <p:sp>
        <p:nvSpPr>
          <p:cNvPr name="AutoShape 5" id="5"/>
          <p:cNvSpPr/>
          <p:nvPr/>
        </p:nvSpPr>
        <p:spPr>
          <a:xfrm flipH="true" flipV="true">
            <a:off x="1927579" y="2726174"/>
            <a:ext cx="4519233" cy="0"/>
          </a:xfrm>
          <a:prstGeom prst="line">
            <a:avLst/>
          </a:prstGeom>
          <a:ln cap="flat" w="19050">
            <a:solidFill>
              <a:srgbClr val="A3CF3E"/>
            </a:solidFill>
            <a:prstDash val="solid"/>
            <a:headEnd type="none" len="sm" w="sm"/>
            <a:tailEnd type="none" len="sm" w="sm"/>
          </a:ln>
        </p:spPr>
      </p:sp>
      <p:sp>
        <p:nvSpPr>
          <p:cNvPr name="Freeform 6" id="6"/>
          <p:cNvSpPr/>
          <p:nvPr/>
        </p:nvSpPr>
        <p:spPr>
          <a:xfrm flipH="false" flipV="false" rot="0">
            <a:off x="17259300" y="228726"/>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7" id="7"/>
          <p:cNvSpPr/>
          <p:nvPr/>
        </p:nvSpPr>
        <p:spPr>
          <a:xfrm flipH="false" flipV="false" rot="0">
            <a:off x="497580" y="1004169"/>
            <a:ext cx="1062239" cy="1055013"/>
          </a:xfrm>
          <a:custGeom>
            <a:avLst/>
            <a:gdLst/>
            <a:ahLst/>
            <a:cxnLst/>
            <a:rect r="r" b="b" t="t" l="l"/>
            <a:pathLst>
              <a:path h="1055013" w="1062239">
                <a:moveTo>
                  <a:pt x="0" y="0"/>
                </a:moveTo>
                <a:lnTo>
                  <a:pt x="1062240" y="0"/>
                </a:lnTo>
                <a:lnTo>
                  <a:pt x="1062240" y="1055013"/>
                </a:lnTo>
                <a:lnTo>
                  <a:pt x="0" y="1055013"/>
                </a:lnTo>
                <a:lnTo>
                  <a:pt x="0" y="0"/>
                </a:lnTo>
                <a:close/>
              </a:path>
            </a:pathLst>
          </a:custGeom>
          <a:blipFill>
            <a:blip r:embed="rId4"/>
            <a:stretch>
              <a:fillRect l="-8797" t="-66863" r="-261858" b="-81932"/>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43301" y="3443835"/>
            <a:ext cx="7995765" cy="4561205"/>
          </a:xfrm>
          <a:prstGeom prst="rect">
            <a:avLst/>
          </a:prstGeom>
        </p:spPr>
        <p:txBody>
          <a:bodyPr anchor="t" rtlCol="false" tIns="0" lIns="0" bIns="0" rIns="0">
            <a:spAutoFit/>
          </a:bodyPr>
          <a:lstStyle/>
          <a:p>
            <a:pPr algn="just">
              <a:lnSpc>
                <a:spcPts val="2170"/>
              </a:lnSpc>
            </a:pPr>
            <a:r>
              <a:rPr lang="en-US" sz="1550" b="true">
                <a:solidFill>
                  <a:srgbClr val="A4CE3E"/>
                </a:solidFill>
                <a:latin typeface="Avenir Bold"/>
                <a:ea typeface="Avenir Bold"/>
                <a:cs typeface="Avenir Bold"/>
                <a:sym typeface="Avenir Bold"/>
              </a:rPr>
              <a:t>What counts as reuse?</a:t>
            </a:r>
          </a:p>
          <a:p>
            <a:pPr algn="just">
              <a:lnSpc>
                <a:spcPts val="2170"/>
              </a:lnSpc>
            </a:pPr>
          </a:p>
          <a:p>
            <a:pPr algn="just">
              <a:lnSpc>
                <a:spcPts val="2170"/>
              </a:lnSpc>
            </a:pPr>
            <a:r>
              <a:rPr lang="en-US" sz="1550">
                <a:solidFill>
                  <a:srgbClr val="F7FBF8"/>
                </a:solidFill>
                <a:latin typeface="Avenir"/>
                <a:ea typeface="Avenir"/>
                <a:cs typeface="Avenir"/>
                <a:sym typeface="Avenir"/>
              </a:rPr>
              <a:t>It’s important to understand that recycling is not reuse. Reuse of materials keeps the material in high grade form. Any processing required doesn’t reduce the material to a significantly lower grade of material.</a:t>
            </a:r>
          </a:p>
          <a:p>
            <a:pPr algn="just">
              <a:lnSpc>
                <a:spcPts val="2170"/>
              </a:lnSpc>
            </a:pPr>
          </a:p>
          <a:p>
            <a:pPr algn="just" marL="334646" indent="-167323" lvl="1">
              <a:lnSpc>
                <a:spcPts val="2170"/>
              </a:lnSpc>
              <a:buFont typeface="Arial"/>
              <a:buChar char="•"/>
            </a:pPr>
            <a:r>
              <a:rPr lang="en-US" sz="1550">
                <a:solidFill>
                  <a:srgbClr val="F7FBF8"/>
                </a:solidFill>
                <a:latin typeface="Avenir"/>
                <a:ea typeface="Avenir"/>
                <a:cs typeface="Avenir"/>
                <a:sym typeface="Avenir"/>
              </a:rPr>
              <a:t>Reuse or redistribute: Products that are in technically good condition, that can be removed and reused multiple times, either on site or redistributed to new users in their original form with little enhancement or change.</a:t>
            </a:r>
          </a:p>
          <a:p>
            <a:pPr algn="just">
              <a:lnSpc>
                <a:spcPts val="2170"/>
              </a:lnSpc>
            </a:pPr>
          </a:p>
          <a:p>
            <a:pPr algn="just" marL="334646" indent="-167323" lvl="1">
              <a:lnSpc>
                <a:spcPts val="2170"/>
              </a:lnSpc>
              <a:buFont typeface="Arial"/>
              <a:buChar char="•"/>
            </a:pPr>
            <a:r>
              <a:rPr lang="en-US" sz="1550">
                <a:solidFill>
                  <a:srgbClr val="F7FBF8"/>
                </a:solidFill>
                <a:latin typeface="Avenir"/>
                <a:ea typeface="Avenir"/>
                <a:cs typeface="Avenir"/>
                <a:sym typeface="Avenir"/>
              </a:rPr>
              <a:t>Refurbish or remanufacture: This is when a product is refurbished, its condition is improved – potentially to as-new e.g. Lighting. This can include disassembly and rebuild, replacing components where necessary, updating specifications, and improving cosmetic appearance. When a component is remanufactured, it is reengineered to as-new condition with the same warranty as a new component.</a:t>
            </a:r>
          </a:p>
          <a:p>
            <a:pPr algn="just">
              <a:lnSpc>
                <a:spcPts val="2170"/>
              </a:lnSpc>
            </a:pPr>
          </a:p>
          <a:p>
            <a:pPr algn="just">
              <a:lnSpc>
                <a:spcPts val="2170"/>
              </a:lnSpc>
            </a:pPr>
          </a:p>
        </p:txBody>
      </p:sp>
      <p:sp>
        <p:nvSpPr>
          <p:cNvPr name="TextBox 4" id="4"/>
          <p:cNvSpPr txBox="true"/>
          <p:nvPr/>
        </p:nvSpPr>
        <p:spPr>
          <a:xfrm rot="0">
            <a:off x="9735516" y="2830195"/>
            <a:ext cx="7995765" cy="6161405"/>
          </a:xfrm>
          <a:prstGeom prst="rect">
            <a:avLst/>
          </a:prstGeom>
        </p:spPr>
        <p:txBody>
          <a:bodyPr anchor="t" rtlCol="false" tIns="0" lIns="0" bIns="0" rIns="0">
            <a:spAutoFit/>
          </a:bodyPr>
          <a:lstStyle/>
          <a:p>
            <a:pPr algn="just">
              <a:lnSpc>
                <a:spcPts val="2170"/>
              </a:lnSpc>
            </a:pPr>
            <a:r>
              <a:rPr lang="en-US" sz="1550" b="true">
                <a:solidFill>
                  <a:srgbClr val="A4CE3E"/>
                </a:solidFill>
                <a:latin typeface="Avenir Bold"/>
                <a:ea typeface="Avenir Bold"/>
                <a:cs typeface="Avenir Bold"/>
                <a:sym typeface="Avenir Bold"/>
              </a:rPr>
              <a:t>Examples of reuse include the following:</a:t>
            </a:r>
          </a:p>
          <a:p>
            <a:pPr algn="just">
              <a:lnSpc>
                <a:spcPts val="2170"/>
              </a:lnSpc>
            </a:pPr>
          </a:p>
          <a:p>
            <a:pPr algn="just" marL="334646" indent="-167323" lvl="1">
              <a:lnSpc>
                <a:spcPts val="2170"/>
              </a:lnSpc>
              <a:buFont typeface="Arial"/>
              <a:buChar char="•"/>
            </a:pPr>
            <a:r>
              <a:rPr lang="en-US" sz="1550">
                <a:solidFill>
                  <a:srgbClr val="F7FBF8"/>
                </a:solidFill>
                <a:latin typeface="Avenir"/>
                <a:ea typeface="Avenir"/>
                <a:cs typeface="Avenir"/>
                <a:sym typeface="Avenir"/>
              </a:rPr>
              <a:t>reusing timber for concrete shuttering or other temporary works</a:t>
            </a:r>
          </a:p>
          <a:p>
            <a:pPr algn="just" marL="334646" indent="-167323" lvl="1">
              <a:lnSpc>
                <a:spcPts val="2170"/>
              </a:lnSpc>
              <a:buFont typeface="Arial"/>
              <a:buChar char="•"/>
            </a:pPr>
            <a:r>
              <a:rPr lang="en-US" sz="1550">
                <a:solidFill>
                  <a:srgbClr val="F7FBF8"/>
                </a:solidFill>
                <a:latin typeface="Avenir"/>
                <a:ea typeface="Avenir"/>
                <a:cs typeface="Avenir"/>
                <a:sym typeface="Avenir"/>
              </a:rPr>
              <a:t>refurbishing M&amp;E items such as light fittings or AC units for future use</a:t>
            </a:r>
          </a:p>
          <a:p>
            <a:pPr algn="just" marL="334646" indent="-167323" lvl="1">
              <a:lnSpc>
                <a:spcPts val="2170"/>
              </a:lnSpc>
              <a:buFont typeface="Arial"/>
              <a:buChar char="•"/>
            </a:pPr>
            <a:r>
              <a:rPr lang="en-US" sz="1550">
                <a:solidFill>
                  <a:srgbClr val="F7FBF8"/>
                </a:solidFill>
                <a:latin typeface="Avenir"/>
                <a:ea typeface="Avenir"/>
                <a:cs typeface="Avenir"/>
                <a:sym typeface="Avenir"/>
              </a:rPr>
              <a:t>re-purposing metal electrical trunking as a raw material to make furniture or other items</a:t>
            </a:r>
          </a:p>
          <a:p>
            <a:pPr algn="just" marL="334646" indent="-167323" lvl="1">
              <a:lnSpc>
                <a:spcPts val="2170"/>
              </a:lnSpc>
              <a:buFont typeface="Arial"/>
              <a:buChar char="•"/>
            </a:pPr>
            <a:r>
              <a:rPr lang="en-US" sz="1550">
                <a:solidFill>
                  <a:srgbClr val="F7FBF8"/>
                </a:solidFill>
                <a:latin typeface="Avenir"/>
                <a:ea typeface="Avenir"/>
                <a:cs typeface="Avenir"/>
                <a:sym typeface="Avenir"/>
              </a:rPr>
              <a:t>reusing cut reinforced concrete pieces for other purposes such as within gabions or for external paving</a:t>
            </a:r>
          </a:p>
          <a:p>
            <a:pPr algn="just">
              <a:lnSpc>
                <a:spcPts val="2170"/>
              </a:lnSpc>
            </a:pPr>
          </a:p>
          <a:p>
            <a:pPr algn="just">
              <a:lnSpc>
                <a:spcPts val="2170"/>
              </a:lnSpc>
            </a:pPr>
            <a:r>
              <a:rPr lang="en-US" sz="1550">
                <a:solidFill>
                  <a:srgbClr val="F7FBF8"/>
                </a:solidFill>
                <a:latin typeface="Avenir"/>
                <a:ea typeface="Avenir"/>
                <a:cs typeface="Avenir"/>
                <a:sym typeface="Avenir"/>
              </a:rPr>
              <a:t>Not</a:t>
            </a:r>
            <a:r>
              <a:rPr lang="en-US" sz="1550">
                <a:solidFill>
                  <a:srgbClr val="F7FBF8"/>
                </a:solidFill>
                <a:latin typeface="Avenir"/>
                <a:ea typeface="Avenir"/>
                <a:cs typeface="Avenir"/>
                <a:sym typeface="Avenir"/>
              </a:rPr>
              <a:t>e that selling or donating materials and products to buyers/beneficiaries who have the</a:t>
            </a:r>
          </a:p>
          <a:p>
            <a:pPr algn="just">
              <a:lnSpc>
                <a:spcPts val="2170"/>
              </a:lnSpc>
            </a:pPr>
            <a:r>
              <a:rPr lang="en-US" sz="1550">
                <a:solidFill>
                  <a:srgbClr val="F7FBF8"/>
                </a:solidFill>
                <a:latin typeface="Avenir"/>
                <a:ea typeface="Avenir"/>
                <a:cs typeface="Avenir"/>
                <a:sym typeface="Avenir"/>
              </a:rPr>
              <a:t>intention of putting the items to re-use would be classed as re-use, so long as the buyer/</a:t>
            </a:r>
          </a:p>
          <a:p>
            <a:pPr algn="just">
              <a:lnSpc>
                <a:spcPts val="2170"/>
              </a:lnSpc>
            </a:pPr>
            <a:r>
              <a:rPr lang="en-US" sz="1550">
                <a:solidFill>
                  <a:srgbClr val="F7FBF8"/>
                </a:solidFill>
                <a:latin typeface="Avenir"/>
                <a:ea typeface="Avenir"/>
                <a:cs typeface="Avenir"/>
                <a:sym typeface="Avenir"/>
              </a:rPr>
              <a:t>beneficiary can provide some credible evidence that re-use is their primary aim (for example an established business website or a letter of intent).</a:t>
            </a:r>
          </a:p>
          <a:p>
            <a:pPr algn="just">
              <a:lnSpc>
                <a:spcPts val="2170"/>
              </a:lnSpc>
            </a:pPr>
          </a:p>
          <a:p>
            <a:pPr algn="just">
              <a:lnSpc>
                <a:spcPts val="2170"/>
              </a:lnSpc>
            </a:pPr>
            <a:r>
              <a:rPr lang="en-US" sz="1550">
                <a:solidFill>
                  <a:srgbClr val="F7FBF8"/>
                </a:solidFill>
                <a:latin typeface="Avenir"/>
                <a:ea typeface="Avenir"/>
                <a:cs typeface="Avenir"/>
                <a:sym typeface="Avenir"/>
              </a:rPr>
              <a:t>F</a:t>
            </a:r>
            <a:r>
              <a:rPr lang="en-US" sz="1550">
                <a:solidFill>
                  <a:srgbClr val="F7FBF8"/>
                </a:solidFill>
                <a:latin typeface="Avenir"/>
                <a:ea typeface="Avenir"/>
                <a:cs typeface="Avenir"/>
                <a:sym typeface="Avenir"/>
              </a:rPr>
              <a:t>or example, selling or donating items to an established architectural salvage company</a:t>
            </a:r>
          </a:p>
          <a:p>
            <a:pPr algn="just">
              <a:lnSpc>
                <a:spcPts val="2170"/>
              </a:lnSpc>
            </a:pPr>
            <a:r>
              <a:rPr lang="en-US" sz="1550">
                <a:solidFill>
                  <a:srgbClr val="F7FBF8"/>
                </a:solidFill>
                <a:latin typeface="Avenir"/>
                <a:ea typeface="Avenir"/>
                <a:cs typeface="Avenir"/>
                <a:sym typeface="Avenir"/>
              </a:rPr>
              <a:t>who has a track record of stocking items for reuse would qualify as reuse, whereas selling/</a:t>
            </a:r>
          </a:p>
          <a:p>
            <a:pPr algn="just">
              <a:lnSpc>
                <a:spcPts val="2170"/>
              </a:lnSpc>
            </a:pPr>
            <a:r>
              <a:rPr lang="en-US" sz="1550">
                <a:solidFill>
                  <a:srgbClr val="F7FBF8"/>
                </a:solidFill>
                <a:latin typeface="Avenir"/>
                <a:ea typeface="Avenir"/>
                <a:cs typeface="Avenir"/>
                <a:sym typeface="Avenir"/>
              </a:rPr>
              <a:t>donating items to a scrap metal dealer whose primary activity is to serve the recycling</a:t>
            </a:r>
          </a:p>
          <a:p>
            <a:pPr algn="just">
              <a:lnSpc>
                <a:spcPts val="2170"/>
              </a:lnSpc>
            </a:pPr>
            <a:r>
              <a:rPr lang="en-US" sz="1550">
                <a:solidFill>
                  <a:srgbClr val="F7FBF8"/>
                </a:solidFill>
                <a:latin typeface="Avenir"/>
                <a:ea typeface="Avenir"/>
                <a:cs typeface="Avenir"/>
                <a:sym typeface="Avenir"/>
              </a:rPr>
              <a:t>industry would not. Selling or donating items to organisations or individuals (such as charities or businesses) would qualify if they provide written confirmation that they intend to reuse/repurpose (and not recycle or otherwise dispose of) the items.</a:t>
            </a:r>
          </a:p>
          <a:p>
            <a:pPr algn="just">
              <a:lnSpc>
                <a:spcPts val="2170"/>
              </a:lnSpc>
            </a:pPr>
          </a:p>
          <a:p>
            <a:pPr algn="just">
              <a:lnSpc>
                <a:spcPts val="2170"/>
              </a:lnSpc>
            </a:pPr>
          </a:p>
          <a:p>
            <a:pPr algn="just">
              <a:lnSpc>
                <a:spcPts val="2170"/>
              </a:lnSpc>
            </a:pPr>
          </a:p>
        </p:txBody>
      </p:sp>
      <p:sp>
        <p:nvSpPr>
          <p:cNvPr name="TextBox 5" id="5"/>
          <p:cNvSpPr txBox="true"/>
          <p:nvPr/>
        </p:nvSpPr>
        <p:spPr>
          <a:xfrm rot="0">
            <a:off x="1827750" y="1364917"/>
            <a:ext cx="7907766" cy="1327722"/>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Pathways to Divert Waste from Landfill - </a:t>
            </a:r>
            <a:r>
              <a:rPr lang="en-US" sz="5598" spc="-279">
                <a:solidFill>
                  <a:srgbClr val="A4CE3E"/>
                </a:solidFill>
                <a:latin typeface="DM Sans"/>
                <a:ea typeface="DM Sans"/>
                <a:cs typeface="DM Sans"/>
                <a:sym typeface="DM Sans"/>
              </a:rPr>
              <a:t>Reuse</a:t>
            </a:r>
          </a:p>
        </p:txBody>
      </p:sp>
      <p:sp>
        <p:nvSpPr>
          <p:cNvPr name="AutoShape 6" id="6"/>
          <p:cNvSpPr/>
          <p:nvPr/>
        </p:nvSpPr>
        <p:spPr>
          <a:xfrm flipH="true" flipV="true">
            <a:off x="1827750" y="3101574"/>
            <a:ext cx="4519233" cy="0"/>
          </a:xfrm>
          <a:prstGeom prst="line">
            <a:avLst/>
          </a:prstGeom>
          <a:ln cap="flat" w="19050">
            <a:solidFill>
              <a:srgbClr val="A3CF3E"/>
            </a:solidFill>
            <a:prstDash val="solid"/>
            <a:headEnd type="none" len="sm" w="sm"/>
            <a:tailEnd type="none" len="sm" w="sm"/>
          </a:ln>
        </p:spPr>
      </p:sp>
      <p:sp>
        <p:nvSpPr>
          <p:cNvPr name="AutoShape 7" id="7"/>
          <p:cNvSpPr/>
          <p:nvPr/>
        </p:nvSpPr>
        <p:spPr>
          <a:xfrm>
            <a:off x="9139141" y="3266403"/>
            <a:ext cx="0" cy="5397291"/>
          </a:xfrm>
          <a:prstGeom prst="line">
            <a:avLst/>
          </a:prstGeom>
          <a:ln cap="flat" w="19050">
            <a:solidFill>
              <a:srgbClr val="A3CF3E"/>
            </a:solidFill>
            <a:prstDash val="solid"/>
            <a:headEnd type="none" len="sm" w="sm"/>
            <a:tailEnd type="none" len="sm" w="sm"/>
          </a:ln>
        </p:spPr>
      </p:sp>
      <p:sp>
        <p:nvSpPr>
          <p:cNvPr name="Freeform 8" id="8"/>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9" id="9"/>
          <p:cNvSpPr/>
          <p:nvPr/>
        </p:nvSpPr>
        <p:spPr>
          <a:xfrm flipH="false" flipV="false" rot="0">
            <a:off x="497580" y="1420309"/>
            <a:ext cx="1062239" cy="1055013"/>
          </a:xfrm>
          <a:custGeom>
            <a:avLst/>
            <a:gdLst/>
            <a:ahLst/>
            <a:cxnLst/>
            <a:rect r="r" b="b" t="t" l="l"/>
            <a:pathLst>
              <a:path h="1055013" w="1062239">
                <a:moveTo>
                  <a:pt x="0" y="0"/>
                </a:moveTo>
                <a:lnTo>
                  <a:pt x="1062240" y="0"/>
                </a:lnTo>
                <a:lnTo>
                  <a:pt x="1062240" y="1055013"/>
                </a:lnTo>
                <a:lnTo>
                  <a:pt x="0" y="1055013"/>
                </a:lnTo>
                <a:lnTo>
                  <a:pt x="0" y="0"/>
                </a:lnTo>
                <a:close/>
              </a:path>
            </a:pathLst>
          </a:custGeom>
          <a:blipFill>
            <a:blip r:embed="rId4"/>
            <a:stretch>
              <a:fillRect l="-8797" t="-66863" r="-261858" b="-81932"/>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53111" y="2842552"/>
            <a:ext cx="7995765" cy="6961505"/>
          </a:xfrm>
          <a:prstGeom prst="rect">
            <a:avLst/>
          </a:prstGeom>
        </p:spPr>
        <p:txBody>
          <a:bodyPr anchor="t" rtlCol="false" tIns="0" lIns="0" bIns="0" rIns="0">
            <a:spAutoFit/>
          </a:bodyPr>
          <a:lstStyle/>
          <a:p>
            <a:pPr algn="just">
              <a:lnSpc>
                <a:spcPts val="2170"/>
              </a:lnSpc>
            </a:pPr>
            <a:r>
              <a:rPr lang="en-US" sz="1550" b="true">
                <a:solidFill>
                  <a:srgbClr val="A4CE3E"/>
                </a:solidFill>
                <a:latin typeface="Avenir Bold"/>
                <a:ea typeface="Avenir Bold"/>
                <a:cs typeface="Avenir Bold"/>
                <a:sym typeface="Avenir Bold"/>
              </a:rPr>
              <a:t>Wh</a:t>
            </a:r>
            <a:r>
              <a:rPr lang="en-US" sz="1550" b="true">
                <a:solidFill>
                  <a:srgbClr val="A4CE3E"/>
                </a:solidFill>
                <a:latin typeface="Avenir Bold"/>
                <a:ea typeface="Avenir Bold"/>
                <a:cs typeface="Avenir Bold"/>
                <a:sym typeface="Avenir Bold"/>
              </a:rPr>
              <a:t>at counts as recycling?</a:t>
            </a:r>
          </a:p>
          <a:p>
            <a:pPr algn="just">
              <a:lnSpc>
                <a:spcPts val="2170"/>
              </a:lnSpc>
            </a:pPr>
          </a:p>
          <a:p>
            <a:pPr algn="just">
              <a:lnSpc>
                <a:spcPts val="2170"/>
              </a:lnSpc>
            </a:pPr>
            <a:r>
              <a:rPr lang="en-US" sz="1550">
                <a:solidFill>
                  <a:srgbClr val="F7FBF8"/>
                </a:solidFill>
                <a:latin typeface="Avenir"/>
                <a:ea typeface="Avenir"/>
                <a:cs typeface="Avenir"/>
                <a:sym typeface="Avenir"/>
              </a:rPr>
              <a:t>Recycling reduces a product or a material to its granular level to be reprocessed and made into new products, components or materials.</a:t>
            </a:r>
          </a:p>
          <a:p>
            <a:pPr algn="just">
              <a:lnSpc>
                <a:spcPts val="2170"/>
              </a:lnSpc>
            </a:pPr>
          </a:p>
          <a:p>
            <a:pPr algn="just">
              <a:lnSpc>
                <a:spcPts val="2170"/>
              </a:lnSpc>
            </a:pPr>
            <a:r>
              <a:rPr lang="en-US" sz="1550">
                <a:solidFill>
                  <a:srgbClr val="F7FBF8"/>
                </a:solidFill>
                <a:latin typeface="Avenir"/>
                <a:ea typeface="Avenir"/>
                <a:cs typeface="Avenir"/>
                <a:sym typeface="Avenir"/>
              </a:rPr>
              <a:t>Examples of recycling, that don’t qualify as reuse (because the materials are too degraded</a:t>
            </a:r>
          </a:p>
          <a:p>
            <a:pPr algn="just">
              <a:lnSpc>
                <a:spcPts val="2170"/>
              </a:lnSpc>
            </a:pPr>
            <a:r>
              <a:rPr lang="en-US" sz="1550">
                <a:solidFill>
                  <a:srgbClr val="F7FBF8"/>
                </a:solidFill>
                <a:latin typeface="Avenir"/>
                <a:ea typeface="Avenir"/>
                <a:cs typeface="Avenir"/>
                <a:sym typeface="Avenir"/>
              </a:rPr>
              <a:t>prior to new use/formation) include the following:</a:t>
            </a:r>
          </a:p>
          <a:p>
            <a:pPr algn="just" marL="334646" indent="-167323" lvl="1">
              <a:lnSpc>
                <a:spcPts val="2170"/>
              </a:lnSpc>
              <a:buFont typeface="Arial"/>
              <a:buChar char="•"/>
            </a:pPr>
            <a:r>
              <a:rPr lang="en-US" sz="1550">
                <a:solidFill>
                  <a:srgbClr val="F7FBF8"/>
                </a:solidFill>
                <a:latin typeface="Avenir"/>
                <a:ea typeface="Avenir"/>
                <a:cs typeface="Avenir"/>
                <a:sym typeface="Avenir"/>
              </a:rPr>
              <a:t>crushing concrete and using it as Recycled Aggregate (RA) in new concrete or Recycled Concrete Aggregate (RCA) or road base</a:t>
            </a:r>
          </a:p>
          <a:p>
            <a:pPr algn="just" marL="334646" indent="-167323" lvl="1">
              <a:lnSpc>
                <a:spcPts val="2170"/>
              </a:lnSpc>
              <a:buFont typeface="Arial"/>
              <a:buChar char="•"/>
            </a:pPr>
            <a:r>
              <a:rPr lang="en-US" sz="1550">
                <a:solidFill>
                  <a:srgbClr val="F7FBF8"/>
                </a:solidFill>
                <a:latin typeface="Avenir"/>
                <a:ea typeface="Avenir"/>
                <a:cs typeface="Avenir"/>
                <a:sym typeface="Avenir"/>
              </a:rPr>
              <a:t>melting metals for forming into new metals</a:t>
            </a:r>
          </a:p>
          <a:p>
            <a:pPr algn="just" marL="334646" indent="-167323" lvl="1">
              <a:lnSpc>
                <a:spcPts val="2170"/>
              </a:lnSpc>
              <a:buFont typeface="Arial"/>
              <a:buChar char="•"/>
            </a:pPr>
            <a:r>
              <a:rPr lang="en-US" sz="1550">
                <a:solidFill>
                  <a:srgbClr val="F7FBF8"/>
                </a:solidFill>
                <a:latin typeface="Avenir"/>
                <a:ea typeface="Avenir"/>
                <a:cs typeface="Avenir"/>
                <a:sym typeface="Avenir"/>
              </a:rPr>
              <a:t>vinyl take-back schemes by manufacturers.</a:t>
            </a:r>
          </a:p>
          <a:p>
            <a:pPr algn="just">
              <a:lnSpc>
                <a:spcPts val="2170"/>
              </a:lnSpc>
            </a:pPr>
          </a:p>
          <a:p>
            <a:pPr algn="just">
              <a:lnSpc>
                <a:spcPts val="2170"/>
              </a:lnSpc>
            </a:pPr>
            <a:r>
              <a:rPr lang="en-US" sz="1550">
                <a:solidFill>
                  <a:srgbClr val="F7FBF8"/>
                </a:solidFill>
                <a:latin typeface="Avenir"/>
                <a:ea typeface="Avenir"/>
                <a:cs typeface="Avenir"/>
                <a:sym typeface="Avenir"/>
              </a:rPr>
              <a:t>Waste to energy (e.g. incarnation CHP) is classed as recycling, however it is the least</a:t>
            </a:r>
          </a:p>
          <a:p>
            <a:pPr algn="just">
              <a:lnSpc>
                <a:spcPts val="2170"/>
              </a:lnSpc>
            </a:pPr>
            <a:r>
              <a:rPr lang="en-US" sz="1550">
                <a:solidFill>
                  <a:srgbClr val="F7FBF8"/>
                </a:solidFill>
                <a:latin typeface="Avenir"/>
                <a:ea typeface="Avenir"/>
                <a:cs typeface="Avenir"/>
                <a:sym typeface="Avenir"/>
              </a:rPr>
              <a:t>desirable form of recycling as energy is considered a lower grade product than an object or material that can be put to use. Where possible Principal Contractor’s prioritises material recycling in preference to waste to energy recycling pathways.</a:t>
            </a:r>
          </a:p>
          <a:p>
            <a:pPr algn="just">
              <a:lnSpc>
                <a:spcPts val="2170"/>
              </a:lnSpc>
            </a:pPr>
          </a:p>
          <a:p>
            <a:pPr algn="just">
              <a:lnSpc>
                <a:spcPts val="2170"/>
              </a:lnSpc>
            </a:pPr>
            <a:r>
              <a:rPr lang="en-US" sz="1550">
                <a:solidFill>
                  <a:srgbClr val="F7FBF8"/>
                </a:solidFill>
                <a:latin typeface="Avenir"/>
                <a:ea typeface="Avenir"/>
                <a:cs typeface="Avenir"/>
                <a:sym typeface="Avenir"/>
              </a:rPr>
              <a:t>Principal Contractor will ensure that waste is transferred to authorised organisation/persons for recycling and waste transfer notes are evidenced containing:</a:t>
            </a:r>
          </a:p>
          <a:p>
            <a:pPr algn="just" marL="334646" indent="-167323" lvl="1">
              <a:lnSpc>
                <a:spcPts val="2170"/>
              </a:lnSpc>
              <a:buFont typeface="Arial"/>
              <a:buChar char="•"/>
            </a:pPr>
            <a:r>
              <a:rPr lang="en-US" sz="1550">
                <a:solidFill>
                  <a:srgbClr val="F7FBF8"/>
                </a:solidFill>
                <a:latin typeface="Avenir"/>
                <a:ea typeface="Avenir"/>
                <a:cs typeface="Avenir"/>
                <a:sym typeface="Avenir"/>
              </a:rPr>
              <a:t>Description of the waste including European Waste Catalogue (EWC) codes</a:t>
            </a:r>
          </a:p>
          <a:p>
            <a:pPr algn="just" marL="334646" indent="-167323" lvl="1">
              <a:lnSpc>
                <a:spcPts val="2170"/>
              </a:lnSpc>
              <a:buFont typeface="Arial"/>
              <a:buChar char="•"/>
            </a:pPr>
            <a:r>
              <a:rPr lang="en-US" sz="1550">
                <a:solidFill>
                  <a:srgbClr val="F7FBF8"/>
                </a:solidFill>
                <a:latin typeface="Avenir"/>
                <a:ea typeface="Avenir"/>
                <a:cs typeface="Avenir"/>
                <a:sym typeface="Avenir"/>
              </a:rPr>
              <a:t>Contractor information (including the address of the final destination of the waste);</a:t>
            </a:r>
          </a:p>
          <a:p>
            <a:pPr algn="just" marL="334646" indent="-167323" lvl="1">
              <a:lnSpc>
                <a:spcPts val="2170"/>
              </a:lnSpc>
              <a:buFont typeface="Arial"/>
              <a:buChar char="•"/>
            </a:pPr>
            <a:r>
              <a:rPr lang="en-US" sz="1550">
                <a:solidFill>
                  <a:srgbClr val="F7FBF8"/>
                </a:solidFill>
                <a:latin typeface="Avenir"/>
                <a:ea typeface="Avenir"/>
                <a:cs typeface="Avenir"/>
                <a:sym typeface="Avenir"/>
              </a:rPr>
              <a:t>Consignee information;</a:t>
            </a:r>
          </a:p>
          <a:p>
            <a:pPr algn="just" marL="334646" indent="-167323" lvl="1">
              <a:lnSpc>
                <a:spcPts val="2170"/>
              </a:lnSpc>
              <a:buFont typeface="Arial"/>
              <a:buChar char="•"/>
            </a:pPr>
            <a:r>
              <a:rPr lang="en-US" sz="1550">
                <a:solidFill>
                  <a:srgbClr val="F7FBF8"/>
                </a:solidFill>
                <a:latin typeface="Avenir"/>
                <a:ea typeface="Avenir"/>
                <a:cs typeface="Avenir"/>
                <a:sym typeface="Avenir"/>
              </a:rPr>
              <a:t>Date and signature of both parties.</a:t>
            </a:r>
          </a:p>
          <a:p>
            <a:pPr algn="just">
              <a:lnSpc>
                <a:spcPts val="2170"/>
              </a:lnSpc>
            </a:pPr>
          </a:p>
          <a:p>
            <a:pPr algn="just">
              <a:lnSpc>
                <a:spcPts val="2170"/>
              </a:lnSpc>
            </a:pPr>
          </a:p>
          <a:p>
            <a:pPr algn="just">
              <a:lnSpc>
                <a:spcPts val="2170"/>
              </a:lnSpc>
            </a:pPr>
          </a:p>
        </p:txBody>
      </p:sp>
      <p:sp>
        <p:nvSpPr>
          <p:cNvPr name="TextBox 4" id="4"/>
          <p:cNvSpPr txBox="true"/>
          <p:nvPr/>
        </p:nvSpPr>
        <p:spPr>
          <a:xfrm rot="0">
            <a:off x="9681243" y="2453008"/>
            <a:ext cx="7995765" cy="3761105"/>
          </a:xfrm>
          <a:prstGeom prst="rect">
            <a:avLst/>
          </a:prstGeom>
        </p:spPr>
        <p:txBody>
          <a:bodyPr anchor="t" rtlCol="false" tIns="0" lIns="0" bIns="0" rIns="0">
            <a:spAutoFit/>
          </a:bodyPr>
          <a:lstStyle/>
          <a:p>
            <a:pPr algn="just">
              <a:lnSpc>
                <a:spcPts val="2170"/>
              </a:lnSpc>
            </a:pPr>
            <a:r>
              <a:rPr lang="en-US" sz="1550">
                <a:solidFill>
                  <a:srgbClr val="F7FBF8"/>
                </a:solidFill>
                <a:latin typeface="Avenir"/>
                <a:ea typeface="Avenir"/>
                <a:cs typeface="Avenir"/>
                <a:sym typeface="Avenir"/>
              </a:rPr>
              <a:t>Pre-deconstruction audit</a:t>
            </a:r>
          </a:p>
          <a:p>
            <a:pPr algn="just">
              <a:lnSpc>
                <a:spcPts val="2170"/>
              </a:lnSpc>
            </a:pPr>
          </a:p>
          <a:p>
            <a:pPr algn="just">
              <a:lnSpc>
                <a:spcPts val="2170"/>
              </a:lnSpc>
            </a:pPr>
            <a:r>
              <a:rPr lang="en-US" sz="1550">
                <a:solidFill>
                  <a:srgbClr val="F7FBF8"/>
                </a:solidFill>
                <a:latin typeface="Avenir"/>
                <a:ea typeface="Avenir"/>
                <a:cs typeface="Avenir"/>
                <a:sym typeface="Avenir"/>
              </a:rPr>
              <a:t>A pre-deconstruction audit will be carried-out by Principal Contractor’s waste contractor</a:t>
            </a:r>
          </a:p>
          <a:p>
            <a:pPr algn="just">
              <a:lnSpc>
                <a:spcPts val="2170"/>
              </a:lnSpc>
            </a:pPr>
            <a:r>
              <a:rPr lang="en-US" sz="1550">
                <a:solidFill>
                  <a:srgbClr val="F7FBF8"/>
                </a:solidFill>
                <a:latin typeface="Avenir"/>
                <a:ea typeface="Avenir"/>
                <a:cs typeface="Avenir"/>
                <a:sym typeface="Avenir"/>
              </a:rPr>
              <a:t>Lawmens in conjunction with the contractor prior to the works commencing. The audit will</a:t>
            </a:r>
          </a:p>
          <a:p>
            <a:pPr algn="just">
              <a:lnSpc>
                <a:spcPts val="2170"/>
              </a:lnSpc>
            </a:pPr>
            <a:r>
              <a:rPr lang="en-US" sz="1550">
                <a:solidFill>
                  <a:srgbClr val="F7FBF8"/>
                </a:solidFill>
                <a:latin typeface="Avenir"/>
                <a:ea typeface="Avenir"/>
                <a:cs typeface="Avenir"/>
                <a:sym typeface="Avenir"/>
              </a:rPr>
              <a:t>be used to consider the materials that the client considers suitable for reuse and maximise</a:t>
            </a:r>
          </a:p>
          <a:p>
            <a:pPr algn="just">
              <a:lnSpc>
                <a:spcPts val="2170"/>
              </a:lnSpc>
            </a:pPr>
            <a:r>
              <a:rPr lang="en-US" sz="1550">
                <a:solidFill>
                  <a:srgbClr val="F7FBF8"/>
                </a:solidFill>
                <a:latin typeface="Avenir"/>
                <a:ea typeface="Avenir"/>
                <a:cs typeface="Avenir"/>
                <a:sym typeface="Avenir"/>
              </a:rPr>
              <a:t>the high-grade reuse and recycling opportunities. The decisions arising from audit must be integrated into the Resource Management Plan which Principal Contractor will provide.</a:t>
            </a:r>
          </a:p>
          <a:p>
            <a:pPr algn="just">
              <a:lnSpc>
                <a:spcPts val="2170"/>
              </a:lnSpc>
            </a:pPr>
          </a:p>
          <a:p>
            <a:pPr algn="just">
              <a:lnSpc>
                <a:spcPts val="2170"/>
              </a:lnSpc>
            </a:pPr>
            <a:r>
              <a:rPr lang="en-US" sz="1550">
                <a:solidFill>
                  <a:srgbClr val="F7FBF8"/>
                </a:solidFill>
                <a:latin typeface="Avenir"/>
                <a:ea typeface="Avenir"/>
                <a:cs typeface="Avenir"/>
                <a:sym typeface="Avenir"/>
              </a:rPr>
              <a:t>During the construction, the actual waste produced, and waste management routes used</a:t>
            </a:r>
          </a:p>
          <a:p>
            <a:pPr algn="just">
              <a:lnSpc>
                <a:spcPts val="2170"/>
              </a:lnSpc>
            </a:pPr>
            <a:r>
              <a:rPr lang="en-US" sz="1550">
                <a:solidFill>
                  <a:srgbClr val="F7FBF8"/>
                </a:solidFill>
                <a:latin typeface="Avenir"/>
                <a:ea typeface="Avenir"/>
                <a:cs typeface="Avenir"/>
                <a:sym typeface="Avenir"/>
              </a:rPr>
              <a:t>should be compared with those forecast from the audit and barriers to achieving targets</a:t>
            </a:r>
          </a:p>
          <a:p>
            <a:pPr algn="just">
              <a:lnSpc>
                <a:spcPts val="2170"/>
              </a:lnSpc>
            </a:pPr>
            <a:r>
              <a:rPr lang="en-US" sz="1550">
                <a:solidFill>
                  <a:srgbClr val="F7FBF8"/>
                </a:solidFill>
                <a:latin typeface="Avenir"/>
                <a:ea typeface="Avenir"/>
                <a:cs typeface="Avenir"/>
                <a:sym typeface="Avenir"/>
              </a:rPr>
              <a:t>should be investigated.</a:t>
            </a:r>
          </a:p>
          <a:p>
            <a:pPr algn="just">
              <a:lnSpc>
                <a:spcPts val="2170"/>
              </a:lnSpc>
            </a:pPr>
          </a:p>
          <a:p>
            <a:pPr algn="just">
              <a:lnSpc>
                <a:spcPts val="2170"/>
              </a:lnSpc>
            </a:pPr>
          </a:p>
          <a:p>
            <a:pPr algn="just">
              <a:lnSpc>
                <a:spcPts val="2170"/>
              </a:lnSpc>
            </a:pPr>
          </a:p>
        </p:txBody>
      </p:sp>
      <p:sp>
        <p:nvSpPr>
          <p:cNvPr name="TextBox 5" id="5"/>
          <p:cNvSpPr txBox="true"/>
          <p:nvPr/>
        </p:nvSpPr>
        <p:spPr>
          <a:xfrm rot="0">
            <a:off x="9566375" y="5635182"/>
            <a:ext cx="8225500" cy="2861361"/>
          </a:xfrm>
          <a:prstGeom prst="rect">
            <a:avLst/>
          </a:prstGeom>
        </p:spPr>
        <p:txBody>
          <a:bodyPr anchor="t" rtlCol="false" tIns="0" lIns="0" bIns="0" rIns="0">
            <a:spAutoFit/>
          </a:bodyPr>
          <a:lstStyle/>
          <a:p>
            <a:pPr algn="l">
              <a:lnSpc>
                <a:spcPts val="2088"/>
              </a:lnSpc>
            </a:pPr>
            <a:r>
              <a:rPr lang="en-US" sz="1491">
                <a:solidFill>
                  <a:srgbClr val="F7FBF8"/>
                </a:solidFill>
                <a:latin typeface="Avenir"/>
                <a:ea typeface="Avenir"/>
                <a:cs typeface="Avenir"/>
                <a:sym typeface="Avenir"/>
              </a:rPr>
              <a:t>Our audits cover:</a:t>
            </a:r>
          </a:p>
          <a:p>
            <a:pPr algn="l">
              <a:lnSpc>
                <a:spcPts val="2088"/>
              </a:lnSpc>
            </a:pPr>
          </a:p>
          <a:p>
            <a:pPr algn="l" marL="322104" indent="-161052" lvl="1">
              <a:lnSpc>
                <a:spcPts val="2088"/>
              </a:lnSpc>
              <a:buFont typeface="Arial"/>
              <a:buChar char="•"/>
            </a:pPr>
            <a:r>
              <a:rPr lang="en-US" sz="1491">
                <a:solidFill>
                  <a:srgbClr val="F7FBF8"/>
                </a:solidFill>
                <a:latin typeface="Avenir"/>
                <a:ea typeface="Avenir"/>
                <a:cs typeface="Avenir"/>
                <a:sym typeface="Avenir"/>
              </a:rPr>
              <a:t>Identification and quantification of the key materials where present on the project</a:t>
            </a:r>
          </a:p>
          <a:p>
            <a:pPr algn="l" marL="322104" indent="-161052" lvl="1">
              <a:lnSpc>
                <a:spcPts val="2088"/>
              </a:lnSpc>
              <a:buFont typeface="Arial"/>
              <a:buChar char="•"/>
            </a:pPr>
            <a:r>
              <a:rPr lang="en-US" sz="1491">
                <a:solidFill>
                  <a:srgbClr val="F7FBF8"/>
                </a:solidFill>
                <a:latin typeface="Avenir"/>
                <a:ea typeface="Avenir"/>
                <a:cs typeface="Avenir"/>
                <a:sym typeface="Avenir"/>
              </a:rPr>
              <a:t>Potential applications and any related issues for the reuse and recycling of the key materials in accordance with the waste hierarchy.</a:t>
            </a:r>
          </a:p>
          <a:p>
            <a:pPr algn="l" marL="322104" indent="-161052" lvl="1">
              <a:lnSpc>
                <a:spcPts val="2088"/>
              </a:lnSpc>
              <a:buFont typeface="Arial"/>
              <a:buChar char="•"/>
            </a:pPr>
            <a:r>
              <a:rPr lang="en-US" sz="1491">
                <a:solidFill>
                  <a:srgbClr val="F7FBF8"/>
                </a:solidFill>
                <a:latin typeface="Avenir"/>
                <a:ea typeface="Avenir"/>
                <a:cs typeface="Avenir"/>
                <a:sym typeface="Avenir"/>
              </a:rPr>
              <a:t>Identification of local re-processors or recyclers for recycling of materials</a:t>
            </a:r>
          </a:p>
          <a:p>
            <a:pPr algn="l" marL="322104" indent="-161052" lvl="1">
              <a:lnSpc>
                <a:spcPts val="2088"/>
              </a:lnSpc>
              <a:buFont typeface="Arial"/>
              <a:buChar char="•"/>
            </a:pPr>
            <a:r>
              <a:rPr lang="en-US" sz="1491">
                <a:solidFill>
                  <a:srgbClr val="F7FBF8"/>
                </a:solidFill>
                <a:latin typeface="Avenir"/>
                <a:ea typeface="Avenir"/>
                <a:cs typeface="Avenir"/>
                <a:sym typeface="Avenir"/>
              </a:rPr>
              <a:t>Identification of overall recycling rate for all key materials</a:t>
            </a:r>
          </a:p>
          <a:p>
            <a:pPr algn="l" marL="322104" indent="-161052" lvl="1">
              <a:lnSpc>
                <a:spcPts val="2088"/>
              </a:lnSpc>
              <a:buFont typeface="Arial"/>
              <a:buChar char="•"/>
            </a:pPr>
            <a:r>
              <a:rPr lang="en-US" sz="1491">
                <a:solidFill>
                  <a:srgbClr val="F7FBF8"/>
                </a:solidFill>
                <a:latin typeface="Avenir"/>
                <a:ea typeface="Avenir"/>
                <a:cs typeface="Avenir"/>
                <a:sym typeface="Avenir"/>
              </a:rPr>
              <a:t>Identification of reuse targets where appropriate.</a:t>
            </a:r>
          </a:p>
          <a:p>
            <a:pPr algn="l" marL="322104" indent="-161052" lvl="1">
              <a:lnSpc>
                <a:spcPts val="2088"/>
              </a:lnSpc>
              <a:buFont typeface="Arial"/>
              <a:buChar char="•"/>
            </a:pPr>
            <a:r>
              <a:rPr lang="en-US" sz="1491">
                <a:solidFill>
                  <a:srgbClr val="F7FBF8"/>
                </a:solidFill>
                <a:latin typeface="Avenir"/>
                <a:ea typeface="Avenir"/>
                <a:cs typeface="Avenir"/>
                <a:sym typeface="Avenir"/>
              </a:rPr>
              <a:t>Identification of overall landfill diversion rate for all key materials.</a:t>
            </a:r>
          </a:p>
          <a:p>
            <a:pPr algn="l">
              <a:lnSpc>
                <a:spcPts val="2088"/>
              </a:lnSpc>
            </a:pPr>
          </a:p>
          <a:p>
            <a:pPr algn="l">
              <a:lnSpc>
                <a:spcPts val="2088"/>
              </a:lnSpc>
            </a:pPr>
          </a:p>
        </p:txBody>
      </p:sp>
      <p:sp>
        <p:nvSpPr>
          <p:cNvPr name="TextBox 6" id="6"/>
          <p:cNvSpPr txBox="true"/>
          <p:nvPr/>
        </p:nvSpPr>
        <p:spPr>
          <a:xfrm rot="0">
            <a:off x="1934773" y="868111"/>
            <a:ext cx="7907766" cy="1327722"/>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Pathways to Divert Waste from Landfill - </a:t>
            </a:r>
            <a:r>
              <a:rPr lang="en-US" sz="5598" spc="-279">
                <a:solidFill>
                  <a:srgbClr val="A4CE3E"/>
                </a:solidFill>
                <a:latin typeface="DM Sans"/>
                <a:ea typeface="DM Sans"/>
                <a:cs typeface="DM Sans"/>
                <a:sym typeface="DM Sans"/>
              </a:rPr>
              <a:t>Recycling</a:t>
            </a:r>
          </a:p>
        </p:txBody>
      </p:sp>
      <p:sp>
        <p:nvSpPr>
          <p:cNvPr name="AutoShape 7" id="7"/>
          <p:cNvSpPr/>
          <p:nvPr/>
        </p:nvSpPr>
        <p:spPr>
          <a:xfrm>
            <a:off x="9139141" y="3140689"/>
            <a:ext cx="0" cy="5523005"/>
          </a:xfrm>
          <a:prstGeom prst="line">
            <a:avLst/>
          </a:prstGeom>
          <a:ln cap="flat" w="19050">
            <a:solidFill>
              <a:srgbClr val="A3CF3E"/>
            </a:solidFill>
            <a:prstDash val="solid"/>
            <a:headEnd type="none" len="sm" w="sm"/>
            <a:tailEnd type="none" len="sm" w="sm"/>
          </a:ln>
        </p:spPr>
      </p:sp>
      <p:sp>
        <p:nvSpPr>
          <p:cNvPr name="AutoShape 8" id="8"/>
          <p:cNvSpPr/>
          <p:nvPr/>
        </p:nvSpPr>
        <p:spPr>
          <a:xfrm flipH="true" flipV="true">
            <a:off x="1934773" y="2575852"/>
            <a:ext cx="4519233" cy="0"/>
          </a:xfrm>
          <a:prstGeom prst="line">
            <a:avLst/>
          </a:prstGeom>
          <a:ln cap="flat" w="19050">
            <a:solidFill>
              <a:srgbClr val="A3CF3E"/>
            </a:solidFill>
            <a:prstDash val="solid"/>
            <a:headEnd type="none" len="sm" w="sm"/>
            <a:tailEnd type="none" len="sm" w="sm"/>
          </a:ln>
        </p:spPr>
      </p:sp>
      <p:sp>
        <p:nvSpPr>
          <p:cNvPr name="Freeform 9" id="9"/>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10" id="10"/>
          <p:cNvSpPr/>
          <p:nvPr/>
        </p:nvSpPr>
        <p:spPr>
          <a:xfrm flipH="false" flipV="false" rot="0">
            <a:off x="634408" y="923503"/>
            <a:ext cx="1062239" cy="1055013"/>
          </a:xfrm>
          <a:custGeom>
            <a:avLst/>
            <a:gdLst/>
            <a:ahLst/>
            <a:cxnLst/>
            <a:rect r="r" b="b" t="t" l="l"/>
            <a:pathLst>
              <a:path h="1055013" w="1062239">
                <a:moveTo>
                  <a:pt x="0" y="0"/>
                </a:moveTo>
                <a:lnTo>
                  <a:pt x="1062240" y="0"/>
                </a:lnTo>
                <a:lnTo>
                  <a:pt x="1062240" y="1055013"/>
                </a:lnTo>
                <a:lnTo>
                  <a:pt x="0" y="1055013"/>
                </a:lnTo>
                <a:lnTo>
                  <a:pt x="0" y="0"/>
                </a:lnTo>
                <a:close/>
              </a:path>
            </a:pathLst>
          </a:custGeom>
          <a:blipFill>
            <a:blip r:embed="rId4"/>
            <a:stretch>
              <a:fillRect l="-8797" t="-66863" r="-261858" b="-81932"/>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660344"/>
          </a:xfrm>
          <a:custGeom>
            <a:avLst/>
            <a:gdLst/>
            <a:ahLst/>
            <a:cxnLst/>
            <a:rect r="r" b="b" t="t" l="l"/>
            <a:pathLst>
              <a:path h="10660344" w="18278283">
                <a:moveTo>
                  <a:pt x="0" y="0"/>
                </a:moveTo>
                <a:lnTo>
                  <a:pt x="18278283" y="0"/>
                </a:lnTo>
                <a:lnTo>
                  <a:pt x="18278283" y="10660344"/>
                </a:lnTo>
                <a:lnTo>
                  <a:pt x="0" y="10660344"/>
                </a:lnTo>
                <a:lnTo>
                  <a:pt x="0" y="0"/>
                </a:lnTo>
                <a:close/>
              </a:path>
            </a:pathLst>
          </a:custGeom>
          <a:blipFill>
            <a:blip r:embed="rId2"/>
            <a:stretch>
              <a:fillRect l="-1814" t="0" r="-1814" b="0"/>
            </a:stretch>
          </a:blipFill>
        </p:spPr>
      </p:sp>
      <p:grpSp>
        <p:nvGrpSpPr>
          <p:cNvPr name="Group 3" id="3"/>
          <p:cNvGrpSpPr/>
          <p:nvPr/>
        </p:nvGrpSpPr>
        <p:grpSpPr>
          <a:xfrm rot="0">
            <a:off x="1028700" y="2225867"/>
            <a:ext cx="7855538" cy="5464660"/>
            <a:chOff x="0" y="0"/>
            <a:chExt cx="2068948" cy="1439252"/>
          </a:xfrm>
        </p:grpSpPr>
        <p:sp>
          <p:nvSpPr>
            <p:cNvPr name="Freeform 4" id="4"/>
            <p:cNvSpPr/>
            <p:nvPr/>
          </p:nvSpPr>
          <p:spPr>
            <a:xfrm flipH="false" flipV="false" rot="0">
              <a:off x="0" y="0"/>
              <a:ext cx="2068948" cy="1439252"/>
            </a:xfrm>
            <a:custGeom>
              <a:avLst/>
              <a:gdLst/>
              <a:ahLst/>
              <a:cxnLst/>
              <a:rect r="r" b="b" t="t" l="l"/>
              <a:pathLst>
                <a:path h="1439252" w="2068948">
                  <a:moveTo>
                    <a:pt x="0" y="0"/>
                  </a:moveTo>
                  <a:lnTo>
                    <a:pt x="2068948" y="0"/>
                  </a:lnTo>
                  <a:lnTo>
                    <a:pt x="2068948" y="1439252"/>
                  </a:lnTo>
                  <a:lnTo>
                    <a:pt x="0" y="1439252"/>
                  </a:lnTo>
                  <a:close/>
                </a:path>
              </a:pathLst>
            </a:custGeom>
            <a:solidFill>
              <a:srgbClr val="FFFFFF"/>
            </a:solidFill>
          </p:spPr>
        </p:sp>
        <p:sp>
          <p:nvSpPr>
            <p:cNvPr name="TextBox 5" id="5"/>
            <p:cNvSpPr txBox="true"/>
            <p:nvPr/>
          </p:nvSpPr>
          <p:spPr>
            <a:xfrm>
              <a:off x="0" y="-57150"/>
              <a:ext cx="2068948" cy="1496402"/>
            </a:xfrm>
            <a:prstGeom prst="rect">
              <a:avLst/>
            </a:prstGeom>
          </p:spPr>
          <p:txBody>
            <a:bodyPr anchor="ctr" rtlCol="false" tIns="50800" lIns="50800" bIns="50800" rIns="50800"/>
            <a:lstStyle/>
            <a:p>
              <a:pPr algn="ctr">
                <a:lnSpc>
                  <a:spcPts val="2065"/>
                </a:lnSpc>
              </a:pPr>
            </a:p>
          </p:txBody>
        </p:sp>
      </p:grpSp>
      <p:graphicFrame>
        <p:nvGraphicFramePr>
          <p:cNvPr name="Table 6" id="6"/>
          <p:cNvGraphicFramePr>
            <a:graphicFrameLocks noGrp="true"/>
          </p:cNvGraphicFramePr>
          <p:nvPr/>
        </p:nvGraphicFramePr>
        <p:xfrm>
          <a:off x="1028700" y="2225867"/>
          <a:ext cx="7855538" cy="5835265"/>
        </p:xfrm>
        <a:graphic>
          <a:graphicData uri="http://schemas.openxmlformats.org/drawingml/2006/table">
            <a:tbl>
              <a:tblPr/>
              <a:tblGrid>
                <a:gridCol w="1965189"/>
                <a:gridCol w="4166320"/>
                <a:gridCol w="1724028"/>
              </a:tblGrid>
              <a:tr h="346919">
                <a:tc>
                  <a:txBody>
                    <a:bodyPr anchor="t" rtlCol="false"/>
                    <a:lstStyle/>
                    <a:p>
                      <a:pPr algn="l">
                        <a:lnSpc>
                          <a:spcPts val="1172"/>
                        </a:lnSpc>
                        <a:defRPr/>
                      </a:pPr>
                      <a:r>
                        <a:rPr lang="en-US" sz="1085">
                          <a:solidFill>
                            <a:srgbClr val="FFFFFF"/>
                          </a:solidFill>
                          <a:latin typeface="Avenir"/>
                          <a:ea typeface="Avenir"/>
                          <a:cs typeface="Avenir"/>
                          <a:sym typeface="Avenir"/>
                        </a:rPr>
                        <a:t>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Options for reuse or direct recycling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Priority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r>
              <a:tr h="483209">
                <a:tc rowSpan="2">
                  <a:txBody>
                    <a:bodyPr anchor="t" rtlCol="false"/>
                    <a:lstStyle/>
                    <a:p>
                      <a:pPr algn="l">
                        <a:lnSpc>
                          <a:spcPts val="1172"/>
                        </a:lnSpc>
                        <a:defRPr/>
                      </a:pPr>
                      <a:r>
                        <a:rPr lang="en-US" sz="1085">
                          <a:solidFill>
                            <a:srgbClr val="FFFFFF"/>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On-site reuse in original form e.g. bricks, roof tiles, paving slabs, kerbs, cills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1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83209">
                <a:tc vMerge="true">
                  <a:txBody>
                    <a:bodyPr anchor="t" rtlCol="false"/>
                    <a:lstStyle/>
                    <a:p>
                      <a:pPr algn="l">
                        <a:lnSpc>
                          <a:spcPts val="1172"/>
                        </a:lnSpc>
                        <a:defRPr/>
                      </a:pPr>
                      <a:r>
                        <a:rPr lang="en-US" sz="1085">
                          <a:solidFill>
                            <a:srgbClr val="FFFFFF"/>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Off-site reuse in original form e.g. bricks, roof tiles, paving slabs, kerbs, cills</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99331">
                <a:tc rowSpan="2">
                  <a:txBody>
                    <a:bodyPr anchor="t" rtlCol="false"/>
                    <a:lstStyle/>
                    <a:p>
                      <a:pPr algn="l">
                        <a:lnSpc>
                          <a:spcPts val="1172"/>
                        </a:lnSpc>
                        <a:defRPr/>
                      </a:pPr>
                      <a:r>
                        <a:rPr lang="en-US" sz="1085">
                          <a:solidFill>
                            <a:srgbClr val="FFFFFF"/>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On-site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99331">
                <a:tc vMerge="true">
                  <a:txBody>
                    <a:bodyPr anchor="t" rtlCol="false"/>
                    <a:lstStyle/>
                    <a:p>
                      <a:pPr algn="l">
                        <a:lnSpc>
                          <a:spcPts val="1172"/>
                        </a:lnSpc>
                        <a:defRPr/>
                      </a:pPr>
                      <a:r>
                        <a:rPr lang="en-US" sz="1085">
                          <a:solidFill>
                            <a:srgbClr val="FFFFFF"/>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Off-site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346919">
                <a:tc rowSpan="2">
                  <a:txBody>
                    <a:bodyPr anchor="t" rtlCol="false"/>
                    <a:lstStyle/>
                    <a:p>
                      <a:pPr algn="l">
                        <a:lnSpc>
                          <a:spcPts val="1172"/>
                        </a:lnSpc>
                        <a:defRPr/>
                      </a:pPr>
                      <a:r>
                        <a:rPr lang="en-US" sz="1085">
                          <a:solidFill>
                            <a:srgbClr val="FFFFFF"/>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08869">
                <a:tc vMerge="true">
                  <a:txBody>
                    <a:bodyPr anchor="t" rtlCol="false"/>
                    <a:lstStyle/>
                    <a:p>
                      <a:pPr algn="l">
                        <a:lnSpc>
                          <a:spcPts val="1172"/>
                        </a:lnSpc>
                        <a:defRPr/>
                      </a:pPr>
                      <a:r>
                        <a:rPr lang="en-US" sz="1085">
                          <a:solidFill>
                            <a:srgbClr val="FFFFFF"/>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Off-site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351434">
                <a:tc rowSpan="4">
                  <a:txBody>
                    <a:bodyPr anchor="t" rtlCol="false"/>
                    <a:lstStyle/>
                    <a:p>
                      <a:pPr algn="l">
                        <a:lnSpc>
                          <a:spcPts val="1172"/>
                        </a:lnSpc>
                        <a:defRPr/>
                      </a:pPr>
                      <a:r>
                        <a:rPr lang="en-US" sz="1085">
                          <a:solidFill>
                            <a:srgbClr val="FFFFFF"/>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83209">
                <a:tc vMerge="true">
                  <a:txBody>
                    <a:bodyPr anchor="t" rtlCol="false"/>
                    <a:lstStyle/>
                    <a:p>
                      <a:pPr algn="l">
                        <a:lnSpc>
                          <a:spcPts val="1172"/>
                        </a:lnSpc>
                        <a:defRPr/>
                      </a:pPr>
                      <a:r>
                        <a:rPr lang="en-US" sz="1085">
                          <a:solidFill>
                            <a:srgbClr val="FFFFFF"/>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Off-site reuse of unused/ undamaged plasterboard on other construction or refurbishment projects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619499">
                <a:tc vMerge="true">
                  <a:txBody>
                    <a:bodyPr anchor="t" rtlCol="false"/>
                    <a:lstStyle/>
                    <a:p>
                      <a:pPr algn="l">
                        <a:lnSpc>
                          <a:spcPts val="1172"/>
                        </a:lnSpc>
                        <a:defRPr/>
                      </a:pPr>
                      <a:r>
                        <a:rPr lang="en-US" sz="1085">
                          <a:solidFill>
                            <a:srgbClr val="FFFFFF"/>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Off-site reuse options for unused or undamaged plasterboard - e.g. local community scheme, surplus construction material trading, charities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3</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83209">
                <a:tc vMerge="true">
                  <a:txBody>
                    <a:bodyPr anchor="t" rtlCol="false"/>
                    <a:lstStyle/>
                    <a:p>
                      <a:pPr algn="l">
                        <a:lnSpc>
                          <a:spcPts val="1172"/>
                        </a:lnSpc>
                        <a:defRPr/>
                      </a:pPr>
                      <a:r>
                        <a:rPr lang="en-US" sz="1085">
                          <a:solidFill>
                            <a:srgbClr val="FFFFFF"/>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Plasterboard manufacturer take-back schemes e.g. collection of bagged offcuts or unused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4</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346919">
                <a:tc rowSpan="2">
                  <a:txBody>
                    <a:bodyPr anchor="t" rtlCol="false"/>
                    <a:lstStyle/>
                    <a:p>
                      <a:pPr algn="l">
                        <a:lnSpc>
                          <a:spcPts val="1172"/>
                        </a:lnSpc>
                        <a:defRPr/>
                      </a:pPr>
                      <a:r>
                        <a:rPr lang="en-US" sz="1085">
                          <a:solidFill>
                            <a:srgbClr val="FFFFFF"/>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On-site reused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r h="483209">
                <a:tc vMerge="true">
                  <a:txBody>
                    <a:bodyPr anchor="t" rtlCol="false"/>
                    <a:lstStyle/>
                    <a:p>
                      <a:pPr algn="l">
                        <a:lnSpc>
                          <a:spcPts val="1172"/>
                        </a:lnSpc>
                        <a:defRPr/>
                      </a:pPr>
                      <a:r>
                        <a:rPr lang="en-US" sz="1085">
                          <a:solidFill>
                            <a:srgbClr val="FFFFFF"/>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Off-site reuse options - e.g. local community schemes, local charities, schools, etc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133B"/>
                    </a:solidFill>
                  </a:tcPr>
                </a:tc>
              </a:tr>
            </a:tbl>
          </a:graphicData>
        </a:graphic>
      </p:graphicFrame>
      <p:grpSp>
        <p:nvGrpSpPr>
          <p:cNvPr name="Group 7" id="7"/>
          <p:cNvGrpSpPr/>
          <p:nvPr/>
        </p:nvGrpSpPr>
        <p:grpSpPr>
          <a:xfrm rot="0">
            <a:off x="9298038" y="1809280"/>
            <a:ext cx="7830337" cy="7202263"/>
            <a:chOff x="0" y="0"/>
            <a:chExt cx="2062311" cy="1896892"/>
          </a:xfrm>
        </p:grpSpPr>
        <p:sp>
          <p:nvSpPr>
            <p:cNvPr name="Freeform 8" id="8"/>
            <p:cNvSpPr/>
            <p:nvPr/>
          </p:nvSpPr>
          <p:spPr>
            <a:xfrm flipH="false" flipV="false" rot="0">
              <a:off x="0" y="0"/>
              <a:ext cx="2062311" cy="1896892"/>
            </a:xfrm>
            <a:custGeom>
              <a:avLst/>
              <a:gdLst/>
              <a:ahLst/>
              <a:cxnLst/>
              <a:rect r="r" b="b" t="t" l="l"/>
              <a:pathLst>
                <a:path h="1896892" w="2062311">
                  <a:moveTo>
                    <a:pt x="0" y="0"/>
                  </a:moveTo>
                  <a:lnTo>
                    <a:pt x="2062311" y="0"/>
                  </a:lnTo>
                  <a:lnTo>
                    <a:pt x="2062311" y="1896892"/>
                  </a:lnTo>
                  <a:lnTo>
                    <a:pt x="0" y="1896892"/>
                  </a:lnTo>
                  <a:close/>
                </a:path>
              </a:pathLst>
            </a:custGeom>
            <a:solidFill>
              <a:srgbClr val="FFFFFF"/>
            </a:solidFill>
          </p:spPr>
        </p:sp>
        <p:sp>
          <p:nvSpPr>
            <p:cNvPr name="TextBox 9" id="9"/>
            <p:cNvSpPr txBox="true"/>
            <p:nvPr/>
          </p:nvSpPr>
          <p:spPr>
            <a:xfrm>
              <a:off x="0" y="-57150"/>
              <a:ext cx="2062311" cy="1954042"/>
            </a:xfrm>
            <a:prstGeom prst="rect">
              <a:avLst/>
            </a:prstGeom>
          </p:spPr>
          <p:txBody>
            <a:bodyPr anchor="ctr" rtlCol="false" tIns="50800" lIns="50800" bIns="50800" rIns="50800"/>
            <a:lstStyle/>
            <a:p>
              <a:pPr algn="ctr">
                <a:lnSpc>
                  <a:spcPts val="2065"/>
                </a:lnSpc>
              </a:pPr>
            </a:p>
          </p:txBody>
        </p:sp>
      </p:grpSp>
      <p:graphicFrame>
        <p:nvGraphicFramePr>
          <p:cNvPr name="Table 10" id="10"/>
          <p:cNvGraphicFramePr>
            <a:graphicFrameLocks noGrp="true"/>
          </p:cNvGraphicFramePr>
          <p:nvPr/>
        </p:nvGraphicFramePr>
        <p:xfrm>
          <a:off x="9298038" y="1809280"/>
          <a:ext cx="7830337" cy="7195168"/>
        </p:xfrm>
        <a:graphic>
          <a:graphicData uri="http://schemas.openxmlformats.org/drawingml/2006/table">
            <a:tbl>
              <a:tblPr/>
              <a:tblGrid>
                <a:gridCol w="1958885"/>
                <a:gridCol w="4152954"/>
                <a:gridCol w="1718498"/>
              </a:tblGrid>
              <a:tr h="345708">
                <a:tc>
                  <a:txBody>
                    <a:bodyPr anchor="t" rtlCol="false"/>
                    <a:lstStyle/>
                    <a:p>
                      <a:pPr algn="l">
                        <a:lnSpc>
                          <a:spcPts val="1168"/>
                        </a:lnSpc>
                        <a:defRPr/>
                      </a:pPr>
                      <a:r>
                        <a:rPr lang="en-US" sz="1082">
                          <a:solidFill>
                            <a:srgbClr val="FFFFFF"/>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r>
              <a:tr h="473489">
                <a:tc rowSpan="2">
                  <a:txBody>
                    <a:bodyPr anchor="t" rtlCol="false"/>
                    <a:lstStyle/>
                    <a:p>
                      <a:pPr algn="l">
                        <a:lnSpc>
                          <a:spcPts val="1168"/>
                        </a:lnSpc>
                        <a:defRPr/>
                      </a:pPr>
                      <a:r>
                        <a:rPr lang="en-US" sz="1082">
                          <a:solidFill>
                            <a:srgbClr val="F7FBF8"/>
                          </a:solidFill>
                          <a:latin typeface="Avenir"/>
                          <a:ea typeface="Avenir"/>
                          <a:cs typeface="Avenir"/>
                          <a:sym typeface="Avenir"/>
                        </a:rPr>
                        <a:t>Timber products</a:t>
                      </a:r>
                      <a:endParaRPr lang="en-US" sz="1100"/>
                    </a:p>
                    <a:p>
                      <a:pPr algn="l">
                        <a:lnSpc>
                          <a:spcPts val="1168"/>
                        </a:lnSpc>
                      </a:pPr>
                      <a:r>
                        <a:rPr lang="en-US" sz="1082">
                          <a:solidFill>
                            <a:srgbClr val="F7FBF8"/>
                          </a:solidFill>
                          <a:latin typeface="Avenir"/>
                          <a:ea typeface="Avenir"/>
                          <a:cs typeface="Avenir"/>
                          <a:sym typeface="Avenir"/>
                        </a:rPr>
                        <a:t>(All sawn soft/hard</a:t>
                      </a:r>
                    </a:p>
                    <a:p>
                      <a:pPr algn="l">
                        <a:lnSpc>
                          <a:spcPts val="1168"/>
                        </a:lnSpc>
                      </a:pPr>
                      <a:r>
                        <a:rPr lang="en-US" sz="1082">
                          <a:solidFill>
                            <a:srgbClr val="F7FBF8"/>
                          </a:solidFill>
                          <a:latin typeface="Avenir"/>
                          <a:ea typeface="Avenir"/>
                          <a:cs typeface="Avenir"/>
                          <a:sym typeface="Avenir"/>
                        </a:rPr>
                        <a:t>wood only – no board</a:t>
                      </a:r>
                    </a:p>
                    <a:p>
                      <a:pPr algn="l">
                        <a:lnSpc>
                          <a:spcPts val="1168"/>
                        </a:lnSpc>
                      </a:pPr>
                      <a:r>
                        <a:rPr lang="en-US" sz="1082">
                          <a:solidFill>
                            <a:srgbClr val="F7FBF8"/>
                          </a:solidFill>
                          <a:latin typeface="Avenir"/>
                          <a:ea typeface="Avenir"/>
                          <a:cs typeface="Avenir"/>
                          <a:sym typeface="Avenir"/>
                        </a:rPr>
                        <a:t>products e.g. MDF/</a:t>
                      </a:r>
                    </a:p>
                    <a:p>
                      <a:pPr algn="l">
                        <a:lnSpc>
                          <a:spcPts val="1168"/>
                        </a:lnSpc>
                      </a:pPr>
                      <a:r>
                        <a:rPr lang="en-US" sz="1082">
                          <a:solidFill>
                            <a:srgbClr val="F7FBF8"/>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On-site reuse of timber on the project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81522">
                <a:tc vMerge="true">
                  <a:txBody>
                    <a:bodyPr anchor="t" rtlCol="false"/>
                    <a:lstStyle/>
                    <a:p>
                      <a:pPr algn="l">
                        <a:lnSpc>
                          <a:spcPts val="1168"/>
                        </a:lnSpc>
                        <a:defRPr/>
                      </a:pPr>
                      <a:r>
                        <a:rPr lang="en-US" sz="1082">
                          <a:solidFill>
                            <a:srgbClr val="F7FBF8"/>
                          </a:solidFill>
                          <a:latin typeface="Avenir"/>
                          <a:ea typeface="Avenir"/>
                          <a:cs typeface="Avenir"/>
                          <a:sym typeface="Avenir"/>
                        </a:rPr>
                        <a:t>Timber products</a:t>
                      </a:r>
                      <a:endParaRPr lang="en-US" sz="1100"/>
                    </a:p>
                    <a:p>
                      <a:pPr algn="l">
                        <a:lnSpc>
                          <a:spcPts val="1168"/>
                        </a:lnSpc>
                      </a:pPr>
                      <a:r>
                        <a:rPr lang="en-US" sz="1082">
                          <a:solidFill>
                            <a:srgbClr val="F7FBF8"/>
                          </a:solidFill>
                          <a:latin typeface="Avenir"/>
                          <a:ea typeface="Avenir"/>
                          <a:cs typeface="Avenir"/>
                          <a:sym typeface="Avenir"/>
                        </a:rPr>
                        <a:t>(All sawn soft/hard</a:t>
                      </a:r>
                    </a:p>
                    <a:p>
                      <a:pPr algn="l">
                        <a:lnSpc>
                          <a:spcPts val="1168"/>
                        </a:lnSpc>
                      </a:pPr>
                      <a:r>
                        <a:rPr lang="en-US" sz="1082">
                          <a:solidFill>
                            <a:srgbClr val="F7FBF8"/>
                          </a:solidFill>
                          <a:latin typeface="Avenir"/>
                          <a:ea typeface="Avenir"/>
                          <a:cs typeface="Avenir"/>
                          <a:sym typeface="Avenir"/>
                        </a:rPr>
                        <a:t>wood only – no board</a:t>
                      </a:r>
                    </a:p>
                    <a:p>
                      <a:pPr algn="l">
                        <a:lnSpc>
                          <a:spcPts val="1168"/>
                        </a:lnSpc>
                      </a:pPr>
                      <a:r>
                        <a:rPr lang="en-US" sz="1082">
                          <a:solidFill>
                            <a:srgbClr val="F7FBF8"/>
                          </a:solidFill>
                          <a:latin typeface="Avenir"/>
                          <a:ea typeface="Avenir"/>
                          <a:cs typeface="Avenir"/>
                          <a:sym typeface="Avenir"/>
                        </a:rPr>
                        <a:t>products e.g. MDF/</a:t>
                      </a:r>
                    </a:p>
                    <a:p>
                      <a:pPr algn="l">
                        <a:lnSpc>
                          <a:spcPts val="1168"/>
                        </a:lnSpc>
                      </a:pPr>
                      <a:r>
                        <a:rPr lang="en-US" sz="1082">
                          <a:solidFill>
                            <a:srgbClr val="F7FBF8"/>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reuse via another project, national/ local community wood reuse scheme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617336">
                <a:tc rowSpan="3">
                  <a:txBody>
                    <a:bodyPr anchor="t" rtlCol="false"/>
                    <a:lstStyle/>
                    <a:p>
                      <a:pPr algn="l">
                        <a:lnSpc>
                          <a:spcPts val="1168"/>
                        </a:lnSpc>
                        <a:defRPr/>
                      </a:pPr>
                      <a:r>
                        <a:rPr lang="en-US" sz="1082">
                          <a:solidFill>
                            <a:srgbClr val="F7FBF8"/>
                          </a:solidFill>
                          <a:latin typeface="Avenir"/>
                          <a:ea typeface="Avenir"/>
                          <a:cs typeface="Avenir"/>
                          <a:sym typeface="Avenir"/>
                        </a:rPr>
                        <a:t>New and unused</a:t>
                      </a:r>
                      <a:endParaRPr lang="en-US" sz="1100"/>
                    </a:p>
                    <a:p>
                      <a:pPr algn="l">
                        <a:lnSpc>
                          <a:spcPts val="1168"/>
                        </a:lnSpc>
                      </a:pPr>
                      <a:r>
                        <a:rPr lang="en-US" sz="1082">
                          <a:solidFill>
                            <a:srgbClr val="F7FBF8"/>
                          </a:solidFill>
                          <a:latin typeface="Avenir"/>
                          <a:ea typeface="Avenir"/>
                          <a:cs typeface="Avenir"/>
                          <a:sym typeface="Avenir"/>
                        </a:rPr>
                        <a:t>insulation board (foam</a:t>
                      </a:r>
                    </a:p>
                    <a:p>
                      <a:pPr algn="l">
                        <a:lnSpc>
                          <a:spcPts val="1168"/>
                        </a:lnSpc>
                      </a:pPr>
                      <a:r>
                        <a:rPr lang="en-US" sz="1082">
                          <a:solidFill>
                            <a:srgbClr val="F7FBF8"/>
                          </a:solidFill>
                          <a:latin typeface="Avenir"/>
                          <a:ea typeface="Avenir"/>
                          <a:cs typeface="Avenir"/>
                          <a:sym typeface="Avenir"/>
                        </a:rPr>
                        <a:t>board only e.g. EPS,</a:t>
                      </a:r>
                    </a:p>
                    <a:p>
                      <a:pPr algn="l">
                        <a:lnSpc>
                          <a:spcPts val="1168"/>
                        </a:lnSpc>
                      </a:pPr>
                      <a:r>
                        <a:rPr lang="en-US" sz="1082">
                          <a:solidFill>
                            <a:srgbClr val="F7FBF8"/>
                          </a:solidFill>
                          <a:latin typeface="Avenir"/>
                          <a:ea typeface="Avenir"/>
                          <a:cs typeface="Avenir"/>
                          <a:sym typeface="Avenir"/>
                        </a:rPr>
                        <a:t>XPS, ISO, COMP. not</a:t>
                      </a:r>
                    </a:p>
                    <a:p>
                      <a:pPr algn="l">
                        <a:lnSpc>
                          <a:spcPts val="1168"/>
                        </a:lnSpc>
                      </a:pPr>
                      <a:r>
                        <a:rPr lang="en-US" sz="1082">
                          <a:solidFill>
                            <a:srgbClr val="F7FBF8"/>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reuse of a new and unused insulation board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81522">
                <a:tc vMerge="true">
                  <a:txBody>
                    <a:bodyPr anchor="t" rtlCol="false"/>
                    <a:lstStyle/>
                    <a:p>
                      <a:pPr algn="l">
                        <a:lnSpc>
                          <a:spcPts val="1168"/>
                        </a:lnSpc>
                        <a:defRPr/>
                      </a:pPr>
                      <a:r>
                        <a:rPr lang="en-US" sz="1082">
                          <a:solidFill>
                            <a:srgbClr val="F7FBF8"/>
                          </a:solidFill>
                          <a:latin typeface="Avenir"/>
                          <a:ea typeface="Avenir"/>
                          <a:cs typeface="Avenir"/>
                          <a:sym typeface="Avenir"/>
                        </a:rPr>
                        <a:t>New and unused</a:t>
                      </a:r>
                      <a:endParaRPr lang="en-US" sz="1100"/>
                    </a:p>
                    <a:p>
                      <a:pPr algn="l">
                        <a:lnSpc>
                          <a:spcPts val="1168"/>
                        </a:lnSpc>
                      </a:pPr>
                      <a:r>
                        <a:rPr lang="en-US" sz="1082">
                          <a:solidFill>
                            <a:srgbClr val="F7FBF8"/>
                          </a:solidFill>
                          <a:latin typeface="Avenir"/>
                          <a:ea typeface="Avenir"/>
                          <a:cs typeface="Avenir"/>
                          <a:sym typeface="Avenir"/>
                        </a:rPr>
                        <a:t>insulation board (foam</a:t>
                      </a:r>
                    </a:p>
                    <a:p>
                      <a:pPr algn="l">
                        <a:lnSpc>
                          <a:spcPts val="1168"/>
                        </a:lnSpc>
                      </a:pPr>
                      <a:r>
                        <a:rPr lang="en-US" sz="1082">
                          <a:solidFill>
                            <a:srgbClr val="F7FBF8"/>
                          </a:solidFill>
                          <a:latin typeface="Avenir"/>
                          <a:ea typeface="Avenir"/>
                          <a:cs typeface="Avenir"/>
                          <a:sym typeface="Avenir"/>
                        </a:rPr>
                        <a:t>board only e.g. EPS,</a:t>
                      </a:r>
                    </a:p>
                    <a:p>
                      <a:pPr algn="l">
                        <a:lnSpc>
                          <a:spcPts val="1168"/>
                        </a:lnSpc>
                      </a:pPr>
                      <a:r>
                        <a:rPr lang="en-US" sz="1082">
                          <a:solidFill>
                            <a:srgbClr val="F7FBF8"/>
                          </a:solidFill>
                          <a:latin typeface="Avenir"/>
                          <a:ea typeface="Avenir"/>
                          <a:cs typeface="Avenir"/>
                          <a:sym typeface="Avenir"/>
                        </a:rPr>
                        <a:t>XPS, ISO, COMP. not</a:t>
                      </a:r>
                    </a:p>
                    <a:p>
                      <a:pPr algn="l">
                        <a:lnSpc>
                          <a:spcPts val="1168"/>
                        </a:lnSpc>
                      </a:pPr>
                      <a:r>
                        <a:rPr lang="en-US" sz="1082">
                          <a:solidFill>
                            <a:srgbClr val="F7FBF8"/>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Resale of insulation board via surplus construction material trading companies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345708">
                <a:tc vMerge="true">
                  <a:txBody>
                    <a:bodyPr anchor="t" rtlCol="false"/>
                    <a:lstStyle/>
                    <a:p>
                      <a:pPr algn="l">
                        <a:lnSpc>
                          <a:spcPts val="1168"/>
                        </a:lnSpc>
                        <a:defRPr/>
                      </a:pPr>
                      <a:r>
                        <a:rPr lang="en-US" sz="1082">
                          <a:solidFill>
                            <a:srgbClr val="F7FBF8"/>
                          </a:solidFill>
                          <a:latin typeface="Avenir"/>
                          <a:ea typeface="Avenir"/>
                          <a:cs typeface="Avenir"/>
                          <a:sym typeface="Avenir"/>
                        </a:rPr>
                        <a:t>New and unused</a:t>
                      </a:r>
                      <a:endParaRPr lang="en-US" sz="1100"/>
                    </a:p>
                    <a:p>
                      <a:pPr algn="l">
                        <a:lnSpc>
                          <a:spcPts val="1168"/>
                        </a:lnSpc>
                      </a:pPr>
                      <a:r>
                        <a:rPr lang="en-US" sz="1082">
                          <a:solidFill>
                            <a:srgbClr val="F7FBF8"/>
                          </a:solidFill>
                          <a:latin typeface="Avenir"/>
                          <a:ea typeface="Avenir"/>
                          <a:cs typeface="Avenir"/>
                          <a:sym typeface="Avenir"/>
                        </a:rPr>
                        <a:t>insulation board (foam</a:t>
                      </a:r>
                    </a:p>
                    <a:p>
                      <a:pPr algn="l">
                        <a:lnSpc>
                          <a:spcPts val="1168"/>
                        </a:lnSpc>
                      </a:pPr>
                      <a:r>
                        <a:rPr lang="en-US" sz="1082">
                          <a:solidFill>
                            <a:srgbClr val="F7FBF8"/>
                          </a:solidFill>
                          <a:latin typeface="Avenir"/>
                          <a:ea typeface="Avenir"/>
                          <a:cs typeface="Avenir"/>
                          <a:sym typeface="Avenir"/>
                        </a:rPr>
                        <a:t>board only e.g. EPS,</a:t>
                      </a:r>
                    </a:p>
                    <a:p>
                      <a:pPr algn="l">
                        <a:lnSpc>
                          <a:spcPts val="1168"/>
                        </a:lnSpc>
                      </a:pPr>
                      <a:r>
                        <a:rPr lang="en-US" sz="1082">
                          <a:solidFill>
                            <a:srgbClr val="F7FBF8"/>
                          </a:solidFill>
                          <a:latin typeface="Avenir"/>
                          <a:ea typeface="Avenir"/>
                          <a:cs typeface="Avenir"/>
                          <a:sym typeface="Avenir"/>
                        </a:rPr>
                        <a:t>XPS, ISO, COMP. not</a:t>
                      </a:r>
                    </a:p>
                    <a:p>
                      <a:pPr algn="l">
                        <a:lnSpc>
                          <a:spcPts val="1168"/>
                        </a:lnSpc>
                      </a:pPr>
                      <a:r>
                        <a:rPr lang="en-US" sz="1082">
                          <a:solidFill>
                            <a:srgbClr val="F7FBF8"/>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Collection by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345708">
                <a:tc rowSpan="2">
                  <a:txBody>
                    <a:bodyPr anchor="t" rtlCol="false"/>
                    <a:lstStyle/>
                    <a:p>
                      <a:pPr algn="l">
                        <a:lnSpc>
                          <a:spcPts val="1168"/>
                        </a:lnSpc>
                        <a:defRPr/>
                      </a:pPr>
                      <a:r>
                        <a:rPr lang="en-US" sz="1082">
                          <a:solidFill>
                            <a:srgbClr val="FFFFFF"/>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On-site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02943">
                <a:tc vMerge="true">
                  <a:txBody>
                    <a:bodyPr anchor="t" rtlCol="false"/>
                    <a:lstStyle/>
                    <a:p>
                      <a:pPr algn="l">
                        <a:lnSpc>
                          <a:spcPts val="1168"/>
                        </a:lnSpc>
                        <a:defRPr/>
                      </a:pPr>
                      <a:r>
                        <a:rPr lang="en-US" sz="1082">
                          <a:solidFill>
                            <a:srgbClr val="FFFFFF"/>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345708">
                <a:tc>
                  <a:txBody>
                    <a:bodyPr anchor="t" rtlCol="false"/>
                    <a:lstStyle/>
                    <a:p>
                      <a:pPr algn="l">
                        <a:lnSpc>
                          <a:spcPts val="1168"/>
                        </a:lnSpc>
                        <a:defRPr/>
                      </a:pPr>
                      <a:r>
                        <a:rPr lang="en-US" sz="1082">
                          <a:solidFill>
                            <a:srgbClr val="FFFFFF"/>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81522">
                <a:tc rowSpan="2">
                  <a:txBody>
                    <a:bodyPr anchor="t" rtlCol="false"/>
                    <a:lstStyle/>
                    <a:p>
                      <a:pPr algn="l">
                        <a:lnSpc>
                          <a:spcPts val="1168"/>
                        </a:lnSpc>
                        <a:defRPr/>
                      </a:pPr>
                      <a:r>
                        <a:rPr lang="en-US" sz="1082">
                          <a:solidFill>
                            <a:srgbClr val="FFFFFF"/>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reuse in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81522">
                <a:tc vMerge="true">
                  <a:txBody>
                    <a:bodyPr anchor="t" rtlCol="false"/>
                    <a:lstStyle/>
                    <a:p>
                      <a:pPr algn="l">
                        <a:lnSpc>
                          <a:spcPts val="1168"/>
                        </a:lnSpc>
                        <a:defRPr/>
                      </a:pPr>
                      <a:r>
                        <a:rPr lang="en-US" sz="1082">
                          <a:solidFill>
                            <a:srgbClr val="FFFFFF"/>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recycling via manufacturer for closed loop recycling (see relevant definitions)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617336">
                <a:tc>
                  <a:txBody>
                    <a:bodyPr anchor="t" rtlCol="false"/>
                    <a:lstStyle/>
                    <a:p>
                      <a:pPr algn="l">
                        <a:lnSpc>
                          <a:spcPts val="1168"/>
                        </a:lnSpc>
                        <a:defRPr/>
                      </a:pPr>
                      <a:r>
                        <a:rPr lang="en-US" sz="1082">
                          <a:solidFill>
                            <a:srgbClr val="FFFFFF"/>
                          </a:solidFill>
                          <a:latin typeface="Avenir"/>
                          <a:ea typeface="Avenir"/>
                          <a:cs typeface="Avenir"/>
                          <a:sym typeface="Avenir"/>
                        </a:rPr>
                        <a:t>Vinyl floor coverings (uplifted vinyl floor coverings and post installation offcuts)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direct recycling via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73489">
                <a:tc rowSpan="3">
                  <a:txBody>
                    <a:bodyPr anchor="t" rtlCol="false"/>
                    <a:lstStyle/>
                    <a:p>
                      <a:pPr algn="l">
                        <a:lnSpc>
                          <a:spcPts val="1168"/>
                        </a:lnSpc>
                        <a:defRPr/>
                      </a:pPr>
                      <a:r>
                        <a:rPr lang="en-US" sz="1082">
                          <a:solidFill>
                            <a:srgbClr val="FFFFFF"/>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On-site reuse of carpet tiles in their original form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76819">
                <a:tc vMerge="true">
                  <a:txBody>
                    <a:bodyPr anchor="t" rtlCol="false"/>
                    <a:lstStyle/>
                    <a:p>
                      <a:pPr algn="l">
                        <a:lnSpc>
                          <a:spcPts val="1168"/>
                        </a:lnSpc>
                        <a:defRPr/>
                      </a:pPr>
                      <a:r>
                        <a:rPr lang="en-US" sz="1082">
                          <a:solidFill>
                            <a:srgbClr val="FFFFFF"/>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Off-site direct reuse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343309">
                <a:tc vMerge="true">
                  <a:txBody>
                    <a:bodyPr anchor="t" rtlCol="false"/>
                    <a:lstStyle/>
                    <a:p>
                      <a:pPr algn="l">
                        <a:lnSpc>
                          <a:spcPts val="1168"/>
                        </a:lnSpc>
                        <a:defRPr/>
                      </a:pPr>
                      <a:r>
                        <a:rPr lang="en-US" sz="1082">
                          <a:solidFill>
                            <a:srgbClr val="FFFFFF"/>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Direct recycling via 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r h="481522">
                <a:tc>
                  <a:txBody>
                    <a:bodyPr anchor="t" rtlCol="false"/>
                    <a:lstStyle/>
                    <a:p>
                      <a:pPr algn="l">
                        <a:lnSpc>
                          <a:spcPts val="1168"/>
                        </a:lnSpc>
                        <a:defRPr/>
                      </a:pPr>
                      <a:r>
                        <a:rPr lang="en-US" sz="1082">
                          <a:solidFill>
                            <a:srgbClr val="FFFFFF"/>
                          </a:solidFill>
                          <a:latin typeface="Avenir"/>
                          <a:ea typeface="Avenir"/>
                          <a:cs typeface="Avenir"/>
                          <a:sym typeface="Avenir"/>
                        </a:rPr>
                        <a:t>Packaging materials (all timber, cardboard &amp; plastic)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Repatriation of wooden pallets from product suppliers for direct reuse</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133B"/>
                    </a:solidFill>
                  </a:tcPr>
                </a:tc>
              </a:tr>
            </a:tbl>
          </a:graphicData>
        </a:graphic>
      </p:graphicFrame>
      <p:sp>
        <p:nvSpPr>
          <p:cNvPr name="TextBox 11" id="11"/>
          <p:cNvSpPr txBox="true"/>
          <p:nvPr/>
        </p:nvSpPr>
        <p:spPr>
          <a:xfrm rot="0">
            <a:off x="1028700" y="8188052"/>
            <a:ext cx="6269227" cy="823490"/>
          </a:xfrm>
          <a:prstGeom prst="rect">
            <a:avLst/>
          </a:prstGeom>
        </p:spPr>
        <p:txBody>
          <a:bodyPr anchor="t" rtlCol="false" tIns="0" lIns="0" bIns="0" rIns="0">
            <a:spAutoFit/>
          </a:bodyPr>
          <a:lstStyle/>
          <a:p>
            <a:pPr algn="l">
              <a:lnSpc>
                <a:spcPts val="1607"/>
              </a:lnSpc>
            </a:pPr>
            <a:r>
              <a:rPr lang="en-US" sz="1148">
                <a:solidFill>
                  <a:srgbClr val="FFFFFF"/>
                </a:solidFill>
                <a:latin typeface="Avenir"/>
                <a:ea typeface="Avenir"/>
                <a:cs typeface="Avenir"/>
                <a:sym typeface="Avenir"/>
              </a:rPr>
              <a:t>A list of categories can be found here:</a:t>
            </a:r>
          </a:p>
          <a:p>
            <a:pPr algn="l">
              <a:lnSpc>
                <a:spcPts val="1607"/>
              </a:lnSpc>
            </a:pPr>
            <a:r>
              <a:rPr lang="en-US" sz="1148">
                <a:solidFill>
                  <a:srgbClr val="FFFFFF"/>
                </a:solidFill>
                <a:latin typeface="Avenir"/>
                <a:ea typeface="Avenir"/>
                <a:cs typeface="Avenir"/>
                <a:sym typeface="Avenir"/>
              </a:rPr>
              <a:t>https://www.gov.uk/how-to-classify-different-types-of-waste/construction-and-demolitionwaste</a:t>
            </a:r>
          </a:p>
          <a:p>
            <a:pPr algn="l">
              <a:lnSpc>
                <a:spcPts val="1607"/>
              </a:lnSpc>
            </a:pPr>
          </a:p>
          <a:p>
            <a:pPr algn="l">
              <a:lnSpc>
                <a:spcPts val="1607"/>
              </a:lnSpc>
            </a:pPr>
          </a:p>
        </p:txBody>
      </p:sp>
      <p:sp>
        <p:nvSpPr>
          <p:cNvPr name="TextBox 12" id="12"/>
          <p:cNvSpPr txBox="true"/>
          <p:nvPr/>
        </p:nvSpPr>
        <p:spPr>
          <a:xfrm rot="0">
            <a:off x="2645874" y="741845"/>
            <a:ext cx="5440610" cy="1067435"/>
          </a:xfrm>
          <a:prstGeom prst="rect">
            <a:avLst/>
          </a:prstGeom>
        </p:spPr>
        <p:txBody>
          <a:bodyPr anchor="t" rtlCol="false" tIns="0" lIns="0" bIns="0" rIns="0">
            <a:spAutoFit/>
          </a:bodyPr>
          <a:lstStyle/>
          <a:p>
            <a:pPr algn="ctr">
              <a:lnSpc>
                <a:spcPts val="7840"/>
              </a:lnSpc>
            </a:pPr>
            <a:r>
              <a:rPr lang="en-US" sz="5600">
                <a:solidFill>
                  <a:srgbClr val="F7FBF8"/>
                </a:solidFill>
                <a:latin typeface="Avenir"/>
                <a:ea typeface="Avenir"/>
                <a:cs typeface="Avenir"/>
                <a:sym typeface="Avenir"/>
              </a:rPr>
              <a:t>Typical</a:t>
            </a:r>
            <a:r>
              <a:rPr lang="en-US" sz="5600">
                <a:solidFill>
                  <a:srgbClr val="737373"/>
                </a:solidFill>
                <a:latin typeface="Avenir"/>
                <a:ea typeface="Avenir"/>
                <a:cs typeface="Avenir"/>
                <a:sym typeface="Avenir"/>
              </a:rPr>
              <a:t> </a:t>
            </a:r>
            <a:r>
              <a:rPr lang="en-US" sz="5600">
                <a:solidFill>
                  <a:srgbClr val="A4CE3E"/>
                </a:solidFill>
                <a:latin typeface="Avenir"/>
                <a:ea typeface="Avenir"/>
                <a:cs typeface="Avenir"/>
                <a:sym typeface="Avenir"/>
              </a:rPr>
              <a:t>checklist</a:t>
            </a:r>
            <a:r>
              <a:rPr lang="en-US" sz="5600">
                <a:solidFill>
                  <a:srgbClr val="737373"/>
                </a:solidFill>
                <a:latin typeface="Avenir"/>
                <a:ea typeface="Avenir"/>
                <a:cs typeface="Avenir"/>
                <a:sym typeface="Avenir"/>
              </a:rPr>
              <a:t> </a:t>
            </a:r>
          </a:p>
        </p:txBody>
      </p:sp>
      <p:sp>
        <p:nvSpPr>
          <p:cNvPr name="Freeform 13" id="13"/>
          <p:cNvSpPr/>
          <p:nvPr/>
        </p:nvSpPr>
        <p:spPr>
          <a:xfrm flipH="false" flipV="false" rot="0">
            <a:off x="17259300" y="207140"/>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14" id="14"/>
          <p:cNvSpPr/>
          <p:nvPr/>
        </p:nvSpPr>
        <p:spPr>
          <a:xfrm flipH="false" flipV="false" rot="0">
            <a:off x="1342754" y="857593"/>
            <a:ext cx="1062239" cy="1055013"/>
          </a:xfrm>
          <a:custGeom>
            <a:avLst/>
            <a:gdLst/>
            <a:ahLst/>
            <a:cxnLst/>
            <a:rect r="r" b="b" t="t" l="l"/>
            <a:pathLst>
              <a:path h="1055013" w="1062239">
                <a:moveTo>
                  <a:pt x="0" y="0"/>
                </a:moveTo>
                <a:lnTo>
                  <a:pt x="1062239" y="0"/>
                </a:lnTo>
                <a:lnTo>
                  <a:pt x="1062239" y="1055014"/>
                </a:lnTo>
                <a:lnTo>
                  <a:pt x="0" y="1055014"/>
                </a:lnTo>
                <a:lnTo>
                  <a:pt x="0" y="0"/>
                </a:lnTo>
                <a:close/>
              </a:path>
            </a:pathLst>
          </a:custGeom>
          <a:blipFill>
            <a:blip r:embed="rId4"/>
            <a:stretch>
              <a:fillRect l="-8797" t="-66863" r="-261858" b="-81932"/>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1414414"/>
            <a:ext cx="9733901" cy="4280375"/>
          </a:xfrm>
          <a:custGeom>
            <a:avLst/>
            <a:gdLst/>
            <a:ahLst/>
            <a:cxnLst/>
            <a:rect r="r" b="b" t="t" l="l"/>
            <a:pathLst>
              <a:path h="4280375" w="9733901">
                <a:moveTo>
                  <a:pt x="0" y="0"/>
                </a:moveTo>
                <a:lnTo>
                  <a:pt x="9733901" y="0"/>
                </a:lnTo>
                <a:lnTo>
                  <a:pt x="9733901" y="4280375"/>
                </a:lnTo>
                <a:lnTo>
                  <a:pt x="0" y="4280375"/>
                </a:lnTo>
                <a:lnTo>
                  <a:pt x="0" y="0"/>
                </a:lnTo>
                <a:close/>
              </a:path>
            </a:pathLst>
          </a:custGeom>
          <a:blipFill>
            <a:blip r:embed="rId3"/>
            <a:stretch>
              <a:fillRect l="-629430" t="-23175" r="-38004" b="-1040295"/>
            </a:stretch>
          </a:blipFill>
        </p:spPr>
      </p:sp>
      <p:sp>
        <p:nvSpPr>
          <p:cNvPr name="AutoShape 4" id="4"/>
          <p:cNvSpPr/>
          <p:nvPr/>
        </p:nvSpPr>
        <p:spPr>
          <a:xfrm flipH="true">
            <a:off x="2443566" y="2203113"/>
            <a:ext cx="5795258" cy="0"/>
          </a:xfrm>
          <a:prstGeom prst="line">
            <a:avLst/>
          </a:prstGeom>
          <a:ln cap="flat" w="19050">
            <a:solidFill>
              <a:srgbClr val="A3CF3E"/>
            </a:solidFill>
            <a:prstDash val="solid"/>
            <a:headEnd type="none" len="sm" w="sm"/>
            <a:tailEnd type="none" len="sm" w="sm"/>
          </a:ln>
        </p:spPr>
      </p:sp>
      <p:sp>
        <p:nvSpPr>
          <p:cNvPr name="Freeform 5" id="5"/>
          <p:cNvSpPr/>
          <p:nvPr/>
        </p:nvSpPr>
        <p:spPr>
          <a:xfrm flipH="false" flipV="false" rot="0">
            <a:off x="0" y="2630170"/>
            <a:ext cx="9733901" cy="6721812"/>
          </a:xfrm>
          <a:custGeom>
            <a:avLst/>
            <a:gdLst/>
            <a:ahLst/>
            <a:cxnLst/>
            <a:rect r="r" b="b" t="t" l="l"/>
            <a:pathLst>
              <a:path h="6721812" w="9733901">
                <a:moveTo>
                  <a:pt x="0" y="0"/>
                </a:moveTo>
                <a:lnTo>
                  <a:pt x="9733901" y="0"/>
                </a:lnTo>
                <a:lnTo>
                  <a:pt x="9733901" y="6721812"/>
                </a:lnTo>
                <a:lnTo>
                  <a:pt x="0" y="6721812"/>
                </a:lnTo>
                <a:lnTo>
                  <a:pt x="0" y="0"/>
                </a:lnTo>
                <a:close/>
              </a:path>
            </a:pathLst>
          </a:custGeom>
          <a:blipFill>
            <a:blip r:embed="rId3"/>
            <a:stretch>
              <a:fillRect l="-454" t="-2032" r="-5233" b="0"/>
            </a:stretch>
          </a:blipFill>
        </p:spPr>
      </p:sp>
      <p:sp>
        <p:nvSpPr>
          <p:cNvPr name="TextBox 6" id="6"/>
          <p:cNvSpPr txBox="true"/>
          <p:nvPr/>
        </p:nvSpPr>
        <p:spPr>
          <a:xfrm rot="0">
            <a:off x="9972286" y="2563495"/>
            <a:ext cx="7689998" cy="6694805"/>
          </a:xfrm>
          <a:prstGeom prst="rect">
            <a:avLst/>
          </a:prstGeom>
        </p:spPr>
        <p:txBody>
          <a:bodyPr anchor="t" rtlCol="false" tIns="0" lIns="0" bIns="0" rIns="0">
            <a:spAutoFit/>
          </a:bodyPr>
          <a:lstStyle/>
          <a:p>
            <a:pPr algn="just">
              <a:lnSpc>
                <a:spcPts val="2170"/>
              </a:lnSpc>
            </a:pPr>
            <a:r>
              <a:rPr lang="en-US" sz="1550">
                <a:solidFill>
                  <a:srgbClr val="A4CE3E"/>
                </a:solidFill>
                <a:latin typeface="Avenir"/>
                <a:ea typeface="Avenir"/>
                <a:cs typeface="Avenir"/>
                <a:sym typeface="Avenir"/>
              </a:rPr>
              <a:t>Proposed Design</a:t>
            </a:r>
          </a:p>
          <a:p>
            <a:pPr algn="just">
              <a:lnSpc>
                <a:spcPts val="2170"/>
              </a:lnSpc>
            </a:pPr>
          </a:p>
          <a:p>
            <a:pPr algn="just">
              <a:lnSpc>
                <a:spcPts val="2170"/>
              </a:lnSpc>
            </a:pPr>
            <a:r>
              <a:rPr lang="en-US" sz="1550">
                <a:solidFill>
                  <a:srgbClr val="F7FBF8"/>
                </a:solidFill>
                <a:latin typeface="Avenir"/>
                <a:ea typeface="Avenir"/>
                <a:cs typeface="Avenir"/>
                <a:sym typeface="Avenir"/>
              </a:rPr>
              <a:t>The proposed scheme design should be broken down into building layers to design out waste, optimise material use and keeping building elements/materials in use after the end of their life cycle. Please refer to the summary of strategies in the table below.</a:t>
            </a:r>
          </a:p>
          <a:p>
            <a:pPr algn="just">
              <a:lnSpc>
                <a:spcPts val="2170"/>
              </a:lnSpc>
            </a:pPr>
          </a:p>
          <a:p>
            <a:pPr algn="just">
              <a:lnSpc>
                <a:spcPts val="2170"/>
              </a:lnSpc>
            </a:pPr>
            <a:r>
              <a:rPr lang="en-US" sz="1550">
                <a:solidFill>
                  <a:srgbClr val="F7FBF8"/>
                </a:solidFill>
                <a:latin typeface="Avenir"/>
                <a:ea typeface="Avenir"/>
                <a:cs typeface="Avenir"/>
                <a:sym typeface="Avenir"/>
              </a:rPr>
              <a:t>The design objective for the elements with longer life cycle (more than 25 years) is to design for longevity, adaptability and flexibility. Concrete provides longevity and high thermal mass whilst steel is highly recyclable.</a:t>
            </a:r>
          </a:p>
          <a:p>
            <a:pPr algn="just">
              <a:lnSpc>
                <a:spcPts val="2170"/>
              </a:lnSpc>
            </a:pPr>
          </a:p>
          <a:p>
            <a:pPr algn="just">
              <a:lnSpc>
                <a:spcPts val="2170"/>
              </a:lnSpc>
            </a:pPr>
            <a:r>
              <a:rPr lang="en-US" sz="1550">
                <a:solidFill>
                  <a:srgbClr val="F7FBF8"/>
                </a:solidFill>
                <a:latin typeface="Avenir"/>
                <a:ea typeface="Avenir"/>
                <a:cs typeface="Avenir"/>
                <a:sym typeface="Avenir"/>
              </a:rPr>
              <a:t>Building layers with shorter life expectancy (less than 25 years) will be designed for ease of</a:t>
            </a:r>
          </a:p>
          <a:p>
            <a:pPr algn="just">
              <a:lnSpc>
                <a:spcPts val="2170"/>
              </a:lnSpc>
            </a:pPr>
            <a:r>
              <a:rPr lang="en-US" sz="1550">
                <a:solidFill>
                  <a:srgbClr val="F7FBF8"/>
                </a:solidFill>
                <a:latin typeface="Avenir"/>
                <a:ea typeface="Avenir"/>
                <a:cs typeface="Avenir"/>
                <a:sym typeface="Avenir"/>
              </a:rPr>
              <a:t>maintenance, reuse and recoverability. The plant will be made accessible for replaceability</a:t>
            </a:r>
          </a:p>
          <a:p>
            <a:pPr algn="just">
              <a:lnSpc>
                <a:spcPts val="2170"/>
              </a:lnSpc>
            </a:pPr>
            <a:r>
              <a:rPr lang="en-US" sz="1550">
                <a:solidFill>
                  <a:srgbClr val="F7FBF8"/>
                </a:solidFill>
                <a:latin typeface="Avenir"/>
                <a:ea typeface="Avenir"/>
                <a:cs typeface="Avenir"/>
                <a:sym typeface="Avenir"/>
              </a:rPr>
              <a:t>and maintenance. In terms of building services, a water based wet system is proposed for the communal network thus reducing the use of refrigerant in the building. The proposed mixed mechanical ventilation system with heat recovery reduces the heating demand, thus reducing the plant requirement.</a:t>
            </a:r>
          </a:p>
          <a:p>
            <a:pPr algn="just">
              <a:lnSpc>
                <a:spcPts val="2170"/>
              </a:lnSpc>
            </a:pPr>
          </a:p>
          <a:p>
            <a:pPr algn="just">
              <a:lnSpc>
                <a:spcPts val="2170"/>
              </a:lnSpc>
            </a:pPr>
            <a:r>
              <a:rPr lang="en-US" sz="1550">
                <a:solidFill>
                  <a:srgbClr val="F7FBF8"/>
                </a:solidFill>
                <a:latin typeface="Avenir"/>
                <a:ea typeface="Avenir"/>
                <a:cs typeface="Avenir"/>
                <a:sym typeface="Avenir"/>
              </a:rPr>
              <a:t>Opportunities will be explored for reusing hoardings and scaffoldings. Discussions with</a:t>
            </a:r>
          </a:p>
          <a:p>
            <a:pPr algn="just">
              <a:lnSpc>
                <a:spcPts val="2170"/>
              </a:lnSpc>
            </a:pPr>
            <a:r>
              <a:rPr lang="en-US" sz="1550">
                <a:solidFill>
                  <a:srgbClr val="F7FBF8"/>
                </a:solidFill>
                <a:latin typeface="Avenir"/>
                <a:ea typeface="Avenir"/>
                <a:cs typeface="Avenir"/>
                <a:sym typeface="Avenir"/>
              </a:rPr>
              <a:t>suppliers with regards to the possibility of sending back the packaging for reuse will be</a:t>
            </a:r>
          </a:p>
          <a:p>
            <a:pPr algn="just">
              <a:lnSpc>
                <a:spcPts val="2170"/>
              </a:lnSpc>
            </a:pPr>
            <a:r>
              <a:rPr lang="en-US" sz="1550">
                <a:solidFill>
                  <a:srgbClr val="F7FBF8"/>
                </a:solidFill>
                <a:latin typeface="Avenir"/>
                <a:ea typeface="Avenir"/>
                <a:cs typeface="Avenir"/>
                <a:sym typeface="Avenir"/>
              </a:rPr>
              <a:t>explored. Offsite and modern methods of construction may be considered to further optimise material use and waste minimisation.</a:t>
            </a:r>
          </a:p>
          <a:p>
            <a:pPr algn="just">
              <a:lnSpc>
                <a:spcPts val="2170"/>
              </a:lnSpc>
            </a:pPr>
          </a:p>
        </p:txBody>
      </p:sp>
      <p:sp>
        <p:nvSpPr>
          <p:cNvPr name="TextBox 7" id="7"/>
          <p:cNvSpPr txBox="true"/>
          <p:nvPr/>
        </p:nvSpPr>
        <p:spPr>
          <a:xfrm rot="0">
            <a:off x="2443566" y="1178972"/>
            <a:ext cx="12654753" cy="689547"/>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Strategic Approach - </a:t>
            </a:r>
            <a:r>
              <a:rPr lang="en-US" sz="5598" spc="-279">
                <a:solidFill>
                  <a:srgbClr val="A4CE3E"/>
                </a:solidFill>
                <a:latin typeface="DM Sans"/>
                <a:ea typeface="DM Sans"/>
                <a:cs typeface="DM Sans"/>
                <a:sym typeface="DM Sans"/>
              </a:rPr>
              <a:t>Proposed Design</a:t>
            </a:r>
          </a:p>
        </p:txBody>
      </p:sp>
      <p:sp>
        <p:nvSpPr>
          <p:cNvPr name="Freeform 8" id="8"/>
          <p:cNvSpPr/>
          <p:nvPr/>
        </p:nvSpPr>
        <p:spPr>
          <a:xfrm flipH="false" flipV="false" rot="0">
            <a:off x="17259300" y="235165"/>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
        <p:nvSpPr>
          <p:cNvPr name="Freeform 9" id="9"/>
          <p:cNvSpPr/>
          <p:nvPr/>
        </p:nvSpPr>
        <p:spPr>
          <a:xfrm flipH="false" flipV="false" rot="0">
            <a:off x="1028700" y="915276"/>
            <a:ext cx="1062239" cy="1055013"/>
          </a:xfrm>
          <a:custGeom>
            <a:avLst/>
            <a:gdLst/>
            <a:ahLst/>
            <a:cxnLst/>
            <a:rect r="r" b="b" t="t" l="l"/>
            <a:pathLst>
              <a:path h="1055013" w="1062239">
                <a:moveTo>
                  <a:pt x="0" y="0"/>
                </a:moveTo>
                <a:lnTo>
                  <a:pt x="1062239" y="0"/>
                </a:lnTo>
                <a:lnTo>
                  <a:pt x="1062239" y="1055014"/>
                </a:lnTo>
                <a:lnTo>
                  <a:pt x="0" y="1055014"/>
                </a:lnTo>
                <a:lnTo>
                  <a:pt x="0" y="0"/>
                </a:lnTo>
                <a:close/>
              </a:path>
            </a:pathLst>
          </a:custGeom>
          <a:blipFill>
            <a:blip r:embed="rId5"/>
            <a:stretch>
              <a:fillRect l="-8797" t="-66863" r="-261858" b="-81932"/>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93062" y="3984359"/>
            <a:ext cx="7711787" cy="4827905"/>
          </a:xfrm>
          <a:prstGeom prst="rect">
            <a:avLst/>
          </a:prstGeom>
        </p:spPr>
        <p:txBody>
          <a:bodyPr anchor="t" rtlCol="false" tIns="0" lIns="0" bIns="0" rIns="0">
            <a:spAutoFit/>
          </a:bodyPr>
          <a:lstStyle/>
          <a:p>
            <a:pPr algn="just">
              <a:lnSpc>
                <a:spcPts val="2169"/>
              </a:lnSpc>
            </a:pPr>
            <a:r>
              <a:rPr lang="en-US" sz="1549" b="true">
                <a:solidFill>
                  <a:srgbClr val="A4CE3E"/>
                </a:solidFill>
                <a:latin typeface="Avenir Bold"/>
                <a:ea typeface="Avenir Bold"/>
                <a:cs typeface="Avenir Bold"/>
                <a:sym typeface="Avenir Bold"/>
              </a:rPr>
              <a:t>1. Circular Economy Commitments</a:t>
            </a:r>
          </a:p>
          <a:p>
            <a:pPr algn="just">
              <a:lnSpc>
                <a:spcPts val="2169"/>
              </a:lnSpc>
            </a:pPr>
          </a:p>
          <a:p>
            <a:pPr algn="just">
              <a:lnSpc>
                <a:spcPts val="2169"/>
              </a:lnSpc>
            </a:pPr>
            <a:r>
              <a:rPr lang="en-US" sz="1549">
                <a:solidFill>
                  <a:srgbClr val="F7FBF8"/>
                </a:solidFill>
                <a:latin typeface="Avenir"/>
                <a:ea typeface="Avenir"/>
                <a:cs typeface="Avenir"/>
                <a:sym typeface="Avenir"/>
              </a:rPr>
              <a:t>The project is adopting exemplary circular economy commitments that go beyond standard practice construction, including: </a:t>
            </a:r>
          </a:p>
          <a:p>
            <a:pPr algn="just">
              <a:lnSpc>
                <a:spcPts val="2169"/>
              </a:lnSpc>
            </a:pPr>
          </a:p>
          <a:p>
            <a:pPr algn="just">
              <a:lnSpc>
                <a:spcPts val="2169"/>
              </a:lnSpc>
            </a:pPr>
            <a:r>
              <a:rPr lang="en-US" sz="1549">
                <a:solidFill>
                  <a:srgbClr val="F7FBF8"/>
                </a:solidFill>
                <a:latin typeface="Avenir"/>
                <a:ea typeface="Avenir"/>
                <a:cs typeface="Avenir"/>
                <a:sym typeface="Avenir"/>
              </a:rPr>
              <a:t>{{CIRCULAR_ECONOMY_COMMITMENTS}}</a:t>
            </a:r>
          </a:p>
          <a:p>
            <a:pPr algn="just">
              <a:lnSpc>
                <a:spcPts val="2169"/>
              </a:lnSpc>
            </a:pPr>
          </a:p>
          <a:p>
            <a:pPr algn="just">
              <a:lnSpc>
                <a:spcPts val="2169"/>
              </a:lnSpc>
            </a:pPr>
            <a:r>
              <a:rPr lang="en-US" sz="1549" b="true">
                <a:solidFill>
                  <a:srgbClr val="A4CE3E"/>
                </a:solidFill>
                <a:latin typeface="Avenir Bold"/>
                <a:ea typeface="Avenir Bold"/>
                <a:cs typeface="Avenir Bold"/>
                <a:sym typeface="Avenir Bold"/>
              </a:rPr>
              <a:t>1.1 Key Circular Economy Commitments Narrative</a:t>
            </a:r>
          </a:p>
          <a:p>
            <a:pPr algn="just">
              <a:lnSpc>
                <a:spcPts val="2169"/>
              </a:lnSpc>
            </a:pPr>
          </a:p>
          <a:p>
            <a:pPr algn="just">
              <a:lnSpc>
                <a:spcPts val="2169"/>
              </a:lnSpc>
            </a:pPr>
            <a:r>
              <a:rPr lang="en-US" sz="1549" b="true">
                <a:solidFill>
                  <a:srgbClr val="A4CE3E"/>
                </a:solidFill>
                <a:latin typeface="Avenir Bold"/>
                <a:ea typeface="Avenir Bold"/>
                <a:cs typeface="Avenir Bold"/>
                <a:sym typeface="Avenir Bold"/>
              </a:rPr>
              <a:t>Minimise material quantities</a:t>
            </a:r>
          </a:p>
          <a:p>
            <a:pPr algn="just">
              <a:lnSpc>
                <a:spcPts val="2169"/>
              </a:lnSpc>
            </a:pPr>
            <a:r>
              <a:rPr lang="en-US" sz="1549">
                <a:solidFill>
                  <a:srgbClr val="F7FBF8"/>
                </a:solidFill>
                <a:latin typeface="Avenir"/>
                <a:ea typeface="Avenir"/>
                <a:cs typeface="Avenir"/>
                <a:sym typeface="Avenir"/>
              </a:rPr>
              <a:t>The major part of the development will take place using an existing structure and</a:t>
            </a:r>
          </a:p>
          <a:p>
            <a:pPr algn="just">
              <a:lnSpc>
                <a:spcPts val="2169"/>
              </a:lnSpc>
            </a:pPr>
            <a:r>
              <a:rPr lang="en-US" sz="1549">
                <a:solidFill>
                  <a:srgbClr val="F7FBF8"/>
                </a:solidFill>
                <a:latin typeface="Avenir"/>
                <a:ea typeface="Avenir"/>
                <a:cs typeface="Avenir"/>
                <a:sym typeface="Avenir"/>
              </a:rPr>
              <a:t>foundations, retaining the slabs of the existing building. The rest of the development will use an optimised structure in order to reduce material usage.</a:t>
            </a:r>
          </a:p>
          <a:p>
            <a:pPr algn="just">
              <a:lnSpc>
                <a:spcPts val="2169"/>
              </a:lnSpc>
            </a:pPr>
          </a:p>
          <a:p>
            <a:pPr algn="just">
              <a:lnSpc>
                <a:spcPts val="2169"/>
              </a:lnSpc>
            </a:pPr>
            <a:r>
              <a:rPr lang="en-US" sz="1549" b="true">
                <a:solidFill>
                  <a:srgbClr val="A4CE3E"/>
                </a:solidFill>
                <a:latin typeface="Avenir Bold"/>
                <a:ea typeface="Avenir Bold"/>
                <a:cs typeface="Avenir Bold"/>
                <a:sym typeface="Avenir Bold"/>
              </a:rPr>
              <a:t>Minimise fuels, land &amp; water</a:t>
            </a:r>
          </a:p>
          <a:p>
            <a:pPr algn="just">
              <a:lnSpc>
                <a:spcPts val="2169"/>
              </a:lnSpc>
            </a:pPr>
            <a:r>
              <a:rPr lang="en-US" sz="1549">
                <a:solidFill>
                  <a:srgbClr val="F7FBF8"/>
                </a:solidFill>
                <a:latin typeface="Avenir"/>
                <a:ea typeface="Avenir"/>
                <a:cs typeface="Avenir"/>
                <a:sym typeface="Avenir"/>
              </a:rPr>
              <a:t>The development is on a brownfield site, will be designed for energy and water efficiency </a:t>
            </a:r>
            <a:r>
              <a:rPr lang="en-US" sz="1549">
                <a:solidFill>
                  <a:srgbClr val="F7FBF8"/>
                </a:solidFill>
                <a:latin typeface="Avenir"/>
                <a:ea typeface="Avenir"/>
                <a:cs typeface="Avenir"/>
                <a:sym typeface="Avenir"/>
              </a:rPr>
              <a:t>i</a:t>
            </a:r>
            <a:r>
              <a:rPr lang="en-US" sz="1549">
                <a:solidFill>
                  <a:srgbClr val="F7FBF8"/>
                </a:solidFill>
                <a:latin typeface="Avenir"/>
                <a:ea typeface="Avenir"/>
                <a:cs typeface="Avenir"/>
                <a:sym typeface="Avenir"/>
              </a:rPr>
              <a:t>n operation. Construction processes will prioritise fuel and water conservation, including delivery and storage logistics for example.</a:t>
            </a:r>
          </a:p>
        </p:txBody>
      </p:sp>
      <p:sp>
        <p:nvSpPr>
          <p:cNvPr name="TextBox 4" id="4"/>
          <p:cNvSpPr txBox="true"/>
          <p:nvPr/>
        </p:nvSpPr>
        <p:spPr>
          <a:xfrm rot="0">
            <a:off x="9339150" y="861863"/>
            <a:ext cx="8205203" cy="8506124"/>
          </a:xfrm>
          <a:prstGeom prst="rect">
            <a:avLst/>
          </a:prstGeom>
        </p:spPr>
        <p:txBody>
          <a:bodyPr anchor="t" rtlCol="false" tIns="0" lIns="0" bIns="0" rIns="0">
            <a:spAutoFit/>
          </a:bodyPr>
          <a:lstStyle/>
          <a:p>
            <a:pPr algn="just">
              <a:lnSpc>
                <a:spcPts val="2083"/>
              </a:lnSpc>
            </a:pPr>
          </a:p>
          <a:p>
            <a:pPr algn="just">
              <a:lnSpc>
                <a:spcPts val="2083"/>
              </a:lnSpc>
            </a:pPr>
            <a:r>
              <a:rPr lang="en-US" sz="1488" b="true">
                <a:solidFill>
                  <a:srgbClr val="A4CE3E"/>
                </a:solidFill>
                <a:latin typeface="Avenir Bold"/>
                <a:ea typeface="Avenir Bold"/>
                <a:cs typeface="Avenir Bold"/>
                <a:sym typeface="Avenir Bold"/>
              </a:rPr>
              <a:t>Specifying &amp; sourcing materials</a:t>
            </a:r>
          </a:p>
          <a:p>
            <a:pPr algn="just">
              <a:lnSpc>
                <a:spcPts val="2083"/>
              </a:lnSpc>
            </a:pPr>
            <a:r>
              <a:rPr lang="en-US" sz="1488">
                <a:solidFill>
                  <a:srgbClr val="F7FBF8"/>
                </a:solidFill>
                <a:latin typeface="Avenir"/>
                <a:ea typeface="Avenir"/>
                <a:cs typeface="Avenir"/>
                <a:sym typeface="Avenir"/>
              </a:rPr>
              <a:t>This involves designers and contractors collaborating for optimum results and includes</a:t>
            </a:r>
          </a:p>
          <a:p>
            <a:pPr algn="just">
              <a:lnSpc>
                <a:spcPts val="2083"/>
              </a:lnSpc>
            </a:pPr>
            <a:r>
              <a:rPr lang="en-US" sz="1488">
                <a:solidFill>
                  <a:srgbClr val="F7FBF8"/>
                </a:solidFill>
                <a:latin typeface="Avenir"/>
                <a:ea typeface="Avenir"/>
                <a:cs typeface="Avenir"/>
                <a:sym typeface="Avenir"/>
              </a:rPr>
              <a:t>reference to a bespoke Sustainable Procurement Plan. A high priority will be given to locally</a:t>
            </a:r>
          </a:p>
          <a:p>
            <a:pPr algn="just">
              <a:lnSpc>
                <a:spcPts val="2083"/>
              </a:lnSpc>
            </a:pPr>
            <a:r>
              <a:rPr lang="en-US" sz="1488">
                <a:solidFill>
                  <a:srgbClr val="F7FBF8"/>
                </a:solidFill>
                <a:latin typeface="Avenir"/>
                <a:ea typeface="Avenir"/>
                <a:cs typeface="Avenir"/>
                <a:sym typeface="Avenir"/>
              </a:rPr>
              <a:t>sourced, high recycled content materials and products with EPDs.</a:t>
            </a:r>
          </a:p>
          <a:p>
            <a:pPr algn="just">
              <a:lnSpc>
                <a:spcPts val="2083"/>
              </a:lnSpc>
            </a:pPr>
          </a:p>
          <a:p>
            <a:pPr algn="just">
              <a:lnSpc>
                <a:spcPts val="2083"/>
              </a:lnSpc>
            </a:pPr>
            <a:r>
              <a:rPr lang="en-US" sz="1488" b="true">
                <a:solidFill>
                  <a:srgbClr val="A4CE3E"/>
                </a:solidFill>
                <a:latin typeface="Avenir Bold"/>
                <a:ea typeface="Avenir Bold"/>
                <a:cs typeface="Avenir Bold"/>
                <a:sym typeface="Avenir Bold"/>
              </a:rPr>
              <a:t>Design for longevity, adaptability/flexibility and reusability/recoverability</a:t>
            </a:r>
          </a:p>
          <a:p>
            <a:pPr algn="just">
              <a:lnSpc>
                <a:spcPts val="2083"/>
              </a:lnSpc>
            </a:pPr>
            <a:r>
              <a:rPr lang="en-US" sz="1488">
                <a:solidFill>
                  <a:srgbClr val="F7FBF8"/>
                </a:solidFill>
                <a:latin typeface="Avenir"/>
                <a:ea typeface="Avenir"/>
                <a:cs typeface="Avenir"/>
                <a:sym typeface="Avenir"/>
              </a:rPr>
              <a:t>Materials will be specified for durability and longevity. Waterproofing detailing, profiling,</a:t>
            </a:r>
          </a:p>
          <a:p>
            <a:pPr algn="just">
              <a:lnSpc>
                <a:spcPts val="2083"/>
              </a:lnSpc>
            </a:pPr>
            <a:r>
              <a:rPr lang="en-US" sz="1488">
                <a:solidFill>
                  <a:srgbClr val="F7FBF8"/>
                </a:solidFill>
                <a:latin typeface="Avenir"/>
                <a:ea typeface="Avenir"/>
                <a:cs typeface="Avenir"/>
                <a:sym typeface="Avenir"/>
              </a:rPr>
              <a:t>drainage details, fixings and general geometry will be thoroughly assessed.</a:t>
            </a:r>
          </a:p>
          <a:p>
            <a:pPr algn="just">
              <a:lnSpc>
                <a:spcPts val="2083"/>
              </a:lnSpc>
            </a:pPr>
          </a:p>
          <a:p>
            <a:pPr algn="just">
              <a:lnSpc>
                <a:spcPts val="2083"/>
              </a:lnSpc>
            </a:pPr>
            <a:r>
              <a:rPr lang="en-US" sz="1488">
                <a:solidFill>
                  <a:srgbClr val="F7FBF8"/>
                </a:solidFill>
                <a:latin typeface="Avenir"/>
                <a:ea typeface="Avenir"/>
                <a:cs typeface="Avenir"/>
                <a:sym typeface="Avenir"/>
              </a:rPr>
              <a:t>The strategic approach GLA decision tree directed attention towards designing for</a:t>
            </a:r>
          </a:p>
          <a:p>
            <a:pPr algn="just">
              <a:lnSpc>
                <a:spcPts val="2083"/>
              </a:lnSpc>
            </a:pPr>
            <a:r>
              <a:rPr lang="en-US" sz="1488">
                <a:solidFill>
                  <a:srgbClr val="F7FBF8"/>
                </a:solidFill>
                <a:latin typeface="Avenir"/>
                <a:ea typeface="Avenir"/>
                <a:cs typeface="Avenir"/>
                <a:sym typeface="Avenir"/>
              </a:rPr>
              <a:t>adaptability and longevity for the development. Non-load bearing internal partitions may</a:t>
            </a:r>
          </a:p>
          <a:p>
            <a:pPr algn="just">
              <a:lnSpc>
                <a:spcPts val="2083"/>
              </a:lnSpc>
            </a:pPr>
            <a:r>
              <a:rPr lang="en-US" sz="1488">
                <a:solidFill>
                  <a:srgbClr val="F7FBF8"/>
                </a:solidFill>
                <a:latin typeface="Avenir"/>
                <a:ea typeface="Avenir"/>
                <a:cs typeface="Avenir"/>
                <a:sym typeface="Avenir"/>
              </a:rPr>
              <a:t>be dismantled to accommodate the needs of the future tenants and adaptability without</a:t>
            </a:r>
          </a:p>
          <a:p>
            <a:pPr algn="just">
              <a:lnSpc>
                <a:spcPts val="2083"/>
              </a:lnSpc>
            </a:pPr>
            <a:r>
              <a:rPr lang="en-US" sz="1488">
                <a:solidFill>
                  <a:srgbClr val="F7FBF8"/>
                </a:solidFill>
                <a:latin typeface="Avenir"/>
                <a:ea typeface="Avenir"/>
                <a:cs typeface="Avenir"/>
                <a:sym typeface="Avenir"/>
              </a:rPr>
              <a:t>damaging the building structure (building in layers)</a:t>
            </a:r>
          </a:p>
          <a:p>
            <a:pPr algn="just">
              <a:lnSpc>
                <a:spcPts val="2083"/>
              </a:lnSpc>
            </a:pPr>
            <a:r>
              <a:rPr lang="en-US" sz="1488">
                <a:solidFill>
                  <a:srgbClr val="F7FBF8"/>
                </a:solidFill>
                <a:latin typeface="Avenir"/>
                <a:ea typeface="Avenir"/>
                <a:cs typeface="Avenir"/>
                <a:sym typeface="Avenir"/>
              </a:rPr>
              <a:t>Design out waste</a:t>
            </a:r>
          </a:p>
          <a:p>
            <a:pPr algn="just">
              <a:lnSpc>
                <a:spcPts val="2083"/>
              </a:lnSpc>
            </a:pPr>
          </a:p>
          <a:p>
            <a:pPr algn="just">
              <a:lnSpc>
                <a:spcPts val="2083"/>
              </a:lnSpc>
            </a:pPr>
            <a:r>
              <a:rPr lang="en-US" sz="1488" b="true">
                <a:solidFill>
                  <a:srgbClr val="A4CE3E"/>
                </a:solidFill>
                <a:latin typeface="Avenir Bold"/>
                <a:ea typeface="Avenir Bold"/>
                <a:cs typeface="Avenir Bold"/>
                <a:sym typeface="Avenir Bold"/>
              </a:rPr>
              <a:t>Design out Waste</a:t>
            </a:r>
          </a:p>
          <a:p>
            <a:pPr algn="just">
              <a:lnSpc>
                <a:spcPts val="2083"/>
              </a:lnSpc>
            </a:pPr>
            <a:r>
              <a:rPr lang="en-US" sz="1488">
                <a:solidFill>
                  <a:srgbClr val="F7FBF8"/>
                </a:solidFill>
                <a:latin typeface="Avenir"/>
                <a:ea typeface="Avenir"/>
                <a:cs typeface="Avenir"/>
                <a:sym typeface="Avenir"/>
              </a:rPr>
              <a:t>Apply the building in layers approach, the design objective for the elements with longer</a:t>
            </a:r>
          </a:p>
          <a:p>
            <a:pPr algn="just">
              <a:lnSpc>
                <a:spcPts val="2083"/>
              </a:lnSpc>
            </a:pPr>
            <a:r>
              <a:rPr lang="en-US" sz="1488">
                <a:solidFill>
                  <a:srgbClr val="F7FBF8"/>
                </a:solidFill>
                <a:latin typeface="Avenir"/>
                <a:ea typeface="Avenir"/>
                <a:cs typeface="Avenir"/>
                <a:sym typeface="Avenir"/>
              </a:rPr>
              <a:t>life cycles (more than 25 years) is to design for longevity, adaptability and flexibility.</a:t>
            </a:r>
          </a:p>
          <a:p>
            <a:pPr algn="just">
              <a:lnSpc>
                <a:spcPts val="2083"/>
              </a:lnSpc>
            </a:pPr>
            <a:r>
              <a:rPr lang="en-US" sz="1488">
                <a:solidFill>
                  <a:srgbClr val="F7FBF8"/>
                </a:solidFill>
                <a:latin typeface="Avenir"/>
                <a:ea typeface="Avenir"/>
                <a:cs typeface="Avenir"/>
                <a:sym typeface="Avenir"/>
              </a:rPr>
              <a:t>Building layers with shorter life expectancy (less than 25 years) will be designed for ease of</a:t>
            </a:r>
          </a:p>
          <a:p>
            <a:pPr algn="just">
              <a:lnSpc>
                <a:spcPts val="2083"/>
              </a:lnSpc>
            </a:pPr>
            <a:r>
              <a:rPr lang="en-US" sz="1488">
                <a:solidFill>
                  <a:srgbClr val="F7FBF8"/>
                </a:solidFill>
                <a:latin typeface="Avenir"/>
                <a:ea typeface="Avenir"/>
                <a:cs typeface="Avenir"/>
                <a:sym typeface="Avenir"/>
              </a:rPr>
              <a:t>maintenance, reuse and recoverability. The plant will be made accessible for replaceability</a:t>
            </a:r>
          </a:p>
          <a:p>
            <a:pPr algn="just">
              <a:lnSpc>
                <a:spcPts val="2083"/>
              </a:lnSpc>
            </a:pPr>
            <a:r>
              <a:rPr lang="en-US" sz="1488">
                <a:solidFill>
                  <a:srgbClr val="F7FBF8"/>
                </a:solidFill>
                <a:latin typeface="Avenir"/>
                <a:ea typeface="Avenir"/>
                <a:cs typeface="Avenir"/>
                <a:sym typeface="Avenir"/>
              </a:rPr>
              <a:t>and maintenance.</a:t>
            </a:r>
          </a:p>
          <a:p>
            <a:pPr algn="just">
              <a:lnSpc>
                <a:spcPts val="2083"/>
              </a:lnSpc>
            </a:pPr>
          </a:p>
          <a:p>
            <a:pPr algn="just">
              <a:lnSpc>
                <a:spcPts val="2083"/>
              </a:lnSpc>
            </a:pPr>
            <a:r>
              <a:rPr lang="en-US" sz="1488">
                <a:solidFill>
                  <a:srgbClr val="F7FBF8"/>
                </a:solidFill>
                <a:latin typeface="Avenir"/>
                <a:ea typeface="Avenir"/>
                <a:cs typeface="Avenir"/>
                <a:sym typeface="Avenir"/>
              </a:rPr>
              <a:t>{{BENCHMARK_FOR_RESOURCE_EFFICIENCY}}</a:t>
            </a:r>
          </a:p>
          <a:p>
            <a:pPr algn="just">
              <a:lnSpc>
                <a:spcPts val="2083"/>
              </a:lnSpc>
            </a:pPr>
          </a:p>
          <a:p>
            <a:pPr algn="just">
              <a:lnSpc>
                <a:spcPts val="2083"/>
              </a:lnSpc>
            </a:pPr>
            <a:r>
              <a:rPr lang="en-US" sz="1488" b="true">
                <a:solidFill>
                  <a:srgbClr val="A4CE3E"/>
                </a:solidFill>
                <a:latin typeface="Avenir Bold"/>
                <a:ea typeface="Avenir Bold"/>
                <a:cs typeface="Avenir Bold"/>
                <a:sym typeface="Avenir Bold"/>
              </a:rPr>
              <a:t>Manage waste sustainably and at the highest value</a:t>
            </a:r>
          </a:p>
          <a:p>
            <a:pPr algn="just">
              <a:lnSpc>
                <a:spcPts val="2083"/>
              </a:lnSpc>
            </a:pPr>
            <a:r>
              <a:rPr lang="en-US" sz="1488">
                <a:solidFill>
                  <a:srgbClr val="F7FBF8"/>
                </a:solidFill>
                <a:latin typeface="Avenir"/>
                <a:ea typeface="Avenir"/>
                <a:cs typeface="Avenir"/>
                <a:sym typeface="Avenir"/>
              </a:rPr>
              <a:t>A site waste management plan and an operational waste management plan will ensure</a:t>
            </a:r>
          </a:p>
          <a:p>
            <a:pPr algn="just">
              <a:lnSpc>
                <a:spcPts val="2083"/>
              </a:lnSpc>
            </a:pPr>
            <a:r>
              <a:rPr lang="en-US" sz="1488">
                <a:solidFill>
                  <a:srgbClr val="F7FBF8"/>
                </a:solidFill>
                <a:latin typeface="Avenir"/>
                <a:ea typeface="Avenir"/>
                <a:cs typeface="Avenir"/>
                <a:sym typeface="Avenir"/>
              </a:rPr>
              <a:t>optimum management and auditing of demolition, construction and municipal waste.</a:t>
            </a:r>
          </a:p>
          <a:p>
            <a:pPr algn="just">
              <a:lnSpc>
                <a:spcPts val="2083"/>
              </a:lnSpc>
            </a:pPr>
          </a:p>
          <a:p>
            <a:pPr algn="just">
              <a:lnSpc>
                <a:spcPts val="2083"/>
              </a:lnSpc>
            </a:pPr>
            <a:r>
              <a:rPr lang="en-US" sz="1488">
                <a:solidFill>
                  <a:srgbClr val="F7FBF8"/>
                </a:solidFill>
                <a:latin typeface="Avenir"/>
                <a:ea typeface="Avenir"/>
                <a:cs typeface="Avenir"/>
                <a:sym typeface="Avenir"/>
              </a:rPr>
              <a:t>The team aims to divert 99% of construction waste and 99% of the demolition/excavation</a:t>
            </a:r>
          </a:p>
          <a:p>
            <a:pPr algn="just">
              <a:lnSpc>
                <a:spcPts val="2083"/>
              </a:lnSpc>
            </a:pPr>
            <a:r>
              <a:rPr lang="en-US" sz="1488">
                <a:solidFill>
                  <a:srgbClr val="F7FBF8"/>
                </a:solidFill>
                <a:latin typeface="Avenir"/>
                <a:ea typeface="Avenir"/>
                <a:cs typeface="Avenir"/>
                <a:sym typeface="Avenir"/>
              </a:rPr>
              <a:t>waste from going into the landfill.</a:t>
            </a:r>
          </a:p>
          <a:p>
            <a:pPr algn="just">
              <a:lnSpc>
                <a:spcPts val="2083"/>
              </a:lnSpc>
            </a:pPr>
          </a:p>
          <a:p>
            <a:pPr algn="just">
              <a:lnSpc>
                <a:spcPts val="2083"/>
              </a:lnSpc>
            </a:pPr>
          </a:p>
        </p:txBody>
      </p:sp>
      <p:sp>
        <p:nvSpPr>
          <p:cNvPr name="TextBox 5" id="5"/>
          <p:cNvSpPr txBox="true"/>
          <p:nvPr/>
        </p:nvSpPr>
        <p:spPr>
          <a:xfrm rot="0">
            <a:off x="1645775" y="1313374"/>
            <a:ext cx="7907766" cy="1327722"/>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Circular Economy </a:t>
            </a:r>
            <a:r>
              <a:rPr lang="en-US" sz="5598" spc="-279">
                <a:solidFill>
                  <a:srgbClr val="A4CE3E"/>
                </a:solidFill>
                <a:latin typeface="DM Sans"/>
                <a:ea typeface="DM Sans"/>
                <a:cs typeface="DM Sans"/>
                <a:sym typeface="DM Sans"/>
              </a:rPr>
              <a:t>Commitments</a:t>
            </a:r>
          </a:p>
        </p:txBody>
      </p:sp>
      <p:sp>
        <p:nvSpPr>
          <p:cNvPr name="AutoShape 6" id="6"/>
          <p:cNvSpPr/>
          <p:nvPr/>
        </p:nvSpPr>
        <p:spPr>
          <a:xfrm flipH="true" flipV="true">
            <a:off x="1645775" y="2978947"/>
            <a:ext cx="4519233" cy="0"/>
          </a:xfrm>
          <a:prstGeom prst="line">
            <a:avLst/>
          </a:prstGeom>
          <a:ln cap="flat" w="19050">
            <a:solidFill>
              <a:srgbClr val="A3CF3E"/>
            </a:solidFill>
            <a:prstDash val="solid"/>
            <a:headEnd type="none" len="sm" w="sm"/>
            <a:tailEnd type="none" len="sm" w="sm"/>
          </a:ln>
        </p:spPr>
      </p:sp>
      <p:sp>
        <p:nvSpPr>
          <p:cNvPr name="Freeform 7" id="7"/>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8" id="8"/>
          <p:cNvSpPr/>
          <p:nvPr/>
        </p:nvSpPr>
        <p:spPr>
          <a:xfrm flipH="false" flipV="false" rot="0">
            <a:off x="361943" y="1368766"/>
            <a:ext cx="1062239" cy="1055013"/>
          </a:xfrm>
          <a:custGeom>
            <a:avLst/>
            <a:gdLst/>
            <a:ahLst/>
            <a:cxnLst/>
            <a:rect r="r" b="b" t="t" l="l"/>
            <a:pathLst>
              <a:path h="1055013" w="1062239">
                <a:moveTo>
                  <a:pt x="0" y="0"/>
                </a:moveTo>
                <a:lnTo>
                  <a:pt x="1062239" y="0"/>
                </a:lnTo>
                <a:lnTo>
                  <a:pt x="1062239" y="1055013"/>
                </a:lnTo>
                <a:lnTo>
                  <a:pt x="0" y="1055013"/>
                </a:lnTo>
                <a:lnTo>
                  <a:pt x="0" y="0"/>
                </a:lnTo>
                <a:close/>
              </a:path>
            </a:pathLst>
          </a:custGeom>
          <a:blipFill>
            <a:blip r:embed="rId4"/>
            <a:stretch>
              <a:fillRect l="-8797" t="-66863" r="-261858" b="-81932"/>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56694" y="3366843"/>
            <a:ext cx="7770900" cy="4827905"/>
          </a:xfrm>
          <a:prstGeom prst="rect">
            <a:avLst/>
          </a:prstGeom>
        </p:spPr>
        <p:txBody>
          <a:bodyPr anchor="t" rtlCol="false" tIns="0" lIns="0" bIns="0" rIns="0">
            <a:spAutoFit/>
          </a:bodyPr>
          <a:lstStyle/>
          <a:p>
            <a:pPr algn="just" marL="0" indent="0" lvl="0">
              <a:lnSpc>
                <a:spcPts val="2170"/>
              </a:lnSpc>
            </a:pPr>
            <a:r>
              <a:rPr lang="en-US" sz="1550">
                <a:solidFill>
                  <a:srgbClr val="F7FBF8"/>
                </a:solidFill>
                <a:latin typeface="Avenir"/>
                <a:ea typeface="Avenir"/>
                <a:cs typeface="Avenir"/>
                <a:sym typeface="Avenir"/>
              </a:rPr>
              <a:t>A Site Waste and Resource Management Plan (SWMP) will be created by the contractor to outline strategies for diverting waste from landfills through methods such as:</a:t>
            </a:r>
          </a:p>
          <a:p>
            <a:pPr algn="just" marL="0" indent="0" lvl="0">
              <a:lnSpc>
                <a:spcPts val="2170"/>
              </a:lnSpc>
            </a:pPr>
          </a:p>
          <a:p>
            <a:pPr algn="just" marL="334646" indent="-167323" lvl="1">
              <a:lnSpc>
                <a:spcPts val="2170"/>
              </a:lnSpc>
              <a:buFont typeface="Arial"/>
              <a:buChar char="•"/>
            </a:pPr>
            <a:r>
              <a:rPr lang="en-US" sz="1550">
                <a:solidFill>
                  <a:srgbClr val="F7FBF8"/>
                </a:solidFill>
                <a:latin typeface="Avenir"/>
                <a:ea typeface="Avenir"/>
                <a:cs typeface="Avenir"/>
                <a:sym typeface="Avenir"/>
              </a:rPr>
              <a:t>Reusing materials on-site</a:t>
            </a:r>
          </a:p>
          <a:p>
            <a:pPr algn="just" marL="334646" indent="-167323" lvl="1">
              <a:lnSpc>
                <a:spcPts val="2170"/>
              </a:lnSpc>
              <a:buFont typeface="Arial"/>
              <a:buChar char="•"/>
            </a:pPr>
            <a:r>
              <a:rPr lang="en-US" sz="1550">
                <a:solidFill>
                  <a:srgbClr val="F7FBF8"/>
                </a:solidFill>
                <a:latin typeface="Avenir"/>
                <a:ea typeface="Avenir"/>
                <a:cs typeface="Avenir"/>
                <a:sym typeface="Avenir"/>
              </a:rPr>
              <a:t>Repurposing for other sites</a:t>
            </a:r>
          </a:p>
          <a:p>
            <a:pPr algn="just" marL="334646" indent="-167323" lvl="1">
              <a:lnSpc>
                <a:spcPts val="2170"/>
              </a:lnSpc>
              <a:buFont typeface="Arial"/>
              <a:buChar char="•"/>
            </a:pPr>
            <a:r>
              <a:rPr lang="en-US" sz="1550">
                <a:solidFill>
                  <a:srgbClr val="F7FBF8"/>
                </a:solidFill>
                <a:latin typeface="Avenir"/>
                <a:ea typeface="Avenir"/>
                <a:cs typeface="Avenir"/>
                <a:sym typeface="Avenir"/>
              </a:rPr>
              <a:t>Salvaging materials</a:t>
            </a:r>
          </a:p>
          <a:p>
            <a:pPr algn="just" marL="334646" indent="-167323" lvl="1">
              <a:lnSpc>
                <a:spcPts val="2170"/>
              </a:lnSpc>
              <a:buFont typeface="Arial"/>
              <a:buChar char="•"/>
            </a:pPr>
            <a:r>
              <a:rPr lang="en-US" sz="1550">
                <a:solidFill>
                  <a:srgbClr val="F7FBF8"/>
                </a:solidFill>
                <a:latin typeface="Avenir"/>
                <a:ea typeface="Avenir"/>
                <a:cs typeface="Avenir"/>
                <a:sym typeface="Avenir"/>
              </a:rPr>
              <a:t>Implementing a ‘take-back’ scheme</a:t>
            </a:r>
          </a:p>
          <a:p>
            <a:pPr algn="just" marL="334646" indent="-167323" lvl="1">
              <a:lnSpc>
                <a:spcPts val="2170"/>
              </a:lnSpc>
              <a:buFont typeface="Arial"/>
              <a:buChar char="•"/>
            </a:pPr>
            <a:r>
              <a:rPr lang="en-US" sz="1550">
                <a:solidFill>
                  <a:srgbClr val="F7FBF8"/>
                </a:solidFill>
                <a:latin typeface="Avenir"/>
                <a:ea typeface="Avenir"/>
                <a:cs typeface="Avenir"/>
                <a:sym typeface="Avenir"/>
              </a:rPr>
              <a:t>Employing an approved waste contractor for recycling or energy recovery</a:t>
            </a:r>
          </a:p>
          <a:p>
            <a:pPr algn="just">
              <a:lnSpc>
                <a:spcPts val="2170"/>
              </a:lnSpc>
            </a:pPr>
          </a:p>
          <a:p>
            <a:pPr algn="just" marL="0" indent="0" lvl="0">
              <a:lnSpc>
                <a:spcPts val="2170"/>
              </a:lnSpc>
            </a:pPr>
            <a:r>
              <a:rPr lang="en-US" sz="1550">
                <a:solidFill>
                  <a:srgbClr val="F7FBF8"/>
                </a:solidFill>
                <a:latin typeface="Avenir"/>
                <a:ea typeface="Avenir"/>
                <a:cs typeface="Avenir"/>
                <a:sym typeface="Avenir"/>
              </a:rPr>
              <a:t>Waste will be categorised into groups like bricks, concrete, insulation, and plastics based on project waste streams. The SWMP aims for resource efficiency, targeting {{AIMS_RESOURCE_EFFICIENCY}}.  It will also include:</a:t>
            </a:r>
          </a:p>
          <a:p>
            <a:pPr algn="just" marL="0" indent="0" lvl="0">
              <a:lnSpc>
                <a:spcPts val="2170"/>
              </a:lnSpc>
            </a:pPr>
          </a:p>
          <a:p>
            <a:pPr algn="just" marL="334646" indent="-167323" lvl="1">
              <a:lnSpc>
                <a:spcPts val="2170"/>
              </a:lnSpc>
              <a:buFont typeface="Arial"/>
              <a:buChar char="•"/>
            </a:pPr>
            <a:r>
              <a:rPr lang="en-US" sz="1550">
                <a:solidFill>
                  <a:srgbClr val="F7FBF8"/>
                </a:solidFill>
                <a:latin typeface="Avenir"/>
                <a:ea typeface="Avenir"/>
                <a:cs typeface="Avenir"/>
                <a:sym typeface="Avenir"/>
              </a:rPr>
              <a:t>Procedures to minimise non-hazardous waste</a:t>
            </a:r>
          </a:p>
          <a:p>
            <a:pPr algn="just" marL="334646" indent="-167323" lvl="1">
              <a:lnSpc>
                <a:spcPts val="2170"/>
              </a:lnSpc>
              <a:buFont typeface="Arial"/>
              <a:buChar char="•"/>
            </a:pPr>
            <a:r>
              <a:rPr lang="en-US" sz="1550">
                <a:solidFill>
                  <a:srgbClr val="F7FBF8"/>
                </a:solidFill>
                <a:latin typeface="Avenir"/>
                <a:ea typeface="Avenir"/>
                <a:cs typeface="Avenir"/>
                <a:sym typeface="Avenir"/>
              </a:rPr>
              <a:t>Strategies for reducing hazardous waste</a:t>
            </a:r>
          </a:p>
          <a:p>
            <a:pPr algn="just" marL="334646" indent="-167323" lvl="1">
              <a:lnSpc>
                <a:spcPts val="2170"/>
              </a:lnSpc>
              <a:buFont typeface="Arial"/>
              <a:buChar char="•"/>
            </a:pPr>
            <a:r>
              <a:rPr lang="en-US" sz="1550">
                <a:solidFill>
                  <a:srgbClr val="F7FBF8"/>
                </a:solidFill>
                <a:latin typeface="Avenir"/>
                <a:ea typeface="Avenir"/>
                <a:cs typeface="Avenir"/>
                <a:sym typeface="Avenir"/>
              </a:rPr>
              <a:t>Monitoring methods for waste reporting</a:t>
            </a:r>
          </a:p>
          <a:p>
            <a:pPr algn="just" marL="334646" indent="-167323" lvl="1">
              <a:lnSpc>
                <a:spcPts val="2170"/>
              </a:lnSpc>
              <a:buFont typeface="Arial"/>
              <a:buChar char="•"/>
            </a:pPr>
            <a:r>
              <a:rPr lang="en-US" sz="1550">
                <a:solidFill>
                  <a:srgbClr val="F7FBF8"/>
                </a:solidFill>
                <a:latin typeface="Avenir"/>
                <a:ea typeface="Avenir"/>
                <a:cs typeface="Avenir"/>
                <a:sym typeface="Avenir"/>
              </a:rPr>
              <a:t>Guidelines for sorting and recycling construction waste</a:t>
            </a:r>
          </a:p>
          <a:p>
            <a:pPr algn="just">
              <a:lnSpc>
                <a:spcPts val="2170"/>
              </a:lnSpc>
            </a:pPr>
            <a:r>
              <a:rPr lang="en-US" sz="1550">
                <a:solidFill>
                  <a:srgbClr val="F7FBF8"/>
                </a:solidFill>
                <a:latin typeface="Avenir"/>
                <a:ea typeface="Avenir"/>
                <a:cs typeface="Avenir"/>
                <a:sym typeface="Avenir"/>
              </a:rPr>
              <a:t>The plan will identify the individual responsible for implementing these procedures.</a:t>
            </a:r>
          </a:p>
        </p:txBody>
      </p:sp>
      <p:sp>
        <p:nvSpPr>
          <p:cNvPr name="TextBox 4" id="4"/>
          <p:cNvSpPr txBox="true"/>
          <p:nvPr/>
        </p:nvSpPr>
        <p:spPr>
          <a:xfrm rot="0">
            <a:off x="9792220" y="2030095"/>
            <a:ext cx="8065304" cy="7228205"/>
          </a:xfrm>
          <a:prstGeom prst="rect">
            <a:avLst/>
          </a:prstGeom>
        </p:spPr>
        <p:txBody>
          <a:bodyPr anchor="t" rtlCol="false" tIns="0" lIns="0" bIns="0" rIns="0">
            <a:spAutoFit/>
          </a:bodyPr>
          <a:lstStyle/>
          <a:p>
            <a:pPr algn="just">
              <a:lnSpc>
                <a:spcPts val="2170"/>
              </a:lnSpc>
            </a:pPr>
            <a:r>
              <a:rPr lang="en-US" sz="1550">
                <a:solidFill>
                  <a:srgbClr val="F7FBF8"/>
                </a:solidFill>
                <a:latin typeface="Avenir"/>
                <a:ea typeface="Avenir"/>
                <a:cs typeface="Avenir"/>
                <a:sym typeface="Avenir"/>
              </a:rPr>
              <a:t>The plan should be in line with guidance provided by DEFRA, Building Research</a:t>
            </a:r>
          </a:p>
          <a:p>
            <a:pPr algn="just">
              <a:lnSpc>
                <a:spcPts val="2170"/>
              </a:lnSpc>
            </a:pPr>
            <a:r>
              <a:rPr lang="en-US" sz="1550">
                <a:solidFill>
                  <a:srgbClr val="F7FBF8"/>
                </a:solidFill>
                <a:latin typeface="Avenir"/>
                <a:ea typeface="Avenir"/>
                <a:cs typeface="Avenir"/>
                <a:sym typeface="Avenir"/>
              </a:rPr>
              <a:t>Establishment (BRE) and Waste &amp; Resources Action Programme (WRAP). Where materials</a:t>
            </a:r>
          </a:p>
          <a:p>
            <a:pPr algn="just">
              <a:lnSpc>
                <a:spcPts val="2170"/>
              </a:lnSpc>
            </a:pPr>
            <a:r>
              <a:rPr lang="en-US" sz="1550">
                <a:solidFill>
                  <a:srgbClr val="F7FBF8"/>
                </a:solidFill>
                <a:latin typeface="Avenir"/>
                <a:ea typeface="Avenir"/>
                <a:cs typeface="Avenir"/>
                <a:sym typeface="Avenir"/>
              </a:rPr>
              <a:t>cannot be reused or recycled on-site, the contractor will identify opportunities for potential</a:t>
            </a:r>
          </a:p>
          <a:p>
            <a:pPr algn="just">
              <a:lnSpc>
                <a:spcPts val="2170"/>
              </a:lnSpc>
            </a:pPr>
            <a:r>
              <a:rPr lang="en-US" sz="1550">
                <a:solidFill>
                  <a:srgbClr val="F7FBF8"/>
                </a:solidFill>
                <a:latin typeface="Avenir"/>
                <a:ea typeface="Avenir"/>
                <a:cs typeface="Avenir"/>
                <a:sym typeface="Avenir"/>
              </a:rPr>
              <a:t>reuse off-site. Material and waste generated through construction will be stored safely and</a:t>
            </a:r>
          </a:p>
          <a:p>
            <a:pPr algn="just">
              <a:lnSpc>
                <a:spcPts val="2170"/>
              </a:lnSpc>
            </a:pPr>
            <a:r>
              <a:rPr lang="en-US" sz="1550">
                <a:solidFill>
                  <a:srgbClr val="F7FBF8"/>
                </a:solidFill>
                <a:latin typeface="Avenir"/>
                <a:ea typeface="Avenir"/>
                <a:cs typeface="Avenir"/>
                <a:sym typeface="Avenir"/>
              </a:rPr>
              <a:t>efficiently, prior either for reuse on site or removal. Any materials to be reclaimed / reused</a:t>
            </a:r>
          </a:p>
          <a:p>
            <a:pPr algn="just">
              <a:lnSpc>
                <a:spcPts val="2170"/>
              </a:lnSpc>
            </a:pPr>
            <a:r>
              <a:rPr lang="en-US" sz="1550">
                <a:solidFill>
                  <a:srgbClr val="F7FBF8"/>
                </a:solidFill>
                <a:latin typeface="Avenir"/>
                <a:ea typeface="Avenir"/>
                <a:cs typeface="Avenir"/>
                <a:sym typeface="Avenir"/>
              </a:rPr>
              <a:t>will be done so in accordance with the WRAP protocol.</a:t>
            </a:r>
          </a:p>
          <a:p>
            <a:pPr algn="just">
              <a:lnSpc>
                <a:spcPts val="2170"/>
              </a:lnSpc>
            </a:pPr>
          </a:p>
          <a:p>
            <a:pPr algn="just">
              <a:lnSpc>
                <a:spcPts val="2170"/>
              </a:lnSpc>
            </a:pPr>
            <a:r>
              <a:rPr lang="en-US" sz="1550">
                <a:solidFill>
                  <a:srgbClr val="F7FBF8"/>
                </a:solidFill>
                <a:latin typeface="Avenir"/>
                <a:ea typeface="Avenir"/>
                <a:cs typeface="Avenir"/>
                <a:sym typeface="Avenir"/>
              </a:rPr>
              <a:t>The waste reports and records will be reviewed and audited periodically. They will be discussed with the Sustainability champion on site and the BREEAM assessor from time to time. At least 99% of excavation, demolition and construction waste will be diverted from landfill.</a:t>
            </a:r>
          </a:p>
          <a:p>
            <a:pPr algn="just">
              <a:lnSpc>
                <a:spcPts val="2170"/>
              </a:lnSpc>
            </a:pPr>
          </a:p>
          <a:p>
            <a:pPr algn="just">
              <a:lnSpc>
                <a:spcPts val="2170"/>
              </a:lnSpc>
            </a:pPr>
          </a:p>
          <a:p>
            <a:pPr algn="just">
              <a:lnSpc>
                <a:spcPts val="2170"/>
              </a:lnSpc>
            </a:pPr>
            <a:r>
              <a:rPr lang="en-US" sz="1550">
                <a:solidFill>
                  <a:srgbClr val="F7FBF8"/>
                </a:solidFill>
                <a:latin typeface="Avenir"/>
                <a:ea typeface="Avenir"/>
                <a:cs typeface="Avenir"/>
                <a:sym typeface="Avenir"/>
              </a:rPr>
              <a:t>Contractor will take appropriate measures on site to further reduce the environmental impact </a:t>
            </a:r>
            <a:r>
              <a:rPr lang="en-US" sz="1550">
                <a:solidFill>
                  <a:srgbClr val="F7FBF8"/>
                </a:solidFill>
                <a:latin typeface="Avenir"/>
                <a:ea typeface="Avenir"/>
                <a:cs typeface="Avenir"/>
                <a:sym typeface="Avenir"/>
              </a:rPr>
              <a:t>of the construction. They will adopt the following:</a:t>
            </a:r>
          </a:p>
          <a:p>
            <a:pPr algn="just">
              <a:lnSpc>
                <a:spcPts val="2170"/>
              </a:lnSpc>
            </a:pPr>
          </a:p>
          <a:p>
            <a:pPr algn="just" marL="334646" indent="-167323" lvl="1">
              <a:lnSpc>
                <a:spcPts val="2170"/>
              </a:lnSpc>
              <a:buFont typeface="Arial"/>
              <a:buChar char="•"/>
            </a:pPr>
            <a:r>
              <a:rPr lang="en-US" sz="1550">
                <a:solidFill>
                  <a:srgbClr val="F7FBF8"/>
                </a:solidFill>
                <a:latin typeface="Avenir"/>
                <a:ea typeface="Avenir"/>
                <a:cs typeface="Avenir"/>
                <a:sym typeface="Avenir"/>
              </a:rPr>
              <a:t>The contractor will register with the Considerate Constructor’s Scheme and aim to attain a high score in all categories</a:t>
            </a:r>
          </a:p>
          <a:p>
            <a:pPr algn="just" marL="334646" indent="-167323" lvl="1">
              <a:lnSpc>
                <a:spcPts val="2170"/>
              </a:lnSpc>
              <a:buFont typeface="Arial"/>
              <a:buChar char="•"/>
            </a:pPr>
            <a:r>
              <a:rPr lang="en-US" sz="1550">
                <a:solidFill>
                  <a:srgbClr val="F7FBF8"/>
                </a:solidFill>
                <a:latin typeface="Avenir"/>
                <a:ea typeface="Avenir"/>
                <a:cs typeface="Avenir"/>
                <a:sym typeface="Avenir"/>
              </a:rPr>
              <a:t>Energy efficient equipment, services and construction methods will be adopted to reduce energy consumption.</a:t>
            </a:r>
          </a:p>
          <a:p>
            <a:pPr algn="just" marL="334646" indent="-167323" lvl="1">
              <a:lnSpc>
                <a:spcPts val="2170"/>
              </a:lnSpc>
              <a:buFont typeface="Arial"/>
              <a:buChar char="•"/>
            </a:pPr>
            <a:r>
              <a:rPr lang="en-US" sz="1550">
                <a:solidFill>
                  <a:srgbClr val="F7FBF8"/>
                </a:solidFill>
                <a:latin typeface="Avenir"/>
                <a:ea typeface="Avenir"/>
                <a:cs typeface="Avenir"/>
                <a:sym typeface="Avenir"/>
              </a:rPr>
              <a:t>Water use will be minimised during operation, installation and construction processes</a:t>
            </a:r>
          </a:p>
          <a:p>
            <a:pPr algn="just" marL="334646" indent="-167323" lvl="1">
              <a:lnSpc>
                <a:spcPts val="2170"/>
              </a:lnSpc>
              <a:buFont typeface="Arial"/>
              <a:buChar char="•"/>
            </a:pPr>
            <a:r>
              <a:rPr lang="en-US" sz="1550">
                <a:solidFill>
                  <a:srgbClr val="F7FBF8"/>
                </a:solidFill>
                <a:latin typeface="Avenir"/>
                <a:ea typeface="Avenir"/>
                <a:cs typeface="Avenir"/>
                <a:sym typeface="Avenir"/>
              </a:rPr>
              <a:t>Energy including fuel and water use will be recorded on site during the construction process.</a:t>
            </a:r>
          </a:p>
          <a:p>
            <a:pPr algn="just" marL="334646" indent="-167323" lvl="1">
              <a:lnSpc>
                <a:spcPts val="2170"/>
              </a:lnSpc>
              <a:buFont typeface="Arial"/>
              <a:buChar char="•"/>
            </a:pPr>
            <a:r>
              <a:rPr lang="en-US" sz="1550">
                <a:solidFill>
                  <a:srgbClr val="F7FBF8"/>
                </a:solidFill>
                <a:latin typeface="Avenir"/>
                <a:ea typeface="Avenir"/>
                <a:cs typeface="Avenir"/>
                <a:sym typeface="Avenir"/>
              </a:rPr>
              <a:t>This audit will be referenced in the Contractors Resource Management Plan / SWMP</a:t>
            </a:r>
          </a:p>
          <a:p>
            <a:pPr algn="just">
              <a:lnSpc>
                <a:spcPts val="2170"/>
              </a:lnSpc>
            </a:pPr>
          </a:p>
          <a:p>
            <a:pPr algn="just">
              <a:lnSpc>
                <a:spcPts val="2170"/>
              </a:lnSpc>
            </a:pPr>
          </a:p>
          <a:p>
            <a:pPr algn="just">
              <a:lnSpc>
                <a:spcPts val="2170"/>
              </a:lnSpc>
            </a:pPr>
          </a:p>
        </p:txBody>
      </p:sp>
      <p:sp>
        <p:nvSpPr>
          <p:cNvPr name="TextBox 5" id="5"/>
          <p:cNvSpPr txBox="true"/>
          <p:nvPr/>
        </p:nvSpPr>
        <p:spPr>
          <a:xfrm rot="0">
            <a:off x="1944197" y="967769"/>
            <a:ext cx="6617401" cy="1327722"/>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F7FBF8"/>
                </a:solidFill>
                <a:latin typeface="DM Sans"/>
                <a:ea typeface="DM Sans"/>
                <a:cs typeface="DM Sans"/>
                <a:sym typeface="DM Sans"/>
              </a:rPr>
              <a:t>Implementation </a:t>
            </a:r>
            <a:r>
              <a:rPr lang="en-US" sz="5598" spc="-279">
                <a:solidFill>
                  <a:srgbClr val="A4CE3E"/>
                </a:solidFill>
                <a:latin typeface="DM Sans"/>
                <a:ea typeface="DM Sans"/>
                <a:cs typeface="DM Sans"/>
                <a:sym typeface="DM Sans"/>
              </a:rPr>
              <a:t>Strategy</a:t>
            </a:r>
            <a:r>
              <a:rPr lang="en-US" sz="5598" spc="-279">
                <a:solidFill>
                  <a:srgbClr val="F7FBF8"/>
                </a:solidFill>
                <a:latin typeface="DM Sans"/>
                <a:ea typeface="DM Sans"/>
                <a:cs typeface="DM Sans"/>
                <a:sym typeface="DM Sans"/>
              </a:rPr>
              <a:t> </a:t>
            </a:r>
          </a:p>
        </p:txBody>
      </p:sp>
      <p:sp>
        <p:nvSpPr>
          <p:cNvPr name="AutoShape 6" id="6"/>
          <p:cNvSpPr/>
          <p:nvPr/>
        </p:nvSpPr>
        <p:spPr>
          <a:xfrm flipH="true">
            <a:off x="1926275" y="2633352"/>
            <a:ext cx="5517768" cy="0"/>
          </a:xfrm>
          <a:prstGeom prst="line">
            <a:avLst/>
          </a:prstGeom>
          <a:ln cap="flat" w="19050">
            <a:solidFill>
              <a:srgbClr val="A3CF3E"/>
            </a:solidFill>
            <a:prstDash val="solid"/>
            <a:headEnd type="none" len="sm" w="sm"/>
            <a:tailEnd type="none" len="sm" w="sm"/>
          </a:ln>
        </p:spPr>
      </p:sp>
      <p:sp>
        <p:nvSpPr>
          <p:cNvPr name="AutoShape 7" id="7"/>
          <p:cNvSpPr/>
          <p:nvPr/>
        </p:nvSpPr>
        <p:spPr>
          <a:xfrm flipH="true">
            <a:off x="8900573" y="3173656"/>
            <a:ext cx="0" cy="5325581"/>
          </a:xfrm>
          <a:prstGeom prst="line">
            <a:avLst/>
          </a:prstGeom>
          <a:ln cap="flat" w="19050">
            <a:solidFill>
              <a:srgbClr val="A3CF3E"/>
            </a:solidFill>
            <a:prstDash val="solid"/>
            <a:headEnd type="none" len="sm" w="sm"/>
            <a:tailEnd type="none" len="sm" w="sm"/>
          </a:ln>
        </p:spPr>
      </p:sp>
      <p:sp>
        <p:nvSpPr>
          <p:cNvPr name="Freeform 8" id="8"/>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9" id="9"/>
          <p:cNvSpPr/>
          <p:nvPr/>
        </p:nvSpPr>
        <p:spPr>
          <a:xfrm flipH="false" flipV="false" rot="0">
            <a:off x="497580" y="1041757"/>
            <a:ext cx="1062239" cy="1055013"/>
          </a:xfrm>
          <a:custGeom>
            <a:avLst/>
            <a:gdLst/>
            <a:ahLst/>
            <a:cxnLst/>
            <a:rect r="r" b="b" t="t" l="l"/>
            <a:pathLst>
              <a:path h="1055013" w="1062239">
                <a:moveTo>
                  <a:pt x="0" y="0"/>
                </a:moveTo>
                <a:lnTo>
                  <a:pt x="1062240" y="0"/>
                </a:lnTo>
                <a:lnTo>
                  <a:pt x="1062240" y="1055013"/>
                </a:lnTo>
                <a:lnTo>
                  <a:pt x="0" y="1055013"/>
                </a:lnTo>
                <a:lnTo>
                  <a:pt x="0" y="0"/>
                </a:lnTo>
                <a:close/>
              </a:path>
            </a:pathLst>
          </a:custGeom>
          <a:blipFill>
            <a:blip r:embed="rId4"/>
            <a:stretch>
              <a:fillRect l="-8797" t="-66863" r="-261858" b="-81932"/>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AutoShape 3" id="3"/>
          <p:cNvSpPr/>
          <p:nvPr/>
        </p:nvSpPr>
        <p:spPr>
          <a:xfrm flipH="true">
            <a:off x="1886285" y="2494011"/>
            <a:ext cx="4425386" cy="0"/>
          </a:xfrm>
          <a:prstGeom prst="line">
            <a:avLst/>
          </a:prstGeom>
          <a:ln cap="flat" w="19050">
            <a:solidFill>
              <a:srgbClr val="A3CF3E"/>
            </a:solidFill>
            <a:prstDash val="solid"/>
            <a:headEnd type="none" len="sm" w="sm"/>
            <a:tailEnd type="none" len="sm" w="sm"/>
          </a:ln>
        </p:spPr>
      </p:sp>
      <p:sp>
        <p:nvSpPr>
          <p:cNvPr name="TextBox 4" id="4"/>
          <p:cNvSpPr txBox="true"/>
          <p:nvPr/>
        </p:nvSpPr>
        <p:spPr>
          <a:xfrm rot="0">
            <a:off x="739295" y="3134226"/>
            <a:ext cx="14335561" cy="3761105"/>
          </a:xfrm>
          <a:prstGeom prst="rect">
            <a:avLst/>
          </a:prstGeom>
        </p:spPr>
        <p:txBody>
          <a:bodyPr anchor="t" rtlCol="false" tIns="0" lIns="0" bIns="0" rIns="0">
            <a:spAutoFit/>
          </a:bodyPr>
          <a:lstStyle/>
          <a:p>
            <a:pPr algn="just">
              <a:lnSpc>
                <a:spcPts val="2170"/>
              </a:lnSpc>
            </a:pPr>
            <a:r>
              <a:rPr lang="en-US" sz="1550">
                <a:solidFill>
                  <a:srgbClr val="F7FBF8"/>
                </a:solidFill>
                <a:latin typeface="Avenir"/>
                <a:ea typeface="Avenir"/>
                <a:cs typeface="Avenir"/>
                <a:sym typeface="Avenir"/>
              </a:rPr>
              <a:t>Prior to demolition, it is useful to survey the site so that the volume, type and condition of </a:t>
            </a:r>
            <a:r>
              <a:rPr lang="en-US" sz="1550">
                <a:solidFill>
                  <a:srgbClr val="F7FBF8"/>
                </a:solidFill>
                <a:latin typeface="Avenir"/>
                <a:ea typeface="Avenir"/>
                <a:cs typeface="Avenir"/>
                <a:sym typeface="Avenir"/>
              </a:rPr>
              <a:t>the structure and internal fixtures and fittings can be determined. A pre-strip out audit provides a list of Key Waste Products (KWPs) that will be removed during the strip-out/ demolition phase of the refurbishment that are suitable for reuse and recycling.</a:t>
            </a:r>
          </a:p>
          <a:p>
            <a:pPr algn="just">
              <a:lnSpc>
                <a:spcPts val="2170"/>
              </a:lnSpc>
            </a:pPr>
          </a:p>
          <a:p>
            <a:pPr algn="just">
              <a:lnSpc>
                <a:spcPts val="2170"/>
              </a:lnSpc>
            </a:pPr>
            <a:r>
              <a:rPr lang="en-US" sz="1550">
                <a:solidFill>
                  <a:srgbClr val="F7FBF8"/>
                </a:solidFill>
                <a:latin typeface="Avenir"/>
                <a:ea typeface="Avenir"/>
                <a:cs typeface="Avenir"/>
                <a:sym typeface="Avenir"/>
              </a:rPr>
              <a:t>A review of the site was initially carried-out based on information provided: </a:t>
            </a:r>
          </a:p>
          <a:p>
            <a:pPr algn="just">
              <a:lnSpc>
                <a:spcPts val="2170"/>
              </a:lnSpc>
            </a:pPr>
          </a:p>
          <a:p>
            <a:pPr algn="just">
              <a:lnSpc>
                <a:spcPts val="2170"/>
              </a:lnSpc>
            </a:pPr>
            <a:r>
              <a:rPr lang="en-US" sz="1550">
                <a:solidFill>
                  <a:srgbClr val="F7FBF8"/>
                </a:solidFill>
                <a:latin typeface="Avenir"/>
                <a:ea typeface="Avenir"/>
                <a:cs typeface="Avenir"/>
                <a:sym typeface="Avenir"/>
              </a:rPr>
              <a:t>{{INITIAL_INFORMATION_PROVIDED}}</a:t>
            </a:r>
          </a:p>
          <a:p>
            <a:pPr algn="just">
              <a:lnSpc>
                <a:spcPts val="2170"/>
              </a:lnSpc>
            </a:pPr>
          </a:p>
          <a:p>
            <a:pPr algn="just">
              <a:lnSpc>
                <a:spcPts val="2170"/>
              </a:lnSpc>
            </a:pPr>
            <a:r>
              <a:rPr lang="en-US" sz="1550">
                <a:solidFill>
                  <a:srgbClr val="F7FBF8"/>
                </a:solidFill>
                <a:latin typeface="Avenir"/>
                <a:ea typeface="Avenir"/>
                <a:cs typeface="Avenir"/>
                <a:sym typeface="Avenir"/>
              </a:rPr>
              <a:t>This was followed-up by a site visit. The site visit involved measurement of materials to be removed and also allowed a detailed investigation of the quality and condition of components to assess their potential for reuse and recycling. The findings of the audit are based on measurements of different materials as well as estimates from visual assessment and drawings. Therefore, the results do include some margin of error when direct measurement has not been possible.</a:t>
            </a:r>
          </a:p>
          <a:p>
            <a:pPr algn="just">
              <a:lnSpc>
                <a:spcPts val="2170"/>
              </a:lnSpc>
            </a:pPr>
          </a:p>
          <a:p>
            <a:pPr algn="just">
              <a:lnSpc>
                <a:spcPts val="2170"/>
              </a:lnSpc>
            </a:pPr>
            <a:r>
              <a:rPr lang="en-US" sz="1550">
                <a:solidFill>
                  <a:srgbClr val="F7FBF8"/>
                </a:solidFill>
                <a:latin typeface="Avenir"/>
                <a:ea typeface="Avenir"/>
                <a:cs typeface="Avenir"/>
                <a:sym typeface="Avenir"/>
              </a:rPr>
              <a:t>Based on measurements, or estimates from drawings, the volume of different materials insitu has been estimated. The weight of the different materials has then been estimated using densities from the BRE’s Green Guide or from material suppliers.</a:t>
            </a:r>
          </a:p>
        </p:txBody>
      </p:sp>
      <p:sp>
        <p:nvSpPr>
          <p:cNvPr name="TextBox 5" id="5"/>
          <p:cNvSpPr txBox="true"/>
          <p:nvPr/>
        </p:nvSpPr>
        <p:spPr>
          <a:xfrm rot="0">
            <a:off x="1886285" y="1132781"/>
            <a:ext cx="885077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Methodology </a:t>
            </a:r>
          </a:p>
        </p:txBody>
      </p:sp>
      <p:sp>
        <p:nvSpPr>
          <p:cNvPr name="Freeform 6" id="6"/>
          <p:cNvSpPr/>
          <p:nvPr/>
        </p:nvSpPr>
        <p:spPr>
          <a:xfrm flipH="false" flipV="false" rot="0">
            <a:off x="497580" y="1248530"/>
            <a:ext cx="1062239" cy="1055013"/>
          </a:xfrm>
          <a:custGeom>
            <a:avLst/>
            <a:gdLst/>
            <a:ahLst/>
            <a:cxnLst/>
            <a:rect r="r" b="b" t="t" l="l"/>
            <a:pathLst>
              <a:path h="1055013" w="1062239">
                <a:moveTo>
                  <a:pt x="0" y="0"/>
                </a:moveTo>
                <a:lnTo>
                  <a:pt x="1062240" y="0"/>
                </a:lnTo>
                <a:lnTo>
                  <a:pt x="1062240" y="1055013"/>
                </a:lnTo>
                <a:lnTo>
                  <a:pt x="0" y="1055013"/>
                </a:lnTo>
                <a:lnTo>
                  <a:pt x="0" y="0"/>
                </a:lnTo>
                <a:close/>
              </a:path>
            </a:pathLst>
          </a:custGeom>
          <a:blipFill>
            <a:blip r:embed="rId3"/>
            <a:stretch>
              <a:fillRect l="-8797" t="-66863" r="-261858" b="-81932"/>
            </a:stretch>
          </a:blipFill>
        </p:spPr>
      </p:sp>
      <p:sp>
        <p:nvSpPr>
          <p:cNvPr name="Freeform 7" id="7"/>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{{SPEC_1}}</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{{SPEC_2}}</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{{SPEC_3}}</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{{SPEC_4}}</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{{SPEC_5}}</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{{SPEC_6}}</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{{SPEC_7}}</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{{SPEC_8}}</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{{SPEC_9}}</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{{SPEC_10}}</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1"/>
                </a:solidFill>
                <a:latin typeface="Avenir"/>
                <a:ea typeface="Avenir"/>
                <a:cs typeface="Avenir"/>
                <a:sym typeface="Avenir"/>
              </a:rPr>
              <a:t>{{SPEC_11}}</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947" y="-841768"/>
            <a:ext cx="17650105" cy="10827535"/>
          </a:xfrm>
          <a:prstGeom prst="rect">
            <a:avLst/>
          </a:prstGeom>
        </p:spPr>
        <p:txBody>
          <a:bodyPr anchor="t" rtlCol="false" tIns="0" lIns="0" bIns="0" rIns="0">
            <a:spAutoFit/>
          </a:bodyPr>
          <a:lstStyle/>
          <a:p>
            <a:pPr algn="ctr">
              <a:lnSpc>
                <a:spcPts val="41942"/>
              </a:lnSpc>
              <a:spcBef>
                <a:spcPct val="0"/>
              </a:spcBef>
            </a:pPr>
            <a:r>
              <a:rPr lang="en-US" sz="29959">
                <a:solidFill>
                  <a:srgbClr val="000000"/>
                </a:solidFill>
                <a:latin typeface="Avenir"/>
                <a:ea typeface="Avenir"/>
                <a:cs typeface="Avenir"/>
                <a:sym typeface="Avenir"/>
              </a:rPr>
              <a:t>{{SPEC_12}}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545880"/>
          </a:xfrm>
          <a:custGeom>
            <a:avLst/>
            <a:gdLst/>
            <a:ahLst/>
            <a:cxnLst/>
            <a:rect r="r" b="b" t="t" l="l"/>
            <a:pathLst>
              <a:path h="10545880" w="18278283">
                <a:moveTo>
                  <a:pt x="0" y="0"/>
                </a:moveTo>
                <a:lnTo>
                  <a:pt x="18278283" y="0"/>
                </a:lnTo>
                <a:lnTo>
                  <a:pt x="18278283" y="10545880"/>
                </a:lnTo>
                <a:lnTo>
                  <a:pt x="0" y="10545880"/>
                </a:lnTo>
                <a:lnTo>
                  <a:pt x="0" y="0"/>
                </a:lnTo>
                <a:close/>
              </a:path>
            </a:pathLst>
          </a:custGeom>
          <a:blipFill>
            <a:blip r:embed="rId2"/>
            <a:stretch>
              <a:fillRect l="-1258" t="0" r="-1258" b="0"/>
            </a:stretch>
          </a:blipFill>
        </p:spPr>
      </p:sp>
      <p:graphicFrame>
        <p:nvGraphicFramePr>
          <p:cNvPr name="Table 3" id="3"/>
          <p:cNvGraphicFramePr>
            <a:graphicFrameLocks noGrp="true"/>
          </p:cNvGraphicFramePr>
          <p:nvPr/>
        </p:nvGraphicFramePr>
        <p:xfrm>
          <a:off x="1655793" y="2750120"/>
          <a:ext cx="14966697" cy="6508180"/>
        </p:xfrm>
        <a:graphic>
          <a:graphicData uri="http://schemas.openxmlformats.org/drawingml/2006/table">
            <a:tbl>
              <a:tblPr/>
              <a:tblGrid>
                <a:gridCol w="1715252"/>
                <a:gridCol w="1677226"/>
                <a:gridCol w="1273664"/>
                <a:gridCol w="1335631"/>
                <a:gridCol w="1479853"/>
                <a:gridCol w="1314106"/>
                <a:gridCol w="632372"/>
                <a:gridCol w="1146814"/>
                <a:gridCol w="1068595"/>
                <a:gridCol w="1167428"/>
                <a:gridCol w="2155757"/>
              </a:tblGrid>
              <a:tr h="724811">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Volume</a:t>
                      </a:r>
                      <a:endParaRPr lang="en-US" sz="1100"/>
                    </a:p>
                    <a:p>
                      <a:pPr algn="ctr">
                        <a:lnSpc>
                          <a:spcPts val="1114"/>
                        </a:lnSpc>
                      </a:pPr>
                      <a:r>
                        <a:rPr lang="en-US" sz="1031"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Weight (KGs)</a:t>
                      </a:r>
                      <a:endParaRPr lang="en-US" sz="1100"/>
                    </a:p>
                    <a:p>
                      <a:pPr algn="ctr">
                        <a:lnSpc>
                          <a:spcPts val="1114"/>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Circularity Scenario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Circularity 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Diversion From Landfill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51920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{{MATERIAL_2}}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r>
                        <a:rPr lang="en-US" b="true" sz="1029">
                          <a:solidFill>
                            <a:srgbClr val="F7FBF8"/>
                          </a:solidFill>
                          <a:latin typeface="Avenir Bold"/>
                          <a:ea typeface="Avenir Bold"/>
                          <a:cs typeface="Avenir Bold"/>
                          <a:sym typeface="Avenir Bold"/>
                        </a:rPr>
                        <a:t>{{MAT_2_WEIGH}}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sz="1031" b="true">
                          <a:solidFill>
                            <a:srgbClr val="F7FBF8"/>
                          </a:solidFill>
                          <a:latin typeface="Avenir Bold"/>
                          <a:ea typeface="Avenir Bold"/>
                          <a:cs typeface="Avenir Bold"/>
                          <a:sym typeface="Avenir Bold"/>
                        </a:rPr>
                        <a:t>{{MAT_2_CS}}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{{MAT_2_LANDFILL%}}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441"/>
                        </a:lnSpc>
                        <a:defRPr/>
                      </a:pPr>
                      <a:r>
                        <a:rPr lang="en-US" b="true" sz="1029">
                          <a:solidFill>
                            <a:srgbClr val="F7FBF8"/>
                          </a:solidFill>
                          <a:latin typeface="Avenir Bold"/>
                          <a:ea typeface="Avenir Bold"/>
                          <a:cs typeface="Avenir Bold"/>
                          <a:sym typeface="Avenir Bold"/>
                        </a:rPr>
                        <a:t>{{MATERIAL_3}}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tcPr>
                </a:tc>
                <a:tc>
                  <a:txBody>
                    <a:bodyPr anchor="t" rtlCol="false"/>
                    <a:lstStyle/>
                    <a:p>
                      <a:pPr algn="ctr">
                        <a:lnSpc>
                          <a:spcPts val="1441"/>
                        </a:lnSpc>
                        <a:defRPr/>
                      </a:pPr>
                      <a:r>
                        <a:rPr lang="en-US" sz="1029" b="true">
                          <a:solidFill>
                            <a:srgbClr val="F7FBF8"/>
                          </a:solidFill>
                          <a:latin typeface="Avenir Bold"/>
                          <a:ea typeface="Avenir Bold"/>
                          <a:cs typeface="Avenir Bold"/>
                          <a:sym typeface="Avenir Bold"/>
                        </a:rPr>
                        <a:t>{{MATERIAL_EWC_3}}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{{MAT_3_LANDFILL%}}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441"/>
                        </a:lnSpc>
                        <a:defRPr/>
                      </a:pPr>
                      <a:r>
                        <a:rPr lang="en-US" b="true" sz="1029">
                          <a:solidFill>
                            <a:srgbClr val="F7FBF8"/>
                          </a:solidFill>
                          <a:latin typeface="Avenir Bold"/>
                          <a:ea typeface="Avenir Bold"/>
                          <a:cs typeface="Avenir Bold"/>
                          <a:sym typeface="Avenir Bold"/>
                        </a:rPr>
                        <a:t>{{MATERIAL_4}}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r>
                        <a:rPr lang="en-US" b="true" sz="1029">
                          <a:solidFill>
                            <a:srgbClr val="F7FBF8"/>
                          </a:solidFill>
                          <a:latin typeface="Avenir Bold"/>
                          <a:ea typeface="Avenir Bold"/>
                          <a:cs typeface="Avenir Bold"/>
                          <a:sym typeface="Avenir Bold"/>
                        </a:rPr>
                        <a:t>{{MAT_4_WEIGH}}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{{MAT_4_LANDFILL%}}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{{MATERIAL_5}}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{{MAT_5_LANDFILL%}}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{{MATERIAL_6}}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r>
                        <a:rPr lang="en-US" b="true" sz="1029">
                          <a:solidFill>
                            <a:srgbClr val="F7FBF8"/>
                          </a:solidFill>
                          <a:latin typeface="Avenir Bold"/>
                          <a:ea typeface="Avenir Bold"/>
                          <a:cs typeface="Avenir Bold"/>
                          <a:sym typeface="Avenir Bold"/>
                        </a:rPr>
                        <a:t>{{MAT_6_WEIGHP}}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sz="1031" b="true">
                          <a:solidFill>
                            <a:srgbClr val="F7FBF8"/>
                          </a:solidFill>
                          <a:latin typeface="Avenir Bold"/>
                          <a:ea typeface="Avenir Bold"/>
                          <a:cs typeface="Avenir Bold"/>
                          <a:sym typeface="Avenir Bold"/>
                        </a:rPr>
                        <a:t>{{MAT_6_LANDFILL%}}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{{MATERIAL_7}}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r>
                        <a:rPr lang="en-US" b="true" sz="1029">
                          <a:solidFill>
                            <a:srgbClr val="F7FBF8"/>
                          </a:solidFill>
                          <a:latin typeface="Avenir Bold"/>
                          <a:ea typeface="Avenir Bold"/>
                          <a:cs typeface="Avenir Bold"/>
                          <a:sym typeface="Avenir Bold"/>
                        </a:rPr>
                        <a:t>{{MAT_7_VOL}}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sz="1031" b="true">
                          <a:solidFill>
                            <a:srgbClr val="F7FBF8"/>
                          </a:solidFill>
                          <a:latin typeface="Avenir Bold"/>
                          <a:ea typeface="Avenir Bold"/>
                          <a:cs typeface="Avenir Bold"/>
                          <a:sym typeface="Avenir Bold"/>
                        </a:rPr>
                        <a:t>{{MAT_7_WEIGH}}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{{MAT_7_LANDFILL%}}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{{MATERIAL_8}}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r>
                        <a:rPr lang="en-US" b="true" sz="1029">
                          <a:solidFill>
                            <a:srgbClr val="F7FBF8"/>
                          </a:solidFill>
                          <a:latin typeface="Avenir Bold"/>
                          <a:ea typeface="Avenir Bold"/>
                          <a:cs typeface="Avenir Bold"/>
                          <a:sym typeface="Avenir Bold"/>
                        </a:rPr>
                        <a:t>{{MAT_8_VOL}}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{{MAT_8_LANDFILL%}}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{{MATERIAL_9}}</a:t>
                      </a:r>
                      <a:r>
                        <a:rPr lang="en-US" sz="1031" b="true">
                          <a:solidFill>
                            <a:srgbClr val="F7FBF8"/>
                          </a:solidFill>
                          <a:latin typeface="Avenir Bold"/>
                          <a:ea typeface="Avenir Bold"/>
                          <a:cs typeface="Avenir Bold"/>
                          <a:sym typeface="Avenir Bold"/>
                        </a:rPr>
                        <a:t>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{{MAT_9_LANDFILL%}}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19208">
                <a:tc>
                  <a:txBody>
                    <a:bodyPr anchor="t" rtlCol="false"/>
                    <a:lstStyle/>
                    <a:p>
                      <a:pPr algn="l">
                        <a:lnSpc>
                          <a:spcPts val="1441"/>
                        </a:lnSpc>
                        <a:defRPr/>
                      </a:pPr>
                      <a:r>
                        <a:rPr lang="en-US" b="true" sz="1029">
                          <a:solidFill>
                            <a:srgbClr val="F7FBF8"/>
                          </a:solidFill>
                          <a:latin typeface="Avenir Bold"/>
                          <a:ea typeface="Avenir Bold"/>
                          <a:cs typeface="Avenir Bold"/>
                          <a:sym typeface="Avenir Bold"/>
                        </a:rPr>
                        <a:t>{{MATERIAL 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{{MATERIAL_EWC_10}}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r>
                        <a:rPr lang="en-US" sz="1031"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{{MAT_10_LANDFILL%}}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91293">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00"/>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r>
                        <a:rPr lang="en-US" b="true" sz="1031">
                          <a:solidFill>
                            <a:srgbClr val="F7FBF8"/>
                          </a:solidFill>
                          <a:latin typeface="Avenir Bold"/>
                          <a:ea typeface="Avenir Bold"/>
                          <a:cs typeface="Avenir Bold"/>
                          <a:sym typeface="Avenir Bold"/>
                        </a:rPr>
                        <a:t>{{OVERALL_CIRCULARITY_SCORE}}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1655793" y="809625"/>
            <a:ext cx="1086023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Pre-deconstruction </a:t>
            </a:r>
            <a:r>
              <a:rPr lang="en-US" sz="5600">
                <a:solidFill>
                  <a:srgbClr val="A4CE3E"/>
                </a:solidFill>
                <a:latin typeface="Avenir"/>
                <a:ea typeface="Avenir"/>
                <a:cs typeface="Avenir"/>
                <a:sym typeface="Avenir"/>
              </a:rPr>
              <a:t>audit findings</a:t>
            </a:r>
          </a:p>
        </p:txBody>
      </p:sp>
      <p:sp>
        <p:nvSpPr>
          <p:cNvPr name="AutoShape 5" id="5"/>
          <p:cNvSpPr/>
          <p:nvPr/>
        </p:nvSpPr>
        <p:spPr>
          <a:xfrm flipH="true">
            <a:off x="1655793" y="2129069"/>
            <a:ext cx="10675498" cy="0"/>
          </a:xfrm>
          <a:prstGeom prst="line">
            <a:avLst/>
          </a:prstGeom>
          <a:ln cap="flat" w="19050">
            <a:solidFill>
              <a:srgbClr val="A3CF3E"/>
            </a:solidFill>
            <a:prstDash val="solid"/>
            <a:headEnd type="none" len="sm" w="sm"/>
            <a:tailEnd type="none" len="sm" w="sm"/>
          </a:ln>
        </p:spPr>
      </p:sp>
      <p:sp>
        <p:nvSpPr>
          <p:cNvPr name="Freeform 6" id="6"/>
          <p:cNvSpPr/>
          <p:nvPr/>
        </p:nvSpPr>
        <p:spPr>
          <a:xfrm flipH="false" flipV="false" rot="0">
            <a:off x="641565" y="1017047"/>
            <a:ext cx="774271" cy="769004"/>
          </a:xfrm>
          <a:custGeom>
            <a:avLst/>
            <a:gdLst/>
            <a:ahLst/>
            <a:cxnLst/>
            <a:rect r="r" b="b" t="t" l="l"/>
            <a:pathLst>
              <a:path h="769004" w="774271">
                <a:moveTo>
                  <a:pt x="0" y="0"/>
                </a:moveTo>
                <a:lnTo>
                  <a:pt x="774270" y="0"/>
                </a:lnTo>
                <a:lnTo>
                  <a:pt x="774270" y="769004"/>
                </a:lnTo>
                <a:lnTo>
                  <a:pt x="0" y="769004"/>
                </a:lnTo>
                <a:lnTo>
                  <a:pt x="0" y="0"/>
                </a:lnTo>
                <a:close/>
              </a:path>
            </a:pathLst>
          </a:custGeom>
          <a:blipFill>
            <a:blip r:embed="rId3"/>
            <a:stretch>
              <a:fillRect l="-8797" t="-66863" r="-261858" b="-81932"/>
            </a:stretch>
          </a:blipFill>
        </p:spPr>
      </p:sp>
      <p:sp>
        <p:nvSpPr>
          <p:cNvPr name="Freeform 7" id="7"/>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551349"/>
          </a:xfrm>
          <a:custGeom>
            <a:avLst/>
            <a:gdLst/>
            <a:ahLst/>
            <a:cxnLst/>
            <a:rect r="r" b="b" t="t" l="l"/>
            <a:pathLst>
              <a:path h="10551349" w="18288000">
                <a:moveTo>
                  <a:pt x="0" y="0"/>
                </a:moveTo>
                <a:lnTo>
                  <a:pt x="18288000" y="0"/>
                </a:lnTo>
                <a:lnTo>
                  <a:pt x="18288000" y="10551349"/>
                </a:lnTo>
                <a:lnTo>
                  <a:pt x="0" y="10551349"/>
                </a:lnTo>
                <a:lnTo>
                  <a:pt x="0" y="0"/>
                </a:lnTo>
                <a:close/>
              </a:path>
            </a:pathLst>
          </a:custGeom>
          <a:blipFill>
            <a:blip r:embed="rId2"/>
            <a:stretch>
              <a:fillRect l="-1257" t="0" r="-1257" b="0"/>
            </a:stretch>
          </a:blipFill>
        </p:spPr>
      </p:sp>
      <p:graphicFrame>
        <p:nvGraphicFramePr>
          <p:cNvPr name="Table 3" id="3"/>
          <p:cNvGraphicFramePr>
            <a:graphicFrameLocks noGrp="true"/>
          </p:cNvGraphicFramePr>
          <p:nvPr/>
        </p:nvGraphicFramePr>
        <p:xfrm>
          <a:off x="1655793" y="2753280"/>
          <a:ext cx="15447196" cy="6315226"/>
        </p:xfrm>
        <a:graphic>
          <a:graphicData uri="http://schemas.openxmlformats.org/drawingml/2006/table">
            <a:tbl>
              <a:tblPr/>
              <a:tblGrid>
                <a:gridCol w="2047499"/>
                <a:gridCol w="1641038"/>
                <a:gridCol w="1258600"/>
                <a:gridCol w="1390778"/>
                <a:gridCol w="1385915"/>
                <a:gridCol w="1221593"/>
                <a:gridCol w="614266"/>
                <a:gridCol w="1391184"/>
                <a:gridCol w="1518373"/>
                <a:gridCol w="1169021"/>
                <a:gridCol w="1808929"/>
              </a:tblGrid>
              <a:tr h="780385">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441"/>
                        </a:lnSpc>
                        <a:defRPr/>
                      </a:pPr>
                      <a:r>
                        <a:rPr lang="en-US" sz="1029" b="true">
                          <a:solidFill>
                            <a:srgbClr val="FFFFFF"/>
                          </a:solidFill>
                          <a:latin typeface="Avenir Bold"/>
                          <a:ea typeface="Avenir Bold"/>
                          <a:cs typeface="Avenir Bold"/>
                          <a:sym typeface="Avenir Bold"/>
                        </a:rPr>
                        <a:t>Circularity Scenario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Circularity 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Diversion From Landfill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6">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{{MAT_11_LANDFILL%}}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{{MAT_12_LANDFILL%}}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{{MAT_13_LANDFILL%}}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sz="1029" b="true">
                          <a:solidFill>
                            <a:srgbClr val="F7FBF8"/>
                          </a:solidFill>
                          <a:latin typeface="Avenir Bold"/>
                          <a:ea typeface="Avenir Bold"/>
                          <a:cs typeface="Avenir Bold"/>
                          <a:sym typeface="Avenir Bold"/>
                        </a:rPr>
                        <a:t>{{MATERIAL_14_EWC}}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{{MAT_14_LANDFILL%}}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{{MAT_15_LANDFILL%}}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{{MAT_16_LANDFILL%}}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{{MAT_17_LANDFILL%}}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{{MAT_18_LANDFILL%}}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83">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{{MATERIAL_19}}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{{MATERIAL_19_EWC}}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{{MAT_19_LANDFILL%}}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89115">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{{MAT_20_LANDFILL%}}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91316">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{{OVERALL_CIRCULARITY_SCORE}}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1655793" y="809625"/>
            <a:ext cx="1086023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Pre-deconstruction </a:t>
            </a:r>
            <a:r>
              <a:rPr lang="en-US" sz="5600">
                <a:solidFill>
                  <a:srgbClr val="A4CE3E"/>
                </a:solidFill>
                <a:latin typeface="Avenir"/>
                <a:ea typeface="Avenir"/>
                <a:cs typeface="Avenir"/>
                <a:sym typeface="Avenir"/>
              </a:rPr>
              <a:t>audit</a:t>
            </a:r>
            <a:r>
              <a:rPr lang="en-US" sz="5600">
                <a:solidFill>
                  <a:srgbClr val="F7FBF8"/>
                </a:solidFill>
                <a:latin typeface="Avenir"/>
                <a:ea typeface="Avenir"/>
                <a:cs typeface="Avenir"/>
                <a:sym typeface="Avenir"/>
              </a:rPr>
              <a:t> </a:t>
            </a:r>
            <a:r>
              <a:rPr lang="en-US" sz="5600">
                <a:solidFill>
                  <a:srgbClr val="A4CE3E"/>
                </a:solidFill>
                <a:latin typeface="Avenir"/>
                <a:ea typeface="Avenir"/>
                <a:cs typeface="Avenir"/>
                <a:sym typeface="Avenir"/>
              </a:rPr>
              <a:t>findings</a:t>
            </a:r>
          </a:p>
        </p:txBody>
      </p:sp>
      <p:sp>
        <p:nvSpPr>
          <p:cNvPr name="AutoShape 5" id="5"/>
          <p:cNvSpPr/>
          <p:nvPr/>
        </p:nvSpPr>
        <p:spPr>
          <a:xfrm flipH="true">
            <a:off x="1655793" y="2129069"/>
            <a:ext cx="10675498" cy="0"/>
          </a:xfrm>
          <a:prstGeom prst="line">
            <a:avLst/>
          </a:prstGeom>
          <a:ln cap="flat" w="19050">
            <a:solidFill>
              <a:srgbClr val="A3CF3E"/>
            </a:solidFill>
            <a:prstDash val="solid"/>
            <a:headEnd type="none" len="sm" w="sm"/>
            <a:tailEnd type="none" len="sm" w="sm"/>
          </a:ln>
        </p:spPr>
      </p:sp>
      <p:sp>
        <p:nvSpPr>
          <p:cNvPr name="Freeform 6" id="6"/>
          <p:cNvSpPr/>
          <p:nvPr/>
        </p:nvSpPr>
        <p:spPr>
          <a:xfrm flipH="false" flipV="false" rot="0">
            <a:off x="641565" y="1017047"/>
            <a:ext cx="774271" cy="769004"/>
          </a:xfrm>
          <a:custGeom>
            <a:avLst/>
            <a:gdLst/>
            <a:ahLst/>
            <a:cxnLst/>
            <a:rect r="r" b="b" t="t" l="l"/>
            <a:pathLst>
              <a:path h="769004" w="774271">
                <a:moveTo>
                  <a:pt x="0" y="0"/>
                </a:moveTo>
                <a:lnTo>
                  <a:pt x="774270" y="0"/>
                </a:lnTo>
                <a:lnTo>
                  <a:pt x="774270" y="769004"/>
                </a:lnTo>
                <a:lnTo>
                  <a:pt x="0" y="769004"/>
                </a:lnTo>
                <a:lnTo>
                  <a:pt x="0" y="0"/>
                </a:lnTo>
                <a:close/>
              </a:path>
            </a:pathLst>
          </a:custGeom>
          <a:blipFill>
            <a:blip r:embed="rId3"/>
            <a:stretch>
              <a:fillRect l="-8797" t="-66863" r="-261858" b="-81932"/>
            </a:stretch>
          </a:blipFill>
        </p:spPr>
      </p:sp>
      <p:sp>
        <p:nvSpPr>
          <p:cNvPr name="Freeform 7" id="7"/>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527388"/>
          </a:xfrm>
          <a:custGeom>
            <a:avLst/>
            <a:gdLst/>
            <a:ahLst/>
            <a:cxnLst/>
            <a:rect r="r" b="b" t="t" l="l"/>
            <a:pathLst>
              <a:path h="10527388" w="18278283">
                <a:moveTo>
                  <a:pt x="0" y="0"/>
                </a:moveTo>
                <a:lnTo>
                  <a:pt x="18278283" y="0"/>
                </a:lnTo>
                <a:lnTo>
                  <a:pt x="18278283" y="10527388"/>
                </a:lnTo>
                <a:lnTo>
                  <a:pt x="0" y="10527388"/>
                </a:lnTo>
                <a:lnTo>
                  <a:pt x="0" y="0"/>
                </a:lnTo>
                <a:close/>
              </a:path>
            </a:pathLst>
          </a:custGeom>
          <a:blipFill>
            <a:blip r:embed="rId2"/>
            <a:stretch>
              <a:fillRect l="-1168" t="0" r="-1168" b="0"/>
            </a:stretch>
          </a:blipFill>
        </p:spPr>
      </p:sp>
      <p:graphicFrame>
        <p:nvGraphicFramePr>
          <p:cNvPr name="Table 3" id="3"/>
          <p:cNvGraphicFramePr>
            <a:graphicFrameLocks noGrp="true"/>
          </p:cNvGraphicFramePr>
          <p:nvPr/>
        </p:nvGraphicFramePr>
        <p:xfrm>
          <a:off x="1489370" y="2894459"/>
          <a:ext cx="14952111" cy="6363841"/>
        </p:xfrm>
        <a:graphic>
          <a:graphicData uri="http://schemas.openxmlformats.org/drawingml/2006/table">
            <a:tbl>
              <a:tblPr/>
              <a:tblGrid>
                <a:gridCol w="1699258"/>
                <a:gridCol w="1563994"/>
                <a:gridCol w="1169552"/>
                <a:gridCol w="1338897"/>
                <a:gridCol w="1416804"/>
                <a:gridCol w="1242149"/>
                <a:gridCol w="615900"/>
                <a:gridCol w="1399147"/>
                <a:gridCol w="1275342"/>
                <a:gridCol w="1179021"/>
                <a:gridCol w="2052047"/>
              </a:tblGrid>
              <a:tr h="666613">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Volume</a:t>
                      </a:r>
                      <a:endParaRPr lang="en-US" sz="1100"/>
                    </a:p>
                    <a:p>
                      <a:pPr algn="ctr">
                        <a:lnSpc>
                          <a:spcPts val="1112"/>
                        </a:lnSpc>
                      </a:pPr>
                      <a:r>
                        <a:rPr lang="en-US" sz="1029"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Weight (KGs)</a:t>
                      </a:r>
                      <a:endParaRPr lang="en-US" sz="1100"/>
                    </a:p>
                    <a:p>
                      <a:pPr algn="ctr">
                        <a:lnSpc>
                          <a:spcPts val="1112"/>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2"/>
                        </a:lnSpc>
                        <a:defRPr/>
                      </a:pPr>
                      <a:r>
                        <a:rPr lang="en-US" sz="1029"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Circularity Scenario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Circularity 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2"/>
                        </a:lnSpc>
                        <a:defRPr/>
                      </a:pPr>
                      <a:r>
                        <a:rPr lang="en-US" sz="1029" b="true">
                          <a:solidFill>
                            <a:srgbClr val="FFFFFF"/>
                          </a:solidFill>
                          <a:latin typeface="Avenir Bold"/>
                          <a:ea typeface="Avenir Bold"/>
                          <a:cs typeface="Avenir Bold"/>
                          <a:sym typeface="Avenir Bold"/>
                        </a:rPr>
                        <a:t>Diversion From Landfill %</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97742">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sz="1029" b="true">
                          <a:solidFill>
                            <a:srgbClr val="F7FBF8"/>
                          </a:solidFill>
                          <a:latin typeface="Avenir Bold"/>
                          <a:ea typeface="Avenir Bold"/>
                          <a:cs typeface="Avenir Bold"/>
                          <a:sym typeface="Avenir Bold"/>
                        </a:rPr>
                        <a:t>{{MAT_21_VOL}}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{{MAT_21_LANDFILL%}}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{{MAT_22_LANDFILL%}}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{{MAT_23_LANDFILL%}}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sz="1029" b="true">
                          <a:solidFill>
                            <a:srgbClr val="F7FBF8"/>
                          </a:solidFill>
                          <a:latin typeface="Avenir Bold"/>
                          <a:ea typeface="Avenir Bold"/>
                          <a:cs typeface="Avenir Bold"/>
                          <a:sym typeface="Avenir Bold"/>
                        </a:rPr>
                        <a:t>{{MAT_24_WEIGH}}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{{MAT_24_LANDFILL%}}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{{MAT_25_LANDFILL%}}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{{MAT_26_LANDFILL%}}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{{MAT_27_LANDFILL%}}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{{MAT_28_LANDFILL%}}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49457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{{MATERIAL_29}}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{{MATERIAL_29_EWC}}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{{MAT_29_LANDFILL%}}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530468">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{{MATERIAL_30}}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{{MATERIAL_30_EWC}}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r>
                        <a:rPr lang="en-US" sz="1029" b="true">
                          <a:solidFill>
                            <a:srgbClr val="F7FBF8"/>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{{MAT_30_CS}}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{{MAT_30_LANDFILL%}}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r h="712395">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441"/>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l">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r>
                        <a:rPr lang="en-US" b="true" sz="1029">
                          <a:solidFill>
                            <a:srgbClr val="F7FBF8"/>
                          </a:solidFill>
                          <a:latin typeface="Avenir Bold"/>
                          <a:ea typeface="Avenir Bold"/>
                          <a:cs typeface="Avenir Bold"/>
                          <a:sym typeface="Avenir Bold"/>
                        </a:rPr>
                        <a:t>{{OVERALL_CIRCULARITY_SCORE}}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c>
                  <a:txBody>
                    <a:bodyPr anchor="t" rtlCol="false"/>
                    <a:lstStyle/>
                    <a:p>
                      <a:pPr algn="ctr">
                        <a:lnSpc>
                          <a:spcPts val="111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1655793" y="809625"/>
            <a:ext cx="1086023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Pre-deconstruction </a:t>
            </a:r>
            <a:r>
              <a:rPr lang="en-US" sz="5600">
                <a:solidFill>
                  <a:srgbClr val="A4CE3E"/>
                </a:solidFill>
                <a:latin typeface="Avenir"/>
                <a:ea typeface="Avenir"/>
                <a:cs typeface="Avenir"/>
                <a:sym typeface="Avenir"/>
              </a:rPr>
              <a:t>audit</a:t>
            </a:r>
            <a:r>
              <a:rPr lang="en-US" sz="5600">
                <a:solidFill>
                  <a:srgbClr val="F7FBF8"/>
                </a:solidFill>
                <a:latin typeface="Avenir"/>
                <a:ea typeface="Avenir"/>
                <a:cs typeface="Avenir"/>
                <a:sym typeface="Avenir"/>
              </a:rPr>
              <a:t> </a:t>
            </a:r>
            <a:r>
              <a:rPr lang="en-US" sz="5600">
                <a:solidFill>
                  <a:srgbClr val="A4CE3E"/>
                </a:solidFill>
                <a:latin typeface="Avenir"/>
                <a:ea typeface="Avenir"/>
                <a:cs typeface="Avenir"/>
                <a:sym typeface="Avenir"/>
              </a:rPr>
              <a:t>findings</a:t>
            </a:r>
          </a:p>
        </p:txBody>
      </p:sp>
      <p:sp>
        <p:nvSpPr>
          <p:cNvPr name="AutoShape 5" id="5"/>
          <p:cNvSpPr/>
          <p:nvPr/>
        </p:nvSpPr>
        <p:spPr>
          <a:xfrm flipH="true">
            <a:off x="1655793" y="2129069"/>
            <a:ext cx="10675498" cy="0"/>
          </a:xfrm>
          <a:prstGeom prst="line">
            <a:avLst/>
          </a:prstGeom>
          <a:ln cap="flat" w="19050">
            <a:solidFill>
              <a:srgbClr val="A3CF3E"/>
            </a:solidFill>
            <a:prstDash val="solid"/>
            <a:headEnd type="none" len="sm" w="sm"/>
            <a:tailEnd type="none" len="sm" w="sm"/>
          </a:ln>
        </p:spPr>
      </p:sp>
      <p:sp>
        <p:nvSpPr>
          <p:cNvPr name="Freeform 6" id="6"/>
          <p:cNvSpPr/>
          <p:nvPr/>
        </p:nvSpPr>
        <p:spPr>
          <a:xfrm flipH="false" flipV="false" rot="0">
            <a:off x="641565" y="1017047"/>
            <a:ext cx="774271" cy="769004"/>
          </a:xfrm>
          <a:custGeom>
            <a:avLst/>
            <a:gdLst/>
            <a:ahLst/>
            <a:cxnLst/>
            <a:rect r="r" b="b" t="t" l="l"/>
            <a:pathLst>
              <a:path h="769004" w="774271">
                <a:moveTo>
                  <a:pt x="0" y="0"/>
                </a:moveTo>
                <a:lnTo>
                  <a:pt x="774270" y="0"/>
                </a:lnTo>
                <a:lnTo>
                  <a:pt x="774270" y="769004"/>
                </a:lnTo>
                <a:lnTo>
                  <a:pt x="0" y="769004"/>
                </a:lnTo>
                <a:lnTo>
                  <a:pt x="0" y="0"/>
                </a:lnTo>
                <a:close/>
              </a:path>
            </a:pathLst>
          </a:custGeom>
          <a:blipFill>
            <a:blip r:embed="rId3"/>
            <a:stretch>
              <a:fillRect l="-8797" t="-66863" r="-261858" b="-81932"/>
            </a:stretch>
          </a:blipFill>
        </p:spPr>
      </p:sp>
      <p:sp>
        <p:nvSpPr>
          <p:cNvPr name="Freeform 7" id="7"/>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287000"/>
          </a:xfrm>
          <a:custGeom>
            <a:avLst/>
            <a:gdLst/>
            <a:ahLst/>
            <a:cxnLst/>
            <a:rect r="r" b="b" t="t" l="l"/>
            <a:pathLst>
              <a:path h="10287000" w="18278283">
                <a:moveTo>
                  <a:pt x="0" y="0"/>
                </a:moveTo>
                <a:lnTo>
                  <a:pt x="18278283" y="0"/>
                </a:lnTo>
                <a:lnTo>
                  <a:pt x="1827828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902204" y="602137"/>
            <a:ext cx="10826599"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Pre-deconstruction </a:t>
            </a:r>
            <a:r>
              <a:rPr lang="en-US" sz="5600">
                <a:solidFill>
                  <a:srgbClr val="A4CE3E"/>
                </a:solidFill>
                <a:latin typeface="Avenir"/>
                <a:ea typeface="Avenir"/>
                <a:cs typeface="Avenir"/>
                <a:sym typeface="Avenir"/>
              </a:rPr>
              <a:t>audit findings</a:t>
            </a:r>
          </a:p>
        </p:txBody>
      </p:sp>
      <p:sp>
        <p:nvSpPr>
          <p:cNvPr name="TextBox 4" id="4"/>
          <p:cNvSpPr txBox="true"/>
          <p:nvPr/>
        </p:nvSpPr>
        <p:spPr>
          <a:xfrm rot="0">
            <a:off x="722277" y="2003900"/>
            <a:ext cx="6707464" cy="2411499"/>
          </a:xfrm>
          <a:prstGeom prst="rect">
            <a:avLst/>
          </a:prstGeom>
        </p:spPr>
        <p:txBody>
          <a:bodyPr anchor="t" rtlCol="false" tIns="0" lIns="0" bIns="0" rIns="0">
            <a:spAutoFit/>
          </a:bodyPr>
          <a:lstStyle/>
          <a:p>
            <a:pPr algn="just">
              <a:lnSpc>
                <a:spcPts val="1944"/>
              </a:lnSpc>
            </a:pPr>
            <a:r>
              <a:rPr lang="en-US" sz="1388">
                <a:solidFill>
                  <a:srgbClr val="F7FBF8"/>
                </a:solidFill>
                <a:latin typeface="Avenir"/>
                <a:ea typeface="Avenir"/>
                <a:cs typeface="Avenir"/>
                <a:sym typeface="Avenir"/>
              </a:rPr>
              <a:t>The types and amounts of different materials likely to be removed during the strip-out/ </a:t>
            </a:r>
            <a:r>
              <a:rPr lang="en-US" sz="1388">
                <a:solidFill>
                  <a:srgbClr val="F7FBF8"/>
                </a:solidFill>
                <a:latin typeface="Avenir"/>
                <a:ea typeface="Avenir"/>
                <a:cs typeface="Avenir"/>
                <a:sym typeface="Avenir"/>
              </a:rPr>
              <a:t>deconstruction phase of the redevelopment have been estimated based on estimates taken during the site visit and information from the plans supplied.</a:t>
            </a:r>
          </a:p>
          <a:p>
            <a:pPr algn="just">
              <a:lnSpc>
                <a:spcPts val="1944"/>
              </a:lnSpc>
            </a:pPr>
          </a:p>
          <a:p>
            <a:pPr algn="just">
              <a:lnSpc>
                <a:spcPts val="1944"/>
              </a:lnSpc>
            </a:pPr>
            <a:r>
              <a:rPr lang="en-US" sz="1388">
                <a:solidFill>
                  <a:srgbClr val="F7FBF8"/>
                </a:solidFill>
                <a:latin typeface="Avenir"/>
                <a:ea typeface="Avenir"/>
                <a:cs typeface="Avenir"/>
                <a:sym typeface="Avenir"/>
              </a:rPr>
              <a:t>A number of Key Waste Products (KWP) that presented potential for recycling were identified. An estimate of the overall volume and tonnage of materials likely to be generated during the strip- out/demolition phase of the redevelopment are shown in Table 1 and in Chart 1. (A detailed element listing of all the potential materials arising is given in Appendix D.)</a:t>
            </a:r>
          </a:p>
          <a:p>
            <a:pPr algn="just">
              <a:lnSpc>
                <a:spcPts val="1944"/>
              </a:lnSpc>
            </a:pPr>
          </a:p>
        </p:txBody>
      </p:sp>
      <p:sp>
        <p:nvSpPr>
          <p:cNvPr name="TextBox 5" id="5"/>
          <p:cNvSpPr txBox="true"/>
          <p:nvPr/>
        </p:nvSpPr>
        <p:spPr>
          <a:xfrm rot="0">
            <a:off x="2510927" y="4651819"/>
            <a:ext cx="3976178" cy="236642"/>
          </a:xfrm>
          <a:prstGeom prst="rect">
            <a:avLst/>
          </a:prstGeom>
        </p:spPr>
        <p:txBody>
          <a:bodyPr anchor="t" rtlCol="false" tIns="0" lIns="0" bIns="0" rIns="0">
            <a:spAutoFit/>
          </a:bodyPr>
          <a:lstStyle/>
          <a:p>
            <a:pPr algn="l">
              <a:lnSpc>
                <a:spcPts val="1656"/>
              </a:lnSpc>
            </a:pPr>
            <a:r>
              <a:rPr lang="en-US" sz="1183" b="true">
                <a:solidFill>
                  <a:srgbClr val="A4CE3E"/>
                </a:solidFill>
                <a:latin typeface="Avenir Bold"/>
                <a:ea typeface="Avenir Bold"/>
                <a:cs typeface="Avenir Bold"/>
                <a:sym typeface="Avenir Bold"/>
              </a:rPr>
              <a:t>Figure 2: Breakdown of KWP by Volume (m3)</a:t>
            </a:r>
          </a:p>
        </p:txBody>
      </p:sp>
      <p:sp>
        <p:nvSpPr>
          <p:cNvPr name="TextBox 6" id="6"/>
          <p:cNvSpPr txBox="true"/>
          <p:nvPr/>
        </p:nvSpPr>
        <p:spPr>
          <a:xfrm rot="0">
            <a:off x="9510722" y="2003900"/>
            <a:ext cx="7075899" cy="1926844"/>
          </a:xfrm>
          <a:prstGeom prst="rect">
            <a:avLst/>
          </a:prstGeom>
        </p:spPr>
        <p:txBody>
          <a:bodyPr anchor="t" rtlCol="false" tIns="0" lIns="0" bIns="0" rIns="0">
            <a:spAutoFit/>
          </a:bodyPr>
          <a:lstStyle/>
          <a:p>
            <a:pPr algn="just">
              <a:lnSpc>
                <a:spcPts val="1945"/>
              </a:lnSpc>
            </a:pPr>
            <a:r>
              <a:rPr lang="en-US" sz="1389">
                <a:solidFill>
                  <a:srgbClr val="F7FBF8"/>
                </a:solidFill>
                <a:latin typeface="Avenir"/>
                <a:ea typeface="Avenir"/>
                <a:cs typeface="Avenir"/>
                <a:sym typeface="Avenir"/>
              </a:rPr>
              <a:t>Each KWP is described in more detail in the following pages, including:</a:t>
            </a:r>
          </a:p>
          <a:p>
            <a:pPr algn="just" marL="300100" indent="-150050" lvl="1">
              <a:lnSpc>
                <a:spcPts val="1945"/>
              </a:lnSpc>
              <a:buFont typeface="Arial"/>
              <a:buChar char="•"/>
            </a:pPr>
            <a:r>
              <a:rPr lang="en-US" sz="1389">
                <a:solidFill>
                  <a:srgbClr val="F7FBF8"/>
                </a:solidFill>
                <a:latin typeface="Avenir"/>
                <a:ea typeface="Avenir"/>
                <a:cs typeface="Avenir"/>
                <a:sym typeface="Avenir"/>
              </a:rPr>
              <a:t>Product description</a:t>
            </a:r>
          </a:p>
          <a:p>
            <a:pPr algn="just" marL="300100" indent="-150050" lvl="1">
              <a:lnSpc>
                <a:spcPts val="1945"/>
              </a:lnSpc>
              <a:buFont typeface="Arial"/>
              <a:buChar char="•"/>
            </a:pPr>
            <a:r>
              <a:rPr lang="en-US" sz="1389">
                <a:solidFill>
                  <a:srgbClr val="F7FBF8"/>
                </a:solidFill>
                <a:latin typeface="Avenir"/>
                <a:ea typeface="Avenir"/>
                <a:cs typeface="Avenir"/>
                <a:sym typeface="Avenir"/>
              </a:rPr>
              <a:t>Product volumes/tonnages where these could be quantified</a:t>
            </a:r>
          </a:p>
          <a:p>
            <a:pPr algn="just" marL="300100" indent="-150050" lvl="1">
              <a:lnSpc>
                <a:spcPts val="1945"/>
              </a:lnSpc>
              <a:buFont typeface="Arial"/>
              <a:buChar char="•"/>
            </a:pPr>
            <a:r>
              <a:rPr lang="en-US" sz="1389">
                <a:solidFill>
                  <a:srgbClr val="F7FBF8"/>
                </a:solidFill>
                <a:latin typeface="Avenir"/>
                <a:ea typeface="Avenir"/>
                <a:cs typeface="Avenir"/>
                <a:sym typeface="Avenir"/>
              </a:rPr>
              <a:t>Recommendation/s on opportunities to divert waste from landfill for reuse and/or recycling.</a:t>
            </a:r>
          </a:p>
          <a:p>
            <a:pPr algn="just" marL="300100" indent="-150050" lvl="1">
              <a:lnSpc>
                <a:spcPts val="1945"/>
              </a:lnSpc>
              <a:buFont typeface="Arial"/>
              <a:buChar char="•"/>
            </a:pPr>
            <a:r>
              <a:rPr lang="en-US" sz="1389">
                <a:solidFill>
                  <a:srgbClr val="F7FBF8"/>
                </a:solidFill>
                <a:latin typeface="Avenir"/>
                <a:ea typeface="Avenir"/>
                <a:cs typeface="Avenir"/>
                <a:sym typeface="Avenir"/>
              </a:rPr>
              <a:t>Examples of local companies who may be able to provide services are given for information but do not constitute an endorsement or recommendation.</a:t>
            </a:r>
          </a:p>
          <a:p>
            <a:pPr algn="just">
              <a:lnSpc>
                <a:spcPts val="1945"/>
              </a:lnSpc>
            </a:pPr>
          </a:p>
        </p:txBody>
      </p:sp>
      <p:sp>
        <p:nvSpPr>
          <p:cNvPr name="TextBox 7" id="7"/>
          <p:cNvSpPr txBox="true"/>
          <p:nvPr/>
        </p:nvSpPr>
        <p:spPr>
          <a:xfrm rot="0">
            <a:off x="11601159" y="4739743"/>
            <a:ext cx="2895027" cy="234484"/>
          </a:xfrm>
          <a:prstGeom prst="rect">
            <a:avLst/>
          </a:prstGeom>
        </p:spPr>
        <p:txBody>
          <a:bodyPr anchor="t" rtlCol="false" tIns="0" lIns="0" bIns="0" rIns="0">
            <a:spAutoFit/>
          </a:bodyPr>
          <a:lstStyle/>
          <a:p>
            <a:pPr algn="l">
              <a:lnSpc>
                <a:spcPts val="1648"/>
              </a:lnSpc>
            </a:pPr>
            <a:r>
              <a:rPr lang="en-US" sz="1177" b="true">
                <a:solidFill>
                  <a:srgbClr val="A4CE3E"/>
                </a:solidFill>
                <a:latin typeface="Avenir Bold"/>
                <a:ea typeface="Avenir Bold"/>
                <a:cs typeface="Avenir Bold"/>
                <a:sym typeface="Avenir Bold"/>
              </a:rPr>
              <a:t>Figure 3: Breakdown of KWP by tonnes </a:t>
            </a:r>
          </a:p>
        </p:txBody>
      </p:sp>
      <p:sp>
        <p:nvSpPr>
          <p:cNvPr name="AutoShape 8" id="8"/>
          <p:cNvSpPr/>
          <p:nvPr/>
        </p:nvSpPr>
        <p:spPr>
          <a:xfrm flipH="true" flipV="true">
            <a:off x="9102564" y="1802170"/>
            <a:ext cx="41436" cy="7852085"/>
          </a:xfrm>
          <a:prstGeom prst="line">
            <a:avLst/>
          </a:prstGeom>
          <a:ln cap="flat" w="9525">
            <a:solidFill>
              <a:srgbClr val="000000"/>
            </a:solidFill>
            <a:prstDash val="solid"/>
            <a:headEnd type="none" len="sm" w="sm"/>
            <a:tailEnd type="none" len="sm" w="sm"/>
          </a:ln>
        </p:spPr>
      </p:sp>
      <p:sp>
        <p:nvSpPr>
          <p:cNvPr name="TextBox 9" id="9"/>
          <p:cNvSpPr txBox="true"/>
          <p:nvPr/>
        </p:nvSpPr>
        <p:spPr>
          <a:xfrm rot="0">
            <a:off x="1227139" y="5011735"/>
            <a:ext cx="5821972" cy="4016232"/>
          </a:xfrm>
          <a:prstGeom prst="rect">
            <a:avLst/>
          </a:prstGeom>
        </p:spPr>
        <p:txBody>
          <a:bodyPr anchor="t" rtlCol="false" tIns="0" lIns="0" bIns="0" rIns="0">
            <a:spAutoFit/>
          </a:bodyPr>
          <a:lstStyle/>
          <a:p>
            <a:pPr algn="ctr">
              <a:lnSpc>
                <a:spcPts val="15535"/>
              </a:lnSpc>
              <a:spcBef>
                <a:spcPct val="0"/>
              </a:spcBef>
            </a:pPr>
            <a:r>
              <a:rPr lang="en-US" sz="11096">
                <a:solidFill>
                  <a:srgbClr val="F7FBF8"/>
                </a:solidFill>
                <a:latin typeface="Avenir"/>
                <a:ea typeface="Avenir"/>
                <a:cs typeface="Avenir"/>
                <a:sym typeface="Avenir"/>
              </a:rPr>
              <a:t>{{KWP_BY_VOL}}</a:t>
            </a:r>
          </a:p>
        </p:txBody>
      </p:sp>
      <p:sp>
        <p:nvSpPr>
          <p:cNvPr name="TextBox 10" id="10"/>
          <p:cNvSpPr txBox="true"/>
          <p:nvPr/>
        </p:nvSpPr>
        <p:spPr>
          <a:xfrm rot="0">
            <a:off x="10435293" y="5011735"/>
            <a:ext cx="5697740" cy="4016232"/>
          </a:xfrm>
          <a:prstGeom prst="rect">
            <a:avLst/>
          </a:prstGeom>
        </p:spPr>
        <p:txBody>
          <a:bodyPr anchor="t" rtlCol="false" tIns="0" lIns="0" bIns="0" rIns="0">
            <a:spAutoFit/>
          </a:bodyPr>
          <a:lstStyle/>
          <a:p>
            <a:pPr algn="ctr">
              <a:lnSpc>
                <a:spcPts val="15535"/>
              </a:lnSpc>
              <a:spcBef>
                <a:spcPct val="0"/>
              </a:spcBef>
            </a:pPr>
            <a:r>
              <a:rPr lang="en-US" sz="11096">
                <a:solidFill>
                  <a:srgbClr val="F7FBF8"/>
                </a:solidFill>
                <a:latin typeface="Avenir"/>
                <a:ea typeface="Avenir"/>
                <a:cs typeface="Avenir"/>
                <a:sym typeface="Avenir"/>
              </a:rPr>
              <a:t>{{KWP_BY_TON}}</a:t>
            </a:r>
          </a:p>
        </p:txBody>
      </p:sp>
      <p:sp>
        <p:nvSpPr>
          <p:cNvPr name="AutoShape 11" id="11"/>
          <p:cNvSpPr/>
          <p:nvPr/>
        </p:nvSpPr>
        <p:spPr>
          <a:xfrm>
            <a:off x="8744561" y="2412386"/>
            <a:ext cx="0" cy="6615581"/>
          </a:xfrm>
          <a:prstGeom prst="line">
            <a:avLst/>
          </a:prstGeom>
          <a:ln cap="flat" w="19050">
            <a:solidFill>
              <a:srgbClr val="A3CF3E"/>
            </a:solidFill>
            <a:prstDash val="solid"/>
            <a:headEnd type="none" len="sm" w="sm"/>
            <a:tailEnd type="none" len="sm" w="sm"/>
          </a:ln>
        </p:spPr>
      </p:sp>
      <p:sp>
        <p:nvSpPr>
          <p:cNvPr name="Freeform 12" id="12"/>
          <p:cNvSpPr/>
          <p:nvPr/>
        </p:nvSpPr>
        <p:spPr>
          <a:xfrm flipH="false" flipV="false" rot="0">
            <a:off x="840003" y="821212"/>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3"/>
            <a:stretch>
              <a:fillRect l="-8797" t="-66863" r="-261858" b="-81932"/>
            </a:stretch>
          </a:blipFill>
        </p:spPr>
      </p:sp>
      <p:sp>
        <p:nvSpPr>
          <p:cNvPr name="Freeform 13" id="1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8283" cy="10601354"/>
          </a:xfrm>
          <a:custGeom>
            <a:avLst/>
            <a:gdLst/>
            <a:ahLst/>
            <a:cxnLst/>
            <a:rect r="r" b="b" t="t" l="l"/>
            <a:pathLst>
              <a:path h="10601354" w="18278283">
                <a:moveTo>
                  <a:pt x="0" y="0"/>
                </a:moveTo>
                <a:lnTo>
                  <a:pt x="18278283" y="0"/>
                </a:lnTo>
                <a:lnTo>
                  <a:pt x="18278283" y="10601354"/>
                </a:lnTo>
                <a:lnTo>
                  <a:pt x="0" y="10601354"/>
                </a:lnTo>
                <a:lnTo>
                  <a:pt x="0" y="0"/>
                </a:lnTo>
                <a:close/>
              </a:path>
            </a:pathLst>
          </a:custGeom>
          <a:blipFill>
            <a:blip r:embed="rId2"/>
            <a:stretch>
              <a:fillRect l="-1527" t="0" r="-1527" b="0"/>
            </a:stretch>
          </a:blipFill>
        </p:spPr>
      </p:sp>
      <p:sp>
        <p:nvSpPr>
          <p:cNvPr name="TextBox 3" id="3"/>
          <p:cNvSpPr txBox="true"/>
          <p:nvPr/>
        </p:nvSpPr>
        <p:spPr>
          <a:xfrm rot="0">
            <a:off x="1381816" y="904456"/>
            <a:ext cx="11766855" cy="1067435"/>
          </a:xfrm>
          <a:prstGeom prst="rect">
            <a:avLst/>
          </a:prstGeom>
        </p:spPr>
        <p:txBody>
          <a:bodyPr anchor="t" rtlCol="false" tIns="0" lIns="0" bIns="0" rIns="0">
            <a:spAutoFit/>
          </a:bodyPr>
          <a:lstStyle/>
          <a:p>
            <a:pPr algn="l">
              <a:lnSpc>
                <a:spcPts val="7839"/>
              </a:lnSpc>
            </a:pPr>
            <a:r>
              <a:rPr lang="en-US" sz="5599">
                <a:solidFill>
                  <a:srgbClr val="F7FBF8"/>
                </a:solidFill>
                <a:latin typeface="Avenir"/>
                <a:ea typeface="Avenir"/>
                <a:cs typeface="Avenir"/>
                <a:sym typeface="Avenir"/>
              </a:rPr>
              <a:t>Items for Re-Use &amp; </a:t>
            </a:r>
            <a:r>
              <a:rPr lang="en-US" sz="5599">
                <a:solidFill>
                  <a:srgbClr val="A4CE3E"/>
                </a:solidFill>
                <a:latin typeface="Avenir"/>
                <a:ea typeface="Avenir"/>
                <a:cs typeface="Avenir"/>
                <a:sym typeface="Avenir"/>
              </a:rPr>
              <a:t>Recycling</a:t>
            </a:r>
            <a:r>
              <a:rPr lang="en-US" sz="5599">
                <a:solidFill>
                  <a:srgbClr val="F7FBF8"/>
                </a:solidFill>
                <a:latin typeface="Avenir"/>
                <a:ea typeface="Avenir"/>
                <a:cs typeface="Avenir"/>
                <a:sym typeface="Avenir"/>
              </a:rPr>
              <a:t> </a:t>
            </a:r>
          </a:p>
        </p:txBody>
      </p:sp>
      <p:sp>
        <p:nvSpPr>
          <p:cNvPr name="TextBox 4" id="4"/>
          <p:cNvSpPr txBox="true"/>
          <p:nvPr/>
        </p:nvSpPr>
        <p:spPr>
          <a:xfrm rot="0">
            <a:off x="11183095" y="2375854"/>
            <a:ext cx="5904330" cy="512445"/>
          </a:xfrm>
          <a:prstGeom prst="rect">
            <a:avLst/>
          </a:prstGeom>
        </p:spPr>
        <p:txBody>
          <a:bodyPr anchor="t" rtlCol="false" tIns="0" lIns="0" bIns="0" rIns="0">
            <a:spAutoFit/>
          </a:bodyPr>
          <a:lstStyle/>
          <a:p>
            <a:pPr algn="l">
              <a:lnSpc>
                <a:spcPts val="3780"/>
              </a:lnSpc>
            </a:pPr>
            <a:r>
              <a:rPr lang="en-US" sz="2700">
                <a:solidFill>
                  <a:srgbClr val="F7FBF8"/>
                </a:solidFill>
                <a:latin typeface="Avenir"/>
                <a:ea typeface="Avenir"/>
                <a:cs typeface="Avenir"/>
                <a:sym typeface="Avenir"/>
              </a:rPr>
              <a:t>Reclamation - </a:t>
            </a:r>
            <a:r>
              <a:rPr lang="en-US" sz="2700">
                <a:solidFill>
                  <a:srgbClr val="A4CE3E"/>
                </a:solidFill>
                <a:latin typeface="Avenir"/>
                <a:ea typeface="Avenir"/>
                <a:cs typeface="Avenir"/>
                <a:sym typeface="Avenir"/>
              </a:rPr>
              <a:t>General Advice</a:t>
            </a:r>
            <a:r>
              <a:rPr lang="en-US" sz="2700">
                <a:solidFill>
                  <a:srgbClr val="F7FBF8"/>
                </a:solidFill>
                <a:latin typeface="Avenir"/>
                <a:ea typeface="Avenir"/>
                <a:cs typeface="Avenir"/>
                <a:sym typeface="Avenir"/>
              </a:rPr>
              <a:t> </a:t>
            </a:r>
          </a:p>
        </p:txBody>
      </p:sp>
      <p:sp>
        <p:nvSpPr>
          <p:cNvPr name="TextBox 5" id="5"/>
          <p:cNvSpPr txBox="true"/>
          <p:nvPr/>
        </p:nvSpPr>
        <p:spPr>
          <a:xfrm rot="0">
            <a:off x="10182094" y="3330361"/>
            <a:ext cx="6731437" cy="5361305"/>
          </a:xfrm>
          <a:prstGeom prst="rect">
            <a:avLst/>
          </a:prstGeom>
        </p:spPr>
        <p:txBody>
          <a:bodyPr anchor="t" rtlCol="false" tIns="0" lIns="0" bIns="0" rIns="0">
            <a:spAutoFit/>
          </a:bodyPr>
          <a:lstStyle/>
          <a:p>
            <a:pPr algn="l">
              <a:lnSpc>
                <a:spcPts val="2170"/>
              </a:lnSpc>
            </a:pPr>
            <a:r>
              <a:rPr lang="en-US" sz="1550">
                <a:solidFill>
                  <a:srgbClr val="F7FBF8"/>
                </a:solidFill>
                <a:latin typeface="Avenir"/>
                <a:ea typeface="Avenir"/>
                <a:cs typeface="Avenir"/>
                <a:sym typeface="Avenir"/>
              </a:rPr>
              <a:t>The reclamation values for any key waste products detailed in this report are entirely d</a:t>
            </a:r>
            <a:r>
              <a:rPr lang="en-US" sz="1550">
                <a:solidFill>
                  <a:srgbClr val="F7FBF8"/>
                </a:solidFill>
                <a:latin typeface="Avenir"/>
                <a:ea typeface="Avenir"/>
                <a:cs typeface="Avenir"/>
                <a:sym typeface="Avenir"/>
              </a:rPr>
              <a:t>ependent upon finding a market for the right items at the right time. Lawmens advise that a long lead-in time and maximum exposure are required. The best chances for reuse, with the best environmental and economic benefits, are as near to site as possible, usually be being sold, or given away locally.</a:t>
            </a:r>
          </a:p>
          <a:p>
            <a:pPr algn="l">
              <a:lnSpc>
                <a:spcPts val="2170"/>
              </a:lnSpc>
            </a:pPr>
          </a:p>
          <a:p>
            <a:pPr algn="l">
              <a:lnSpc>
                <a:spcPts val="2170"/>
              </a:lnSpc>
            </a:pPr>
            <a:r>
              <a:rPr lang="en-US" sz="1550">
                <a:solidFill>
                  <a:srgbClr val="F7FBF8"/>
                </a:solidFill>
                <a:latin typeface="Avenir"/>
                <a:ea typeface="Avenir"/>
                <a:cs typeface="Avenir"/>
                <a:sym typeface="Avenir"/>
              </a:rPr>
              <a:t>The following recommendations may assist in maximising the reclamation potential of KWPs identified:</a:t>
            </a:r>
          </a:p>
          <a:p>
            <a:pPr algn="l" marL="334646" indent="-167323" lvl="1">
              <a:lnSpc>
                <a:spcPts val="2170"/>
              </a:lnSpc>
              <a:buFont typeface="Arial"/>
              <a:buChar char="•"/>
            </a:pPr>
            <a:r>
              <a:rPr lang="en-US" sz="1550">
                <a:solidFill>
                  <a:srgbClr val="F7FBF8"/>
                </a:solidFill>
                <a:latin typeface="Avenir"/>
                <a:ea typeface="Avenir"/>
                <a:cs typeface="Avenir"/>
                <a:sym typeface="Avenir"/>
              </a:rPr>
              <a:t>Consider setting aside storage on site for segregation of salvage items.</a:t>
            </a:r>
          </a:p>
          <a:p>
            <a:pPr algn="l" marL="334646" indent="-167323" lvl="1">
              <a:lnSpc>
                <a:spcPts val="2170"/>
              </a:lnSpc>
              <a:buFont typeface="Arial"/>
              <a:buChar char="•"/>
            </a:pPr>
            <a:r>
              <a:rPr lang="en-US" sz="1550">
                <a:solidFill>
                  <a:srgbClr val="F7FBF8"/>
                </a:solidFill>
                <a:latin typeface="Avenir"/>
                <a:ea typeface="Avenir"/>
                <a:cs typeface="Avenir"/>
                <a:sym typeface="Avenir"/>
              </a:rPr>
              <a:t>Advertise specific salvage items for free on www.salvo.co.uk or low value materials on www.salvomie.co.uk</a:t>
            </a:r>
          </a:p>
          <a:p>
            <a:pPr algn="l" marL="334646" indent="-167323" lvl="1">
              <a:lnSpc>
                <a:spcPts val="2170"/>
              </a:lnSpc>
              <a:buFont typeface="Arial"/>
              <a:buChar char="•"/>
            </a:pPr>
            <a:r>
              <a:rPr lang="en-US" sz="1550">
                <a:solidFill>
                  <a:srgbClr val="F7FBF8"/>
                </a:solidFill>
                <a:latin typeface="Avenir"/>
                <a:ea typeface="Avenir"/>
                <a:cs typeface="Avenir"/>
                <a:sym typeface="Avenir"/>
              </a:rPr>
              <a:t>Contact local architectural salvage merchants about specific items. Salvo publish a directory on their website.</a:t>
            </a:r>
          </a:p>
          <a:p>
            <a:pPr algn="l" marL="334646" indent="-167323" lvl="1">
              <a:lnSpc>
                <a:spcPts val="2170"/>
              </a:lnSpc>
              <a:buFont typeface="Arial"/>
              <a:buChar char="•"/>
            </a:pPr>
            <a:r>
              <a:rPr lang="en-US" sz="1550">
                <a:solidFill>
                  <a:srgbClr val="F7FBF8"/>
                </a:solidFill>
                <a:latin typeface="Avenir"/>
                <a:ea typeface="Avenir"/>
                <a:cs typeface="Avenir"/>
                <a:sym typeface="Avenir"/>
              </a:rPr>
              <a:t>Ensure that salvaged items are removed and stored in such a way that all components remain together, e.g. doors in their frames.</a:t>
            </a:r>
          </a:p>
          <a:p>
            <a:pPr algn="l">
              <a:lnSpc>
                <a:spcPts val="2170"/>
              </a:lnSpc>
            </a:pPr>
          </a:p>
          <a:p>
            <a:pPr algn="l">
              <a:lnSpc>
                <a:spcPts val="2170"/>
              </a:lnSpc>
            </a:pPr>
            <a:r>
              <a:rPr lang="en-US" sz="1550">
                <a:solidFill>
                  <a:srgbClr val="F7FBF8"/>
                </a:solidFill>
                <a:latin typeface="Avenir"/>
                <a:ea typeface="Avenir"/>
                <a:cs typeface="Avenir"/>
                <a:sym typeface="Avenir"/>
              </a:rPr>
              <a:t>Salvo also operate a demolition alert service on their website which serves to bring forthcoming products to the attention of potential buyers or users.</a:t>
            </a:r>
          </a:p>
          <a:p>
            <a:pPr algn="l">
              <a:lnSpc>
                <a:spcPts val="2170"/>
              </a:lnSpc>
            </a:pPr>
          </a:p>
        </p:txBody>
      </p:sp>
      <p:sp>
        <p:nvSpPr>
          <p:cNvPr name="TextBox 6" id="6"/>
          <p:cNvSpPr txBox="true"/>
          <p:nvPr/>
        </p:nvSpPr>
        <p:spPr>
          <a:xfrm rot="0">
            <a:off x="1381816" y="2816646"/>
            <a:ext cx="6398511" cy="2427881"/>
          </a:xfrm>
          <a:prstGeom prst="rect">
            <a:avLst/>
          </a:prstGeom>
        </p:spPr>
        <p:txBody>
          <a:bodyPr anchor="t" rtlCol="false" tIns="0" lIns="0" bIns="0" rIns="0">
            <a:spAutoFit/>
          </a:bodyPr>
          <a:lstStyle/>
          <a:p>
            <a:pPr algn="l">
              <a:lnSpc>
                <a:spcPts val="2154"/>
              </a:lnSpc>
              <a:spcBef>
                <a:spcPct val="0"/>
              </a:spcBef>
            </a:pPr>
            <a:r>
              <a:rPr lang="en-US" sz="1539">
                <a:solidFill>
                  <a:srgbClr val="F7FBF8"/>
                </a:solidFill>
                <a:latin typeface="Avenir"/>
                <a:ea typeface="Avenir"/>
                <a:cs typeface="Avenir"/>
                <a:sym typeface="Avenir"/>
              </a:rPr>
              <a:t>The strip-out works at {{PROJECT_ADDRESS}} present a valuable opportunity for material reuse, reducing waste and supporting sustainable construction practices. Many elements such as timber, metal framing, doors, lighting fixtures, and mechanical components can often be salvaged, refurbished, and reintegrated either within the project or through approved recycling and reuse partners. By carefully identifying and recovering reusable materials during the strip-out, the project can lower disposal costs, minimise environmental impact, and contribute to a more circular approach to building refurbishment.</a:t>
            </a:r>
          </a:p>
        </p:txBody>
      </p:sp>
      <p:sp>
        <p:nvSpPr>
          <p:cNvPr name="AutoShape 7" id="7"/>
          <p:cNvSpPr/>
          <p:nvPr/>
        </p:nvSpPr>
        <p:spPr>
          <a:xfrm flipH="true">
            <a:off x="1381816" y="2185251"/>
            <a:ext cx="7163231" cy="0"/>
          </a:xfrm>
          <a:prstGeom prst="line">
            <a:avLst/>
          </a:prstGeom>
          <a:ln cap="flat" w="19050">
            <a:solidFill>
              <a:srgbClr val="A3CF3E"/>
            </a:solidFill>
            <a:prstDash val="solid"/>
            <a:headEnd type="none" len="sm" w="sm"/>
            <a:tailEnd type="none" len="sm" w="sm"/>
          </a:ln>
        </p:spPr>
      </p:sp>
      <p:sp>
        <p:nvSpPr>
          <p:cNvPr name="AutoShape 8" id="8"/>
          <p:cNvSpPr/>
          <p:nvPr/>
        </p:nvSpPr>
        <p:spPr>
          <a:xfrm>
            <a:off x="9414119" y="2883321"/>
            <a:ext cx="0" cy="5808345"/>
          </a:xfrm>
          <a:prstGeom prst="line">
            <a:avLst/>
          </a:prstGeom>
          <a:ln cap="flat" w="19050">
            <a:solidFill>
              <a:srgbClr val="A3CF3E"/>
            </a:solidFill>
            <a:prstDash val="solid"/>
            <a:headEnd type="none" len="sm" w="sm"/>
            <a:tailEnd type="none" len="sm" w="sm"/>
          </a:ln>
        </p:spPr>
      </p:sp>
      <p:sp>
        <p:nvSpPr>
          <p:cNvPr name="Freeform 9" id="9"/>
          <p:cNvSpPr/>
          <p:nvPr/>
        </p:nvSpPr>
        <p:spPr>
          <a:xfrm flipH="false" flipV="false" rot="0">
            <a:off x="17087425" y="1123531"/>
            <a:ext cx="805967" cy="781882"/>
          </a:xfrm>
          <a:custGeom>
            <a:avLst/>
            <a:gdLst/>
            <a:ahLst/>
            <a:cxnLst/>
            <a:rect r="r" b="b" t="t" l="l"/>
            <a:pathLst>
              <a:path h="781882" w="805967">
                <a:moveTo>
                  <a:pt x="0" y="0"/>
                </a:moveTo>
                <a:lnTo>
                  <a:pt x="805967" y="0"/>
                </a:lnTo>
                <a:lnTo>
                  <a:pt x="805967" y="781881"/>
                </a:lnTo>
                <a:lnTo>
                  <a:pt x="0" y="781881"/>
                </a:lnTo>
                <a:lnTo>
                  <a:pt x="0" y="0"/>
                </a:lnTo>
                <a:close/>
              </a:path>
            </a:pathLst>
          </a:custGeom>
          <a:blipFill>
            <a:blip r:embed="rId3"/>
            <a:stretch>
              <a:fillRect l="-3403" t="0" r="-284642" b="0"/>
            </a:stretch>
          </a:blipFill>
        </p:spPr>
      </p:sp>
      <p:sp>
        <p:nvSpPr>
          <p:cNvPr name="Freeform 10" id="10"/>
          <p:cNvSpPr/>
          <p:nvPr/>
        </p:nvSpPr>
        <p:spPr>
          <a:xfrm flipH="false" flipV="false" rot="0">
            <a:off x="415725" y="112353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606823"/>
          </a:xfrm>
          <a:custGeom>
            <a:avLst/>
            <a:gdLst/>
            <a:ahLst/>
            <a:cxnLst/>
            <a:rect r="r" b="b" t="t" l="l"/>
            <a:pathLst>
              <a:path h="10606823" w="18288000">
                <a:moveTo>
                  <a:pt x="0" y="0"/>
                </a:moveTo>
                <a:lnTo>
                  <a:pt x="18288000" y="0"/>
                </a:lnTo>
                <a:lnTo>
                  <a:pt x="18288000" y="10606823"/>
                </a:lnTo>
                <a:lnTo>
                  <a:pt x="0" y="10606823"/>
                </a:lnTo>
                <a:lnTo>
                  <a:pt x="0" y="0"/>
                </a:lnTo>
                <a:close/>
              </a:path>
            </a:pathLst>
          </a:custGeom>
          <a:blipFill>
            <a:blip r:embed="rId2"/>
            <a:stretch>
              <a:fillRect l="-1527" t="0" r="-1527" b="0"/>
            </a:stretch>
          </a:blipFill>
        </p:spPr>
      </p:sp>
      <p:sp>
        <p:nvSpPr>
          <p:cNvPr name="AutoShape 3" id="3"/>
          <p:cNvSpPr/>
          <p:nvPr/>
        </p:nvSpPr>
        <p:spPr>
          <a:xfrm flipV="true">
            <a:off x="8878693" y="634321"/>
            <a:ext cx="20712" cy="9226265"/>
          </a:xfrm>
          <a:prstGeom prst="line">
            <a:avLst/>
          </a:prstGeom>
          <a:ln cap="flat" w="9525">
            <a:solidFill>
              <a:srgbClr val="000000"/>
            </a:solidFill>
            <a:prstDash val="solid"/>
            <a:headEnd type="none" len="sm" w="sm"/>
            <a:tailEnd type="none" len="sm" w="sm"/>
          </a:ln>
        </p:spPr>
      </p:sp>
      <p:sp>
        <p:nvSpPr>
          <p:cNvPr name="AutoShape 4" id="4"/>
          <p:cNvSpPr/>
          <p:nvPr/>
        </p:nvSpPr>
        <p:spPr>
          <a:xfrm flipH="true" flipV="true">
            <a:off x="665433" y="2881126"/>
            <a:ext cx="6188560" cy="0"/>
          </a:xfrm>
          <a:prstGeom prst="line">
            <a:avLst/>
          </a:prstGeom>
          <a:ln cap="flat" w="19050">
            <a:solidFill>
              <a:srgbClr val="A3CF3E"/>
            </a:solidFill>
            <a:prstDash val="solid"/>
            <a:headEnd type="none" len="sm" w="sm"/>
            <a:tailEnd type="none" len="sm" w="sm"/>
          </a:ln>
        </p:spPr>
      </p:sp>
      <p:sp>
        <p:nvSpPr>
          <p:cNvPr name="Freeform 5" id="5"/>
          <p:cNvSpPr/>
          <p:nvPr/>
        </p:nvSpPr>
        <p:spPr>
          <a:xfrm flipH="false" flipV="false" rot="0">
            <a:off x="17521387" y="316040"/>
            <a:ext cx="458657" cy="444951"/>
          </a:xfrm>
          <a:custGeom>
            <a:avLst/>
            <a:gdLst/>
            <a:ahLst/>
            <a:cxnLst/>
            <a:rect r="r" b="b" t="t" l="l"/>
            <a:pathLst>
              <a:path h="444951" w="458657">
                <a:moveTo>
                  <a:pt x="0" y="0"/>
                </a:moveTo>
                <a:lnTo>
                  <a:pt x="458657" y="0"/>
                </a:lnTo>
                <a:lnTo>
                  <a:pt x="458657" y="444951"/>
                </a:lnTo>
                <a:lnTo>
                  <a:pt x="0" y="444951"/>
                </a:lnTo>
                <a:lnTo>
                  <a:pt x="0" y="0"/>
                </a:lnTo>
                <a:close/>
              </a:path>
            </a:pathLst>
          </a:custGeom>
          <a:blipFill>
            <a:blip r:embed="rId3"/>
            <a:stretch>
              <a:fillRect l="-3403" t="0" r="-284642" b="0"/>
            </a:stretch>
          </a:blipFill>
        </p:spPr>
      </p:sp>
      <p:sp>
        <p:nvSpPr>
          <p:cNvPr name="Freeform 6" id="6"/>
          <p:cNvSpPr/>
          <p:nvPr/>
        </p:nvSpPr>
        <p:spPr>
          <a:xfrm flipH="false" flipV="false" rot="0">
            <a:off x="16913532" y="287142"/>
            <a:ext cx="506190" cy="502747"/>
          </a:xfrm>
          <a:custGeom>
            <a:avLst/>
            <a:gdLst/>
            <a:ahLst/>
            <a:cxnLst/>
            <a:rect r="r" b="b" t="t" l="l"/>
            <a:pathLst>
              <a:path h="502747" w="506190">
                <a:moveTo>
                  <a:pt x="0" y="0"/>
                </a:moveTo>
                <a:lnTo>
                  <a:pt x="506190" y="0"/>
                </a:lnTo>
                <a:lnTo>
                  <a:pt x="506190" y="502746"/>
                </a:lnTo>
                <a:lnTo>
                  <a:pt x="0" y="502746"/>
                </a:lnTo>
                <a:lnTo>
                  <a:pt x="0" y="0"/>
                </a:lnTo>
                <a:close/>
              </a:path>
            </a:pathLst>
          </a:custGeom>
          <a:blipFill>
            <a:blip r:embed="rId4"/>
            <a:stretch>
              <a:fillRect l="-8797" t="-66863" r="-261858" b="-81932"/>
            </a:stretch>
          </a:blipFill>
        </p:spPr>
      </p:sp>
      <p:sp>
        <p:nvSpPr>
          <p:cNvPr name="Freeform 7" id="7"/>
          <p:cNvSpPr/>
          <p:nvPr/>
        </p:nvSpPr>
        <p:spPr>
          <a:xfrm flipH="false" flipV="false" rot="0">
            <a:off x="17521387" y="316040"/>
            <a:ext cx="458657" cy="444951"/>
          </a:xfrm>
          <a:custGeom>
            <a:avLst/>
            <a:gdLst/>
            <a:ahLst/>
            <a:cxnLst/>
            <a:rect r="r" b="b" t="t" l="l"/>
            <a:pathLst>
              <a:path h="444951" w="458657">
                <a:moveTo>
                  <a:pt x="0" y="0"/>
                </a:moveTo>
                <a:lnTo>
                  <a:pt x="458657" y="0"/>
                </a:lnTo>
                <a:lnTo>
                  <a:pt x="458657" y="444951"/>
                </a:lnTo>
                <a:lnTo>
                  <a:pt x="0" y="444951"/>
                </a:lnTo>
                <a:lnTo>
                  <a:pt x="0" y="0"/>
                </a:lnTo>
                <a:close/>
              </a:path>
            </a:pathLst>
          </a:custGeom>
          <a:blipFill>
            <a:blip r:embed="rId3"/>
            <a:stretch>
              <a:fillRect l="-3403" t="0" r="-284642" b="0"/>
            </a:stretch>
          </a:blipFill>
        </p:spPr>
      </p:sp>
      <p:sp>
        <p:nvSpPr>
          <p:cNvPr name="Freeform 8" id="8"/>
          <p:cNvSpPr/>
          <p:nvPr/>
        </p:nvSpPr>
        <p:spPr>
          <a:xfrm flipH="false" flipV="false" rot="0">
            <a:off x="16913532" y="287142"/>
            <a:ext cx="506190" cy="502747"/>
          </a:xfrm>
          <a:custGeom>
            <a:avLst/>
            <a:gdLst/>
            <a:ahLst/>
            <a:cxnLst/>
            <a:rect r="r" b="b" t="t" l="l"/>
            <a:pathLst>
              <a:path h="502747" w="506190">
                <a:moveTo>
                  <a:pt x="0" y="0"/>
                </a:moveTo>
                <a:lnTo>
                  <a:pt x="506190" y="0"/>
                </a:lnTo>
                <a:lnTo>
                  <a:pt x="506190" y="502746"/>
                </a:lnTo>
                <a:lnTo>
                  <a:pt x="0" y="502746"/>
                </a:lnTo>
                <a:lnTo>
                  <a:pt x="0" y="0"/>
                </a:lnTo>
                <a:close/>
              </a:path>
            </a:pathLst>
          </a:custGeom>
          <a:blipFill>
            <a:blip r:embed="rId4"/>
            <a:stretch>
              <a:fillRect l="-8797" t="-66863" r="-261858" b="-81932"/>
            </a:stretch>
          </a:blipFill>
        </p:spPr>
      </p:sp>
      <p:sp>
        <p:nvSpPr>
          <p:cNvPr name="Freeform 9" id="9"/>
          <p:cNvSpPr/>
          <p:nvPr/>
        </p:nvSpPr>
        <p:spPr>
          <a:xfrm flipH="false" flipV="false" rot="0">
            <a:off x="0" y="0"/>
            <a:ext cx="18278283" cy="10606823"/>
          </a:xfrm>
          <a:custGeom>
            <a:avLst/>
            <a:gdLst/>
            <a:ahLst/>
            <a:cxnLst/>
            <a:rect r="r" b="b" t="t" l="l"/>
            <a:pathLst>
              <a:path h="10606823" w="18278283">
                <a:moveTo>
                  <a:pt x="0" y="0"/>
                </a:moveTo>
                <a:lnTo>
                  <a:pt x="18278283" y="0"/>
                </a:lnTo>
                <a:lnTo>
                  <a:pt x="18278283" y="10606823"/>
                </a:lnTo>
                <a:lnTo>
                  <a:pt x="0" y="10606823"/>
                </a:lnTo>
                <a:lnTo>
                  <a:pt x="0" y="0"/>
                </a:lnTo>
                <a:close/>
              </a:path>
            </a:pathLst>
          </a:custGeom>
          <a:blipFill>
            <a:blip r:embed="rId5"/>
            <a:stretch>
              <a:fillRect l="-1554" t="0" r="-1554" b="0"/>
            </a:stretch>
          </a:blipFill>
        </p:spPr>
      </p:sp>
      <p:sp>
        <p:nvSpPr>
          <p:cNvPr name="TextBox 10" id="10"/>
          <p:cNvSpPr txBox="true"/>
          <p:nvPr/>
        </p:nvSpPr>
        <p:spPr>
          <a:xfrm rot="0">
            <a:off x="1455467" y="809625"/>
            <a:ext cx="7443939" cy="20580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Conclusion and </a:t>
            </a:r>
            <a:r>
              <a:rPr lang="en-US" sz="5600">
                <a:solidFill>
                  <a:srgbClr val="A4CE3E"/>
                </a:solidFill>
                <a:latin typeface="Avenir"/>
                <a:ea typeface="Avenir"/>
                <a:cs typeface="Avenir"/>
                <a:sym typeface="Avenir"/>
              </a:rPr>
              <a:t>Recommendations</a:t>
            </a:r>
          </a:p>
        </p:txBody>
      </p:sp>
      <p:sp>
        <p:nvSpPr>
          <p:cNvPr name="TextBox 11" id="11"/>
          <p:cNvSpPr txBox="true"/>
          <p:nvPr/>
        </p:nvSpPr>
        <p:spPr>
          <a:xfrm rot="0">
            <a:off x="1028700" y="3922020"/>
            <a:ext cx="7625072" cy="3761105"/>
          </a:xfrm>
          <a:prstGeom prst="rect">
            <a:avLst/>
          </a:prstGeom>
        </p:spPr>
        <p:txBody>
          <a:bodyPr anchor="t" rtlCol="false" tIns="0" lIns="0" bIns="0" rIns="0">
            <a:spAutoFit/>
          </a:bodyPr>
          <a:lstStyle/>
          <a:p>
            <a:pPr algn="l">
              <a:lnSpc>
                <a:spcPts val="2169"/>
              </a:lnSpc>
            </a:pPr>
            <a:r>
              <a:rPr lang="en-US" sz="1549">
                <a:solidFill>
                  <a:srgbClr val="F7FBF8"/>
                </a:solidFill>
                <a:latin typeface="Avenir"/>
                <a:ea typeface="Avenir"/>
                <a:cs typeface="Avenir"/>
                <a:sym typeface="Avenir"/>
              </a:rPr>
              <a:t>The results of the audit show that the potential material arising from the strip-out phase of </a:t>
            </a:r>
            <a:r>
              <a:rPr lang="en-US" sz="1549">
                <a:solidFill>
                  <a:srgbClr val="F7FBF8"/>
                </a:solidFill>
                <a:latin typeface="Avenir"/>
                <a:ea typeface="Avenir"/>
                <a:cs typeface="Avenir"/>
                <a:sym typeface="Avenir"/>
              </a:rPr>
              <a:t>the project is {{PROJECT_WEIGHT}}, and the key waste products are {{KEY_WASTE_PRODUCTS}}</a:t>
            </a:r>
          </a:p>
          <a:p>
            <a:pPr algn="l">
              <a:lnSpc>
                <a:spcPts val="2169"/>
              </a:lnSpc>
            </a:pPr>
          </a:p>
          <a:p>
            <a:pPr algn="l">
              <a:lnSpc>
                <a:spcPts val="2169"/>
              </a:lnSpc>
            </a:pPr>
            <a:r>
              <a:rPr lang="en-US" sz="1549">
                <a:solidFill>
                  <a:srgbClr val="F7FBF8"/>
                </a:solidFill>
                <a:latin typeface="Avenir"/>
                <a:ea typeface="Avenir"/>
                <a:cs typeface="Avenir"/>
                <a:sym typeface="Avenir"/>
              </a:rPr>
              <a:t>Lawmens </a:t>
            </a:r>
            <a:r>
              <a:rPr lang="en-US" sz="1549">
                <a:solidFill>
                  <a:srgbClr val="F7FBF8"/>
                </a:solidFill>
                <a:latin typeface="Avenir"/>
                <a:ea typeface="Avenir"/>
                <a:cs typeface="Avenir"/>
                <a:sym typeface="Avenir"/>
              </a:rPr>
              <a:t>believe that by putting in procedures to manage each waste stream, we will be able to provide Principal Contractor with options for:</a:t>
            </a:r>
          </a:p>
          <a:p>
            <a:pPr algn="l">
              <a:lnSpc>
                <a:spcPts val="2169"/>
              </a:lnSpc>
            </a:pPr>
          </a:p>
          <a:p>
            <a:pPr algn="l">
              <a:lnSpc>
                <a:spcPts val="2169"/>
              </a:lnSpc>
            </a:pPr>
            <a:r>
              <a:rPr lang="en-US" sz="1549">
                <a:solidFill>
                  <a:srgbClr val="F7FBF8"/>
                </a:solidFill>
                <a:latin typeface="Avenir"/>
                <a:ea typeface="Avenir"/>
                <a:cs typeface="Avenir"/>
                <a:sym typeface="Avenir"/>
              </a:rPr>
              <a:t>1. Trade-in of items that can be re-conditioned/re-purposed.</a:t>
            </a:r>
          </a:p>
          <a:p>
            <a:pPr algn="l">
              <a:lnSpc>
                <a:spcPts val="2169"/>
              </a:lnSpc>
            </a:pPr>
            <a:r>
              <a:rPr lang="en-US" sz="1549">
                <a:solidFill>
                  <a:srgbClr val="F7FBF8"/>
                </a:solidFill>
                <a:latin typeface="Avenir"/>
                <a:ea typeface="Avenir"/>
                <a:cs typeface="Avenir"/>
                <a:sym typeface="Avenir"/>
              </a:rPr>
              <a:t>2. Re-use of many of the items e.g. kitchens</a:t>
            </a:r>
          </a:p>
          <a:p>
            <a:pPr algn="l">
              <a:lnSpc>
                <a:spcPts val="2169"/>
              </a:lnSpc>
            </a:pPr>
            <a:r>
              <a:rPr lang="en-US" sz="1549">
                <a:solidFill>
                  <a:srgbClr val="F7FBF8"/>
                </a:solidFill>
                <a:latin typeface="Avenir"/>
                <a:ea typeface="Avenir"/>
                <a:cs typeface="Avenir"/>
                <a:sym typeface="Avenir"/>
              </a:rPr>
              <a:t>3. Recycling of more &gt;85% of materials</a:t>
            </a:r>
          </a:p>
          <a:p>
            <a:pPr algn="l">
              <a:lnSpc>
                <a:spcPts val="2169"/>
              </a:lnSpc>
            </a:pPr>
            <a:r>
              <a:rPr lang="en-US" sz="1549">
                <a:solidFill>
                  <a:srgbClr val="F7FBF8"/>
                </a:solidFill>
                <a:latin typeface="Avenir"/>
                <a:ea typeface="Avenir"/>
                <a:cs typeface="Avenir"/>
                <a:sym typeface="Avenir"/>
              </a:rPr>
              <a:t>4. Diversion to landfill of &gt;99% of materials</a:t>
            </a:r>
          </a:p>
          <a:p>
            <a:pPr algn="l">
              <a:lnSpc>
                <a:spcPts val="2169"/>
              </a:lnSpc>
            </a:pPr>
          </a:p>
          <a:p>
            <a:pPr algn="l">
              <a:lnSpc>
                <a:spcPts val="2169"/>
              </a:lnSpc>
            </a:pPr>
            <a:r>
              <a:rPr lang="en-US" sz="1549">
                <a:solidFill>
                  <a:srgbClr val="F7FBF8"/>
                </a:solidFill>
                <a:latin typeface="Avenir"/>
                <a:ea typeface="Avenir"/>
                <a:cs typeface="Avenir"/>
                <a:sym typeface="Avenir"/>
              </a:rPr>
              <a:t>There is potential for the re-use or recycling of the majority of the materials thereby diverting waste from landfill.</a:t>
            </a:r>
          </a:p>
        </p:txBody>
      </p:sp>
      <p:sp>
        <p:nvSpPr>
          <p:cNvPr name="TextBox 12" id="12"/>
          <p:cNvSpPr txBox="true"/>
          <p:nvPr/>
        </p:nvSpPr>
        <p:spPr>
          <a:xfrm rot="0">
            <a:off x="9334890" y="1149998"/>
            <a:ext cx="5405935" cy="683885"/>
          </a:xfrm>
          <a:prstGeom prst="rect">
            <a:avLst/>
          </a:prstGeom>
        </p:spPr>
        <p:txBody>
          <a:bodyPr anchor="t" rtlCol="false" tIns="0" lIns="0" bIns="0" rIns="0">
            <a:spAutoFit/>
          </a:bodyPr>
          <a:lstStyle/>
          <a:p>
            <a:pPr algn="l">
              <a:lnSpc>
                <a:spcPts val="4999"/>
              </a:lnSpc>
            </a:pPr>
            <a:r>
              <a:rPr lang="en-US" sz="3571">
                <a:solidFill>
                  <a:srgbClr val="A4CE3E"/>
                </a:solidFill>
                <a:latin typeface="Avenir"/>
                <a:ea typeface="Avenir"/>
                <a:cs typeface="Avenir"/>
                <a:sym typeface="Avenir"/>
              </a:rPr>
              <a:t>Recycling/Re-Use Targets</a:t>
            </a:r>
          </a:p>
        </p:txBody>
      </p:sp>
      <p:sp>
        <p:nvSpPr>
          <p:cNvPr name="TextBox 13" id="13"/>
          <p:cNvSpPr txBox="true"/>
          <p:nvPr/>
        </p:nvSpPr>
        <p:spPr>
          <a:xfrm rot="0">
            <a:off x="9334890" y="2093128"/>
            <a:ext cx="8683344" cy="7228205"/>
          </a:xfrm>
          <a:prstGeom prst="rect">
            <a:avLst/>
          </a:prstGeom>
        </p:spPr>
        <p:txBody>
          <a:bodyPr anchor="t" rtlCol="false" tIns="0" lIns="0" bIns="0" rIns="0">
            <a:spAutoFit/>
          </a:bodyPr>
          <a:lstStyle/>
          <a:p>
            <a:pPr algn="l">
              <a:lnSpc>
                <a:spcPts val="2170"/>
              </a:lnSpc>
            </a:pPr>
            <a:r>
              <a:rPr lang="en-US" sz="1550">
                <a:solidFill>
                  <a:srgbClr val="F7FBF8"/>
                </a:solidFill>
                <a:latin typeface="Avenir"/>
                <a:ea typeface="Avenir"/>
                <a:cs typeface="Avenir"/>
                <a:sym typeface="Avenir"/>
              </a:rPr>
              <a:t>The strategy for recycling and reuse will be as follows:</a:t>
            </a:r>
          </a:p>
          <a:p>
            <a:pPr algn="l">
              <a:lnSpc>
                <a:spcPts val="2170"/>
              </a:lnSpc>
            </a:pPr>
          </a:p>
          <a:p>
            <a:pPr algn="l" marL="334646" indent="-167323" lvl="1">
              <a:lnSpc>
                <a:spcPts val="2170"/>
              </a:lnSpc>
              <a:buFont typeface="Arial"/>
              <a:buChar char="•"/>
            </a:pPr>
            <a:r>
              <a:rPr lang="en-US" sz="1550">
                <a:solidFill>
                  <a:srgbClr val="F7FBF8"/>
                </a:solidFill>
                <a:latin typeface="Avenir"/>
                <a:ea typeface="Avenir"/>
                <a:cs typeface="Avenir"/>
                <a:sym typeface="Avenir"/>
              </a:rPr>
              <a:t>Reusing the material on site (in-situ or for new applications)</a:t>
            </a:r>
          </a:p>
          <a:p>
            <a:pPr algn="l" marL="334646" indent="-167323" lvl="1">
              <a:lnSpc>
                <a:spcPts val="2170"/>
              </a:lnSpc>
              <a:buFont typeface="Arial"/>
              <a:buChar char="•"/>
            </a:pPr>
            <a:r>
              <a:rPr lang="en-US" sz="1550">
                <a:solidFill>
                  <a:srgbClr val="F7FBF8"/>
                </a:solidFill>
                <a:latin typeface="Avenir"/>
                <a:ea typeface="Avenir"/>
                <a:cs typeface="Avenir"/>
                <a:sym typeface="Avenir"/>
              </a:rPr>
              <a:t>Reusing the material on other sites</a:t>
            </a:r>
          </a:p>
          <a:p>
            <a:pPr algn="l" marL="334646" indent="-167323" lvl="1">
              <a:lnSpc>
                <a:spcPts val="2170"/>
              </a:lnSpc>
              <a:buFont typeface="Arial"/>
              <a:buChar char="•"/>
            </a:pPr>
            <a:r>
              <a:rPr lang="en-US" sz="1550">
                <a:solidFill>
                  <a:srgbClr val="F7FBF8"/>
                </a:solidFill>
                <a:latin typeface="Avenir"/>
                <a:ea typeface="Avenir"/>
                <a:cs typeface="Avenir"/>
                <a:sym typeface="Avenir"/>
              </a:rPr>
              <a:t>Salvaging or reclaiming the material for reuse</a:t>
            </a:r>
          </a:p>
          <a:p>
            <a:pPr algn="l" marL="334646" indent="-167323" lvl="1">
              <a:lnSpc>
                <a:spcPts val="2170"/>
              </a:lnSpc>
              <a:buFont typeface="Arial"/>
              <a:buChar char="•"/>
            </a:pPr>
            <a:r>
              <a:rPr lang="en-US" sz="1550">
                <a:solidFill>
                  <a:srgbClr val="F7FBF8"/>
                </a:solidFill>
                <a:latin typeface="Avenir"/>
                <a:ea typeface="Avenir"/>
                <a:cs typeface="Avenir"/>
                <a:sym typeface="Avenir"/>
              </a:rPr>
              <a:t>Returning material to the supplier via a ‘take-back’ scheme</a:t>
            </a:r>
          </a:p>
          <a:p>
            <a:pPr algn="l" marL="334646" indent="-167323" lvl="1">
              <a:lnSpc>
                <a:spcPts val="2170"/>
              </a:lnSpc>
              <a:buFont typeface="Arial"/>
              <a:buChar char="•"/>
            </a:pPr>
            <a:r>
              <a:rPr lang="en-US" sz="1550">
                <a:solidFill>
                  <a:srgbClr val="F7FBF8"/>
                </a:solidFill>
                <a:latin typeface="Avenir"/>
                <a:ea typeface="Avenir"/>
                <a:cs typeface="Avenir"/>
                <a:sym typeface="Avenir"/>
              </a:rPr>
              <a:t>Recovery of the material from site by an approved waste management contractor and recycled or sent for energy recovery.</a:t>
            </a:r>
          </a:p>
          <a:p>
            <a:pPr algn="l">
              <a:lnSpc>
                <a:spcPts val="2170"/>
              </a:lnSpc>
            </a:pPr>
          </a:p>
          <a:p>
            <a:pPr algn="l">
              <a:lnSpc>
                <a:spcPts val="2170"/>
              </a:lnSpc>
            </a:pPr>
            <a:r>
              <a:rPr lang="en-US" sz="1550">
                <a:solidFill>
                  <a:srgbClr val="F7FBF8"/>
                </a:solidFill>
                <a:latin typeface="Avenir"/>
                <a:ea typeface="Avenir"/>
                <a:cs typeface="Avenir"/>
                <a:sym typeface="Avenir"/>
              </a:rPr>
              <a:t>It is recommended that an overall recycling target is set prior to the strip-out phase commencing based on the recommendations of this report. The targets should be communicated to all contractors to ensure that maximum reuse and recycling is achieved. An estimate of the total percentage of waste materials that can be recycled/reused on this project is {{LANDFILL_TARGET_PERCENT}} based on diversion from landfill &amp; {{RECYCLE_TARGET_PERCENT}} based on re-use and recycling targets.</a:t>
            </a:r>
          </a:p>
          <a:p>
            <a:pPr algn="l">
              <a:lnSpc>
                <a:spcPts val="2170"/>
              </a:lnSpc>
            </a:pPr>
          </a:p>
          <a:p>
            <a:pPr algn="l">
              <a:lnSpc>
                <a:spcPts val="2170"/>
              </a:lnSpc>
            </a:pPr>
            <a:r>
              <a:rPr lang="en-US" sz="1550">
                <a:solidFill>
                  <a:srgbClr val="F7FBF8"/>
                </a:solidFill>
                <a:latin typeface="Avenir"/>
                <a:ea typeface="Avenir"/>
                <a:cs typeface="Avenir"/>
                <a:sym typeface="Avenir"/>
              </a:rPr>
              <a:t>This will be further refined once we have fully understood the scope of works.</a:t>
            </a:r>
          </a:p>
          <a:p>
            <a:pPr algn="l">
              <a:lnSpc>
                <a:spcPts val="2170"/>
              </a:lnSpc>
            </a:pPr>
            <a:r>
              <a:rPr lang="en-US" sz="1550">
                <a:solidFill>
                  <a:srgbClr val="F7FBF8"/>
                </a:solidFill>
                <a:latin typeface="Avenir"/>
                <a:ea typeface="Avenir"/>
                <a:cs typeface="Avenir"/>
                <a:sym typeface="Avenir"/>
              </a:rPr>
              <a:t> </a:t>
            </a:r>
          </a:p>
          <a:p>
            <a:pPr algn="l">
              <a:lnSpc>
                <a:spcPts val="2170"/>
              </a:lnSpc>
            </a:pPr>
            <a:r>
              <a:rPr lang="en-US" sz="1550" b="true">
                <a:solidFill>
                  <a:srgbClr val="A4CE3E"/>
                </a:solidFill>
                <a:latin typeface="Avenir Bold"/>
                <a:ea typeface="Avenir Bold"/>
                <a:cs typeface="Avenir Bold"/>
                <a:sym typeface="Avenir Bold"/>
              </a:rPr>
              <a:t>Target = {{OVERALL_REUSE_PERCENT}}</a:t>
            </a:r>
          </a:p>
          <a:p>
            <a:pPr algn="l">
              <a:lnSpc>
                <a:spcPts val="2170"/>
              </a:lnSpc>
            </a:pPr>
          </a:p>
          <a:p>
            <a:pPr algn="l">
              <a:lnSpc>
                <a:spcPts val="2170"/>
              </a:lnSpc>
            </a:pPr>
            <a:r>
              <a:rPr lang="en-US" sz="1550" b="true">
                <a:solidFill>
                  <a:srgbClr val="F7FBF8"/>
                </a:solidFill>
                <a:latin typeface="Avenir Bold"/>
                <a:ea typeface="Avenir Bold"/>
                <a:cs typeface="Avenir Bold"/>
                <a:sym typeface="Avenir Bold"/>
              </a:rPr>
              <a:t>Comparison of actual material arisings with forecast</a:t>
            </a:r>
          </a:p>
          <a:p>
            <a:pPr algn="l">
              <a:lnSpc>
                <a:spcPts val="2170"/>
              </a:lnSpc>
            </a:pPr>
            <a:r>
              <a:rPr lang="en-US" sz="1550">
                <a:solidFill>
                  <a:srgbClr val="F7FBF8"/>
                </a:solidFill>
                <a:latin typeface="Avenir"/>
                <a:ea typeface="Avenir"/>
                <a:cs typeface="Avenir"/>
                <a:sym typeface="Avenir"/>
              </a:rPr>
              <a:t>During the strip-out phase, details of the actual materials arising and the waste management methods used should be recorded to compare actual with forecast and to assess performance against the targets set.</a:t>
            </a:r>
          </a:p>
          <a:p>
            <a:pPr algn="l">
              <a:lnSpc>
                <a:spcPts val="2170"/>
              </a:lnSpc>
            </a:pPr>
          </a:p>
          <a:p>
            <a:pPr algn="l">
              <a:lnSpc>
                <a:spcPts val="2170"/>
              </a:lnSpc>
            </a:pPr>
            <a:r>
              <a:rPr lang="en-US" sz="1550">
                <a:solidFill>
                  <a:srgbClr val="F7FBF8"/>
                </a:solidFill>
                <a:latin typeface="Avenir"/>
                <a:ea typeface="Avenir"/>
                <a:cs typeface="Avenir"/>
                <a:sym typeface="Avenir"/>
              </a:rPr>
              <a:t>Following completion of the project, any barriers to achieving the targets should be reviewed to ensure that in future projects these barriers can be overcome.</a:t>
            </a:r>
          </a:p>
        </p:txBody>
      </p:sp>
      <p:sp>
        <p:nvSpPr>
          <p:cNvPr name="AutoShape 14" id="14"/>
          <p:cNvSpPr/>
          <p:nvPr/>
        </p:nvSpPr>
        <p:spPr>
          <a:xfrm flipH="true">
            <a:off x="1428973" y="3157351"/>
            <a:ext cx="6097994" cy="9525"/>
          </a:xfrm>
          <a:prstGeom prst="line">
            <a:avLst/>
          </a:prstGeom>
          <a:ln cap="flat" w="19050">
            <a:solidFill>
              <a:srgbClr val="A3CF3E"/>
            </a:solidFill>
            <a:prstDash val="solid"/>
            <a:headEnd type="none" len="sm" w="sm"/>
            <a:tailEnd type="none" len="sm" w="sm"/>
          </a:ln>
        </p:spPr>
      </p:sp>
      <p:sp>
        <p:nvSpPr>
          <p:cNvPr name="Freeform 15" id="15"/>
          <p:cNvSpPr/>
          <p:nvPr/>
        </p:nvSpPr>
        <p:spPr>
          <a:xfrm flipH="false" flipV="false" rot="0">
            <a:off x="508175" y="1007223"/>
            <a:ext cx="774271" cy="769004"/>
          </a:xfrm>
          <a:custGeom>
            <a:avLst/>
            <a:gdLst/>
            <a:ahLst/>
            <a:cxnLst/>
            <a:rect r="r" b="b" t="t" l="l"/>
            <a:pathLst>
              <a:path h="769004" w="774271">
                <a:moveTo>
                  <a:pt x="0" y="0"/>
                </a:moveTo>
                <a:lnTo>
                  <a:pt x="774270" y="0"/>
                </a:lnTo>
                <a:lnTo>
                  <a:pt x="774270" y="769003"/>
                </a:lnTo>
                <a:lnTo>
                  <a:pt x="0" y="769003"/>
                </a:lnTo>
                <a:lnTo>
                  <a:pt x="0" y="0"/>
                </a:lnTo>
                <a:close/>
              </a:path>
            </a:pathLst>
          </a:custGeom>
          <a:blipFill>
            <a:blip r:embed="rId4"/>
            <a:stretch>
              <a:fillRect l="-8797" t="-66863" r="-261858" b="-81932"/>
            </a:stretch>
          </a:blipFill>
        </p:spPr>
      </p:sp>
      <p:sp>
        <p:nvSpPr>
          <p:cNvPr name="Freeform 16" id="16"/>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AutoShape 15" id="15"/>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16" id="16"/>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{{MATERIAL_1_POTENTIAL}}</a:t>
            </a:r>
          </a:p>
          <a:p>
            <a:pPr algn="just">
              <a:lnSpc>
                <a:spcPts val="2169"/>
              </a:lnSpc>
            </a:pPr>
            <a:r>
              <a:rPr lang="en-US" b="true" sz="1549">
                <a:solidFill>
                  <a:srgbClr val="F7FBF8"/>
                </a:solidFill>
                <a:latin typeface="Avenir Bold"/>
                <a:ea typeface="Avenir Bold"/>
                <a:cs typeface="Avenir Bold"/>
                <a:sym typeface="Avenir Bold"/>
              </a:rPr>
              <a:t>{{MATERIAL_1_DESCRIPTION}}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{{MATERIAL_1_RISKS}}</a:t>
            </a:r>
          </a:p>
          <a:p>
            <a:pPr algn="just">
              <a:lnSpc>
                <a:spcPts val="2169"/>
              </a:lnSpc>
            </a:pPr>
          </a:p>
          <a:p>
            <a:pPr algn="just">
              <a:lnSpc>
                <a:spcPts val="2169"/>
              </a:lnSpc>
            </a:pPr>
          </a:p>
        </p:txBody>
      </p:sp>
      <p:sp>
        <p:nvSpPr>
          <p:cNvPr name="TextBox 17" id="17"/>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{{MATERIAL_2_POTENTIAL}}</a:t>
            </a:r>
          </a:p>
          <a:p>
            <a:pPr algn="just">
              <a:lnSpc>
                <a:spcPts val="2169"/>
              </a:lnSpc>
            </a:pPr>
            <a:r>
              <a:rPr lang="en-US" b="true" sz="1549">
                <a:solidFill>
                  <a:srgbClr val="F7FBF8"/>
                </a:solidFill>
                <a:latin typeface="Avenir Bold"/>
                <a:ea typeface="Avenir Bold"/>
                <a:cs typeface="Avenir Bold"/>
                <a:sym typeface="Avenir Bold"/>
              </a:rPr>
              <a:t>{{MATERIAL_2_DESCRIPTION}}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{{MATERIAL_2_RISKS}}</a:t>
            </a:r>
          </a:p>
          <a:p>
            <a:pPr algn="just">
              <a:lnSpc>
                <a:spcPts val="2169"/>
              </a:lnSpc>
            </a:pPr>
          </a:p>
          <a:p>
            <a:pPr algn="just">
              <a:lnSpc>
                <a:spcPts val="2169"/>
              </a:lnSpc>
            </a:pPr>
          </a:p>
        </p:txBody>
      </p:sp>
      <p:sp>
        <p:nvSpPr>
          <p:cNvPr name="TextBox 18" id="18"/>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{{MAT_1_PHOTOS}}</a:t>
            </a:r>
          </a:p>
        </p:txBody>
      </p:sp>
      <p:sp>
        <p:nvSpPr>
          <p:cNvPr name="TextBox 19" id="19"/>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{{MAT_1_PHOTOS}}</a:t>
            </a:r>
          </a:p>
        </p:txBody>
      </p:sp>
      <p:sp>
        <p:nvSpPr>
          <p:cNvPr name="TextBox 20" id="20"/>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{{MAT_2_PHOTOS}}</a:t>
            </a:r>
          </a:p>
        </p:txBody>
      </p:sp>
      <p:sp>
        <p:nvSpPr>
          <p:cNvPr name="TextBox 21" id="21"/>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{{MAT_2_PHOTOS}}</a:t>
            </a:r>
          </a:p>
        </p:txBody>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543760" y="748113"/>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3"/>
            <a:stretch>
              <a:fillRect l="-8797" t="-66863" r="-261858" b="-81932"/>
            </a:stretch>
          </a:blipFill>
        </p:spPr>
      </p:sp>
      <p:sp>
        <p:nvSpPr>
          <p:cNvPr name="Freeform 24" id="24"/>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{{MATERIAL_3}}</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{{MATERIAL_3_POTENTIAL}}</a:t>
            </a:r>
          </a:p>
          <a:p>
            <a:pPr algn="just">
              <a:lnSpc>
                <a:spcPts val="2169"/>
              </a:lnSpc>
            </a:pPr>
            <a:r>
              <a:rPr lang="en-US" b="true" sz="1549">
                <a:solidFill>
                  <a:srgbClr val="F7FBF8"/>
                </a:solidFill>
                <a:latin typeface="Avenir Bold"/>
                <a:ea typeface="Avenir Bold"/>
                <a:cs typeface="Avenir Bold"/>
                <a:sym typeface="Avenir Bold"/>
              </a:rPr>
              <a:t>{{MATERIAL_3_DESCRIPTION}}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{{MATERIAL_3_RISKS}}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{{MATERIAL_4}}</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{{MATERIAL_4_POTENTIAL}}</a:t>
            </a:r>
          </a:p>
          <a:p>
            <a:pPr algn="just">
              <a:lnSpc>
                <a:spcPts val="2169"/>
              </a:lnSpc>
            </a:pPr>
            <a:r>
              <a:rPr lang="en-US" b="true" sz="1549">
                <a:solidFill>
                  <a:srgbClr val="F7FBF8"/>
                </a:solidFill>
                <a:latin typeface="Avenir Bold"/>
                <a:ea typeface="Avenir Bold"/>
                <a:cs typeface="Avenir Bold"/>
                <a:sym typeface="Avenir Bold"/>
              </a:rPr>
              <a:t>{{MATERIAL_4_DESCRIPTION}}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{{MATERIAL_4_RISKS}}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{{MAT_3_PHOTOS}}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{{MAT_3_PHOTOS}}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{{MAT_4_PHOTOS}}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{{MAT_4_PHOTOS}}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3"/>
            <a:stretch>
              <a:fillRect l="-8797" t="-66863" r="-261858" b="-81932"/>
            </a:stretch>
          </a:blipFill>
        </p:spPr>
      </p:sp>
      <p:sp>
        <p:nvSpPr>
          <p:cNvPr name="Freeform 24" id="24"/>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{{MATERIAL_5}}</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{{MATERIAL_5_POTENTIAL}}</a:t>
            </a:r>
          </a:p>
          <a:p>
            <a:pPr algn="just">
              <a:lnSpc>
                <a:spcPts val="2169"/>
              </a:lnSpc>
            </a:pPr>
            <a:r>
              <a:rPr lang="en-US" b="true" sz="1549">
                <a:solidFill>
                  <a:srgbClr val="F7FBF8"/>
                </a:solidFill>
                <a:latin typeface="Avenir Bold"/>
                <a:ea typeface="Avenir Bold"/>
                <a:cs typeface="Avenir Bold"/>
                <a:sym typeface="Avenir Bold"/>
              </a:rPr>
              <a:t>{{MATERIAL_5_DESCRIPTION}}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{{MATERIAL_5_RISKS}}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{{MATERIAL_6}}</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{{MATERIAL_6_POTENTIAL}}</a:t>
            </a:r>
          </a:p>
          <a:p>
            <a:pPr algn="just">
              <a:lnSpc>
                <a:spcPts val="2169"/>
              </a:lnSpc>
            </a:pPr>
            <a:r>
              <a:rPr lang="en-US" b="true" sz="1549">
                <a:solidFill>
                  <a:srgbClr val="F7FBF8"/>
                </a:solidFill>
                <a:latin typeface="Avenir Bold"/>
                <a:ea typeface="Avenir Bold"/>
                <a:cs typeface="Avenir Bold"/>
                <a:sym typeface="Avenir Bold"/>
              </a:rPr>
              <a:t>{{MATERIAL_6_DESCRIPTION}}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{{MATERIAL_6_RISKS}}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{{MAT_5_PHOTOS}}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{{MAT_5_PHOTOS}}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{{MAT_6_PHOTOS}}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{{MAT_6_PHOTOS}}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3"/>
            <a:stretch>
              <a:fillRect l="-8797" t="-66863" r="-261858" b="-81932"/>
            </a:stretch>
          </a:blipFill>
        </p:spPr>
      </p:sp>
      <p:sp>
        <p:nvSpPr>
          <p:cNvPr name="Freeform 24" id="24"/>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4"/>
            <a:stretch>
              <a:fillRect l="-3403" t="0" r="-284642"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{{MATERIAL_7}}</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{{MATERIAL_7_POTENTIAL}}</a:t>
            </a:r>
          </a:p>
          <a:p>
            <a:pPr algn="just">
              <a:lnSpc>
                <a:spcPts val="2169"/>
              </a:lnSpc>
            </a:pPr>
            <a:r>
              <a:rPr lang="en-US" b="true" sz="1549">
                <a:solidFill>
                  <a:srgbClr val="F7FBF8"/>
                </a:solidFill>
                <a:latin typeface="Avenir Bold"/>
                <a:ea typeface="Avenir Bold"/>
                <a:cs typeface="Avenir Bold"/>
                <a:sym typeface="Avenir Bold"/>
              </a:rPr>
              <a:t>{{MATERIAL_7_DESCRIPTION}}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{{MATERIAL_7_RISKS}}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{{MATERIAL_8}}</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{{MATERIAL_8_POTENTIAL}}</a:t>
            </a:r>
          </a:p>
          <a:p>
            <a:pPr algn="just">
              <a:lnSpc>
                <a:spcPts val="2169"/>
              </a:lnSpc>
            </a:pPr>
            <a:r>
              <a:rPr lang="en-US" b="true" sz="1549">
                <a:solidFill>
                  <a:srgbClr val="F7FBF8"/>
                </a:solidFill>
                <a:latin typeface="Avenir Bold"/>
                <a:ea typeface="Avenir Bold"/>
                <a:cs typeface="Avenir Bold"/>
                <a:sym typeface="Avenir Bold"/>
              </a:rPr>
              <a:t>{{MATERIAL_8_DESCRIPTION}}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{{MATERIAL_8_RISKS}}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{{MAT_7_PHOTOS}}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{{MAT_7_PHOTOS}}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{{MAT_8_PHOTOS}}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{{MAT_8_PHOTOS}}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{{MATERIAL_9}}</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{{MATERIAL_9_POTENTIAL}}</a:t>
            </a:r>
          </a:p>
          <a:p>
            <a:pPr algn="just">
              <a:lnSpc>
                <a:spcPts val="2169"/>
              </a:lnSpc>
            </a:pPr>
            <a:r>
              <a:rPr lang="en-US" b="true" sz="1549">
                <a:solidFill>
                  <a:srgbClr val="F7FBF8"/>
                </a:solidFill>
                <a:latin typeface="Avenir Bold"/>
                <a:ea typeface="Avenir Bold"/>
                <a:cs typeface="Avenir Bold"/>
                <a:sym typeface="Avenir Bold"/>
              </a:rPr>
              <a:t>{{MATERIAL_9_DESCRIPTION}}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{{MATERIAL_9_RISKS}}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{{MATERIAL_10}}</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{{MATERIAL_10_POTENTIAL}}</a:t>
            </a:r>
          </a:p>
          <a:p>
            <a:pPr algn="just">
              <a:lnSpc>
                <a:spcPts val="2169"/>
              </a:lnSpc>
            </a:pPr>
            <a:r>
              <a:rPr lang="en-US" b="true" sz="1549">
                <a:solidFill>
                  <a:srgbClr val="F7FBF8"/>
                </a:solidFill>
                <a:latin typeface="Avenir Bold"/>
                <a:ea typeface="Avenir Bold"/>
                <a:cs typeface="Avenir Bold"/>
                <a:sym typeface="Avenir Bold"/>
              </a:rPr>
              <a:t>{{MATERIAL_10_DESCRIPTION}}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{{MATERIAL_10_RISKS}}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{{MAT_9_PHOTOS}}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{{MAT_9_PHOTOS}}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{{MAT_10_PHOTOS}}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{{MAT_10_PHOTOS}}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{{MATERIAL_11}}</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{{MATERIAL_11_POTENTIAL}}</a:t>
            </a:r>
          </a:p>
          <a:p>
            <a:pPr algn="just">
              <a:lnSpc>
                <a:spcPts val="2169"/>
              </a:lnSpc>
            </a:pPr>
            <a:r>
              <a:rPr lang="en-US" b="true" sz="1549">
                <a:solidFill>
                  <a:srgbClr val="F7FBF8"/>
                </a:solidFill>
                <a:latin typeface="Avenir Bold"/>
                <a:ea typeface="Avenir Bold"/>
                <a:cs typeface="Avenir Bold"/>
                <a:sym typeface="Avenir Bold"/>
              </a:rPr>
              <a:t>{{MATERIAL_11_DESCRIPTION}}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{{MATERIAL_11_RISKS}}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{{MATERIAL_12}}</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{{MATERIAL_12_POTENTIAL}}</a:t>
            </a:r>
          </a:p>
          <a:p>
            <a:pPr algn="just">
              <a:lnSpc>
                <a:spcPts val="2169"/>
              </a:lnSpc>
            </a:pPr>
            <a:r>
              <a:rPr lang="en-US" b="true" sz="1549">
                <a:solidFill>
                  <a:srgbClr val="F7FBF8"/>
                </a:solidFill>
                <a:latin typeface="Avenir Bold"/>
                <a:ea typeface="Avenir Bold"/>
                <a:cs typeface="Avenir Bold"/>
                <a:sym typeface="Avenir Bold"/>
              </a:rPr>
              <a:t>{{MATERIAL_12_DESCRIPTION}}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{{MATERIAL_12_RISKS}}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{{MAT_11_PHOTOS}}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{{MAT_11_PHOTOS}}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{{MAT_12_PHOTOS}}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{{MAT_12_PHOTOS}}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{{MATERIAL_13}}</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{{MATERIAL_13_POTENTIAL}}</a:t>
            </a:r>
          </a:p>
          <a:p>
            <a:pPr algn="just">
              <a:lnSpc>
                <a:spcPts val="2169"/>
              </a:lnSpc>
            </a:pPr>
            <a:r>
              <a:rPr lang="en-US" b="true" sz="1549">
                <a:solidFill>
                  <a:srgbClr val="F7FBF8"/>
                </a:solidFill>
                <a:latin typeface="Avenir Bold"/>
                <a:ea typeface="Avenir Bold"/>
                <a:cs typeface="Avenir Bold"/>
                <a:sym typeface="Avenir Bold"/>
              </a:rPr>
              <a:t>{{MATERIAL_13_DESCRIPTION}}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{{MATERIAL_13_RISKS}}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{{MATERIAL_14}}</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{{MATERIAL_14_POTENTIAL}}</a:t>
            </a:r>
          </a:p>
          <a:p>
            <a:pPr algn="just">
              <a:lnSpc>
                <a:spcPts val="2169"/>
              </a:lnSpc>
            </a:pPr>
            <a:r>
              <a:rPr lang="en-US" b="true" sz="1549">
                <a:solidFill>
                  <a:srgbClr val="F7FBF8"/>
                </a:solidFill>
                <a:latin typeface="Avenir Bold"/>
                <a:ea typeface="Avenir Bold"/>
                <a:cs typeface="Avenir Bold"/>
                <a:sym typeface="Avenir Bold"/>
              </a:rPr>
              <a:t>{{MATERIAL_14_DESCRIPTION}}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{{MATERIAL_14_RISKS}}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{{MAT_13_PHOTOS}}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{{MAT_13_PHOTOS}}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{{MAT_14_PHOTOS}}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{{MAT_14_PHOTOS}}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{{MATERIAL_15}}</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{{MATERIAL_15_POTENTIAL}}</a:t>
            </a:r>
          </a:p>
          <a:p>
            <a:pPr algn="just">
              <a:lnSpc>
                <a:spcPts val="2169"/>
              </a:lnSpc>
            </a:pPr>
            <a:r>
              <a:rPr lang="en-US" b="true" sz="1549">
                <a:solidFill>
                  <a:srgbClr val="F7FBF8"/>
                </a:solidFill>
                <a:latin typeface="Avenir Bold"/>
                <a:ea typeface="Avenir Bold"/>
                <a:cs typeface="Avenir Bold"/>
                <a:sym typeface="Avenir Bold"/>
              </a:rPr>
              <a:t>{{MATERIAL_15_DESCRIPTION}}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{{MATERIAL_15_RISKS}}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{{MATERIAL_16}}</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{{MATERIAL_16_POTENTIAL}}</a:t>
            </a:r>
          </a:p>
          <a:p>
            <a:pPr algn="just">
              <a:lnSpc>
                <a:spcPts val="2169"/>
              </a:lnSpc>
            </a:pPr>
            <a:r>
              <a:rPr lang="en-US" b="true" sz="1549">
                <a:solidFill>
                  <a:srgbClr val="F7FBF8"/>
                </a:solidFill>
                <a:latin typeface="Avenir Bold"/>
                <a:ea typeface="Avenir Bold"/>
                <a:cs typeface="Avenir Bold"/>
                <a:sym typeface="Avenir Bold"/>
              </a:rPr>
              <a:t>{{MATERIAL_16_DESCRIPTION}}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{{MATERIAL_16_RISKS}}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{{MAT_15_PHOTOS}}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{{MAT_15_PHOTOS}}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{{MAT_16_PHOTOS}}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{{MAT_16_PHOTOS}}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{{MATERIAL_17}}</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{{MATERIAL_17_POTENTIAL}}</a:t>
            </a:r>
          </a:p>
          <a:p>
            <a:pPr algn="just">
              <a:lnSpc>
                <a:spcPts val="2169"/>
              </a:lnSpc>
            </a:pPr>
            <a:r>
              <a:rPr lang="en-US" b="true" sz="1549">
                <a:solidFill>
                  <a:srgbClr val="F7FBF8"/>
                </a:solidFill>
                <a:latin typeface="Avenir Bold"/>
                <a:ea typeface="Avenir Bold"/>
                <a:cs typeface="Avenir Bold"/>
                <a:sym typeface="Avenir Bold"/>
              </a:rPr>
              <a:t>{{MATERIAL_17_DESCRIPTION}}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{{MATERIAL_17_RISKS}}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{{MATERIAL_18}}</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{{MATERIAL_18_POTENTIAL}}</a:t>
            </a:r>
          </a:p>
          <a:p>
            <a:pPr algn="just">
              <a:lnSpc>
                <a:spcPts val="2169"/>
              </a:lnSpc>
            </a:pPr>
            <a:r>
              <a:rPr lang="en-US" b="true" sz="1549">
                <a:solidFill>
                  <a:srgbClr val="F7FBF8"/>
                </a:solidFill>
                <a:latin typeface="Avenir Bold"/>
                <a:ea typeface="Avenir Bold"/>
                <a:cs typeface="Avenir Bold"/>
                <a:sym typeface="Avenir Bold"/>
              </a:rPr>
              <a:t>{{MATERIAL_18_DESCRIPTION}}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{{MATERIAL_18_RISKS}}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{{MAT_17_PHOTOS}}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{{MAT_17_PHOTOS}}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{{MAT_18_PHOTOS}}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{{MAT_18_PHOTOS}}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{{MATERIAL_19}}</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{{MATERIAL_19_POTENTIAL}}</a:t>
            </a:r>
          </a:p>
          <a:p>
            <a:pPr algn="just">
              <a:lnSpc>
                <a:spcPts val="2169"/>
              </a:lnSpc>
            </a:pPr>
            <a:r>
              <a:rPr lang="en-US" b="true" sz="1549">
                <a:solidFill>
                  <a:srgbClr val="F7FBF8"/>
                </a:solidFill>
                <a:latin typeface="Avenir Bold"/>
                <a:ea typeface="Avenir Bold"/>
                <a:cs typeface="Avenir Bold"/>
                <a:sym typeface="Avenir Bold"/>
              </a:rPr>
              <a:t>{{MATERIAL_19_DESCRIPTION}}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{{MATERIAL_19_RISKS}}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{{MATERIAL_20}}</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{{MATERIAL_20_POTENTIAL}}</a:t>
            </a:r>
          </a:p>
          <a:p>
            <a:pPr algn="just">
              <a:lnSpc>
                <a:spcPts val="2169"/>
              </a:lnSpc>
            </a:pPr>
            <a:r>
              <a:rPr lang="en-US" b="true" sz="1549">
                <a:solidFill>
                  <a:srgbClr val="F7FBF8"/>
                </a:solidFill>
                <a:latin typeface="Avenir Bold"/>
                <a:ea typeface="Avenir Bold"/>
                <a:cs typeface="Avenir Bold"/>
                <a:sym typeface="Avenir Bold"/>
              </a:rPr>
              <a:t>{{MATERIAL_20_DESCRIPTION}}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{{MATERIAL_20_RISKS}}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{{MAT_19_PHOTOS}}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{{MAT_19_PHOTOS}}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{{MAT_20_PHOTOS}}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{{MAT_20_PHOTOS}}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{{MATERIAL_21}}</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{{MATERIAL_21_POTENTIAL}}</a:t>
            </a:r>
          </a:p>
          <a:p>
            <a:pPr algn="just">
              <a:lnSpc>
                <a:spcPts val="2169"/>
              </a:lnSpc>
            </a:pPr>
            <a:r>
              <a:rPr lang="en-US" b="true" sz="1549">
                <a:solidFill>
                  <a:srgbClr val="F7FBF8"/>
                </a:solidFill>
                <a:latin typeface="Avenir Bold"/>
                <a:ea typeface="Avenir Bold"/>
                <a:cs typeface="Avenir Bold"/>
                <a:sym typeface="Avenir Bold"/>
              </a:rPr>
              <a:t>{{MATERIAL_21_DESCRIPTION}}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{{MATERIAL_21_RISKS}}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{{MATERIAL_22}}</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{{MATERIAL_22_POTENTIAL}}</a:t>
            </a:r>
          </a:p>
          <a:p>
            <a:pPr algn="just">
              <a:lnSpc>
                <a:spcPts val="2169"/>
              </a:lnSpc>
            </a:pPr>
            <a:r>
              <a:rPr lang="en-US" b="true" sz="1549">
                <a:solidFill>
                  <a:srgbClr val="F7FBF8"/>
                </a:solidFill>
                <a:latin typeface="Avenir Bold"/>
                <a:ea typeface="Avenir Bold"/>
                <a:cs typeface="Avenir Bold"/>
                <a:sym typeface="Avenir Bold"/>
              </a:rPr>
              <a:t>{{MATERIAL_22_DESCRIPTION}}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{{MATERIAL_22_RISKS}}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{{MAT_21_PHOTOS}}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{{MAT_21_PHOTOS}}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{{MAT_22_PHOTOS}}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{{MAT_22_PHOTOS}}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{{MATERIAL_23}}</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{{MATERIAL_23_POTENTIAL}}</a:t>
            </a:r>
          </a:p>
          <a:p>
            <a:pPr algn="just">
              <a:lnSpc>
                <a:spcPts val="2169"/>
              </a:lnSpc>
            </a:pPr>
            <a:r>
              <a:rPr lang="en-US" b="true" sz="1549">
                <a:solidFill>
                  <a:srgbClr val="F7FBF8"/>
                </a:solidFill>
                <a:latin typeface="Avenir Bold"/>
                <a:ea typeface="Avenir Bold"/>
                <a:cs typeface="Avenir Bold"/>
                <a:sym typeface="Avenir Bold"/>
              </a:rPr>
              <a:t>{{MATERIAL_23_DESCRIPTION}}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{{MATERIAL_23_RISKS}}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{{MATERIAL_24}}</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{{MATERIAL_24_POTENTIAL}}</a:t>
            </a:r>
          </a:p>
          <a:p>
            <a:pPr algn="just">
              <a:lnSpc>
                <a:spcPts val="2169"/>
              </a:lnSpc>
            </a:pPr>
            <a:r>
              <a:rPr lang="en-US" b="true" sz="1549">
                <a:solidFill>
                  <a:srgbClr val="F7FBF8"/>
                </a:solidFill>
                <a:latin typeface="Avenir Bold"/>
                <a:ea typeface="Avenir Bold"/>
                <a:cs typeface="Avenir Bold"/>
                <a:sym typeface="Avenir Bold"/>
              </a:rPr>
              <a:t>{{MATERIAL_24_DESCRIPTION}}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{{MATERIAL_24_RISKS}}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{{MAT_23_PHOTOS}}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{{MAT_23_PHOTOS}}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{{MAT_24_PHOTOS}}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{{MAT_24_PHOTOS}}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{{MATERIAL_25}}</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{{MATERIAL_25_POTENTIAL}}</a:t>
            </a:r>
          </a:p>
          <a:p>
            <a:pPr algn="just">
              <a:lnSpc>
                <a:spcPts val="2169"/>
              </a:lnSpc>
            </a:pPr>
            <a:r>
              <a:rPr lang="en-US" b="true" sz="1549">
                <a:solidFill>
                  <a:srgbClr val="F7FBF8"/>
                </a:solidFill>
                <a:latin typeface="Avenir Bold"/>
                <a:ea typeface="Avenir Bold"/>
                <a:cs typeface="Avenir Bold"/>
                <a:sym typeface="Avenir Bold"/>
              </a:rPr>
              <a:t>{{MATERIAL_25_DESCRIPTION}}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{{MATERIAL_25_RISKS}}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{{MATERIAL_26}}</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{{MATERIAL_26_POTENTIAL}}</a:t>
            </a:r>
          </a:p>
          <a:p>
            <a:pPr algn="just">
              <a:lnSpc>
                <a:spcPts val="2169"/>
              </a:lnSpc>
            </a:pPr>
            <a:r>
              <a:rPr lang="en-US" b="true" sz="1549">
                <a:solidFill>
                  <a:srgbClr val="F7FBF8"/>
                </a:solidFill>
                <a:latin typeface="Avenir Bold"/>
                <a:ea typeface="Avenir Bold"/>
                <a:cs typeface="Avenir Bold"/>
                <a:sym typeface="Avenir Bold"/>
              </a:rPr>
              <a:t>{{MATERIAL_26_DESCRIPTION}}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{{MATERIAL_26_RISKS}}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{{MAT_25_PHOTOS}}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{{MAT_25_PHOTOS}}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{{MAT_26_PHOTOS}}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{{MAT_26_PHOTOS}}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{{MATERIAL_27}}</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{{MATERIAL_27_POTENTIAL}}</a:t>
            </a:r>
          </a:p>
          <a:p>
            <a:pPr algn="just">
              <a:lnSpc>
                <a:spcPts val="2169"/>
              </a:lnSpc>
            </a:pPr>
            <a:r>
              <a:rPr lang="en-US" b="true" sz="1549">
                <a:solidFill>
                  <a:srgbClr val="F7FBF8"/>
                </a:solidFill>
                <a:latin typeface="Avenir Bold"/>
                <a:ea typeface="Avenir Bold"/>
                <a:cs typeface="Avenir Bold"/>
                <a:sym typeface="Avenir Bold"/>
              </a:rPr>
              <a:t>{{MATERIAL_27_DESCRIPTION}}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{{MATERIAL_27_RISKS}}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{{MATERIAL_28}}</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{{MATERIAL_28_POTENTIAL}}</a:t>
            </a:r>
          </a:p>
          <a:p>
            <a:pPr algn="just">
              <a:lnSpc>
                <a:spcPts val="2169"/>
              </a:lnSpc>
            </a:pPr>
            <a:r>
              <a:rPr lang="en-US" b="true" sz="1549">
                <a:solidFill>
                  <a:srgbClr val="F7FBF8"/>
                </a:solidFill>
                <a:latin typeface="Avenir Bold"/>
                <a:ea typeface="Avenir Bold"/>
                <a:cs typeface="Avenir Bold"/>
                <a:sym typeface="Avenir Bold"/>
              </a:rPr>
              <a:t>{{MATERIAL_28_DESCRIPTION}}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{{MATERIAL_28_RISKS}}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{{MAT_27_PHOTOS}}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{{MAT_27_PHOTOS}}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{{MAT_28_PHOTOS}}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{{MAT_28_PHOTOS}}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97634"/>
          </a:xfrm>
          <a:custGeom>
            <a:avLst/>
            <a:gdLst/>
            <a:ahLst/>
            <a:cxnLst/>
            <a:rect r="r" b="b" t="t" l="l"/>
            <a:pathLst>
              <a:path h="10297634" w="18288000">
                <a:moveTo>
                  <a:pt x="0" y="0"/>
                </a:moveTo>
                <a:lnTo>
                  <a:pt x="18288000" y="0"/>
                </a:lnTo>
                <a:lnTo>
                  <a:pt x="18288000" y="10297634"/>
                </a:lnTo>
                <a:lnTo>
                  <a:pt x="0" y="10297634"/>
                </a:lnTo>
                <a:lnTo>
                  <a:pt x="0" y="0"/>
                </a:lnTo>
                <a:close/>
              </a:path>
            </a:pathLst>
          </a:custGeom>
          <a:blipFill>
            <a:blip r:embed="rId2"/>
            <a:stretch>
              <a:fillRect l="0" t="0" r="-1474" b="-1423"/>
            </a:stretch>
          </a:blipFill>
        </p:spPr>
      </p:sp>
      <p:grpSp>
        <p:nvGrpSpPr>
          <p:cNvPr name="Group 3" id="3"/>
          <p:cNvGrpSpPr/>
          <p:nvPr/>
        </p:nvGrpSpPr>
        <p:grpSpPr>
          <a:xfrm rot="0">
            <a:off x="0" y="10151046"/>
            <a:ext cx="4572000" cy="293176"/>
            <a:chOff x="0" y="0"/>
            <a:chExt cx="537441" cy="34463"/>
          </a:xfrm>
        </p:grpSpPr>
        <p:sp>
          <p:nvSpPr>
            <p:cNvPr name="Freeform 4" id="4"/>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 id="5"/>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 id="6"/>
          <p:cNvGrpSpPr/>
          <p:nvPr/>
        </p:nvGrpSpPr>
        <p:grpSpPr>
          <a:xfrm rot="0">
            <a:off x="4572000" y="10151046"/>
            <a:ext cx="4572000" cy="293176"/>
            <a:chOff x="0" y="0"/>
            <a:chExt cx="537441" cy="34463"/>
          </a:xfrm>
        </p:grpSpPr>
        <p:sp>
          <p:nvSpPr>
            <p:cNvPr name="Freeform 7" id="7"/>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8" id="8"/>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9" id="9"/>
          <p:cNvGrpSpPr/>
          <p:nvPr/>
        </p:nvGrpSpPr>
        <p:grpSpPr>
          <a:xfrm rot="0">
            <a:off x="9144000" y="10151046"/>
            <a:ext cx="4572000" cy="293176"/>
            <a:chOff x="0" y="0"/>
            <a:chExt cx="537441" cy="34463"/>
          </a:xfrm>
        </p:grpSpPr>
        <p:sp>
          <p:nvSpPr>
            <p:cNvPr name="Freeform 10" id="10"/>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1" id="11"/>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2" id="12"/>
          <p:cNvGrpSpPr/>
          <p:nvPr/>
        </p:nvGrpSpPr>
        <p:grpSpPr>
          <a:xfrm rot="0">
            <a:off x="13716000" y="10151046"/>
            <a:ext cx="4572000" cy="293176"/>
            <a:chOff x="0" y="0"/>
            <a:chExt cx="537441" cy="34463"/>
          </a:xfrm>
        </p:grpSpPr>
        <p:sp>
          <p:nvSpPr>
            <p:cNvPr name="Freeform 13" id="1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4" id="1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TextBox 15" id="15"/>
          <p:cNvSpPr txBox="true"/>
          <p:nvPr/>
        </p:nvSpPr>
        <p:spPr>
          <a:xfrm rot="0">
            <a:off x="2797097"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{{MATERIAL_29}}</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{{MATERIAL_29_POTENTIAL}}</a:t>
            </a:r>
          </a:p>
          <a:p>
            <a:pPr algn="just">
              <a:lnSpc>
                <a:spcPts val="2169"/>
              </a:lnSpc>
            </a:pPr>
            <a:r>
              <a:rPr lang="en-US" b="true" sz="1549">
                <a:solidFill>
                  <a:srgbClr val="F7FBF8"/>
                </a:solidFill>
                <a:latin typeface="Avenir Bold"/>
                <a:ea typeface="Avenir Bold"/>
                <a:cs typeface="Avenir Bold"/>
                <a:sym typeface="Avenir Bold"/>
              </a:rPr>
              <a:t>{{MATERIAL_29_DESCRIPTION}}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{{MATERIAL_29_RISKS}}</a:t>
            </a:r>
          </a:p>
          <a:p>
            <a:pPr algn="just">
              <a:lnSpc>
                <a:spcPts val="2169"/>
              </a:lnSpc>
            </a:pPr>
          </a:p>
          <a:p>
            <a:pPr algn="just">
              <a:lnSpc>
                <a:spcPts val="2169"/>
              </a:lnSpc>
            </a:pPr>
          </a:p>
        </p:txBody>
      </p:sp>
      <p:sp>
        <p:nvSpPr>
          <p:cNvPr name="TextBox 16" id="16"/>
          <p:cNvSpPr txBox="true"/>
          <p:nvPr/>
        </p:nvSpPr>
        <p:spPr>
          <a:xfrm rot="0">
            <a:off x="11696872" y="2266179"/>
            <a:ext cx="6105270" cy="3761105"/>
          </a:xfrm>
          <a:prstGeom prst="rect">
            <a:avLst/>
          </a:prstGeom>
        </p:spPr>
        <p:txBody>
          <a:bodyPr anchor="t" rtlCol="false" tIns="0" lIns="0" bIns="0" rIns="0">
            <a:spAutoFit/>
          </a:bodyPr>
          <a:lstStyle/>
          <a:p>
            <a:pPr algn="just">
              <a:lnSpc>
                <a:spcPts val="2169"/>
              </a:lnSpc>
            </a:pPr>
            <a:r>
              <a:rPr lang="en-US" b="true" sz="1549">
                <a:solidFill>
                  <a:srgbClr val="F7FBF8"/>
                </a:solidFill>
                <a:latin typeface="Avenir Bold"/>
                <a:ea typeface="Avenir Bold"/>
                <a:cs typeface="Avenir Bold"/>
                <a:sym typeface="Avenir Bold"/>
              </a:rPr>
              <a:t>{{MATERIAL_30}}</a:t>
            </a: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Reuse Potential: {{MATERIAL_30_POTENTIAL}}</a:t>
            </a:r>
          </a:p>
          <a:p>
            <a:pPr algn="just">
              <a:lnSpc>
                <a:spcPts val="2169"/>
              </a:lnSpc>
            </a:pPr>
            <a:r>
              <a:rPr lang="en-US" b="true" sz="1549">
                <a:solidFill>
                  <a:srgbClr val="F7FBF8"/>
                </a:solidFill>
                <a:latin typeface="Avenir Bold"/>
                <a:ea typeface="Avenir Bold"/>
                <a:cs typeface="Avenir Bold"/>
                <a:sym typeface="Avenir Bold"/>
              </a:rPr>
              <a:t>{{MATERIAL_30_DESCRIPTION}}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b="true" sz="1549">
                <a:solidFill>
                  <a:srgbClr val="F7FBF8"/>
                </a:solidFill>
                <a:latin typeface="Avenir Bold"/>
                <a:ea typeface="Avenir Bold"/>
                <a:cs typeface="Avenir Bold"/>
                <a:sym typeface="Avenir Bold"/>
              </a:rPr>
              <a:t>Risk Factors:</a:t>
            </a:r>
          </a:p>
          <a:p>
            <a:pPr algn="just">
              <a:lnSpc>
                <a:spcPts val="2169"/>
              </a:lnSpc>
            </a:pPr>
            <a:r>
              <a:rPr lang="en-US" b="true" sz="1549">
                <a:solidFill>
                  <a:srgbClr val="F7FBF8"/>
                </a:solidFill>
                <a:latin typeface="Avenir Bold"/>
                <a:ea typeface="Avenir Bold"/>
                <a:cs typeface="Avenir Bold"/>
                <a:sym typeface="Avenir Bold"/>
              </a:rPr>
              <a:t>{{MATERIAL_30_RISKS}}</a:t>
            </a:r>
          </a:p>
          <a:p>
            <a:pPr algn="just">
              <a:lnSpc>
                <a:spcPts val="2169"/>
              </a:lnSpc>
            </a:pPr>
          </a:p>
          <a:p>
            <a:pPr algn="just">
              <a:lnSpc>
                <a:spcPts val="2169"/>
              </a:lnSpc>
            </a:pPr>
          </a:p>
        </p:txBody>
      </p:sp>
      <p:sp>
        <p:nvSpPr>
          <p:cNvPr name="TextBox 17" id="17"/>
          <p:cNvSpPr txBox="true"/>
          <p:nvPr/>
        </p:nvSpPr>
        <p:spPr>
          <a:xfrm rot="0">
            <a:off x="613692" y="2133423"/>
            <a:ext cx="1941771" cy="3424778"/>
          </a:xfrm>
          <a:prstGeom prst="rect">
            <a:avLst/>
          </a:prstGeom>
        </p:spPr>
        <p:txBody>
          <a:bodyPr anchor="t" rtlCol="false" tIns="0" lIns="0" bIns="0" rIns="0">
            <a:spAutoFit/>
          </a:bodyPr>
          <a:lstStyle/>
          <a:p>
            <a:pPr algn="ctr">
              <a:lnSpc>
                <a:spcPts val="6738"/>
              </a:lnSpc>
              <a:spcBef>
                <a:spcPct val="0"/>
              </a:spcBef>
            </a:pPr>
            <a:r>
              <a:rPr lang="en-US" sz="4813">
                <a:solidFill>
                  <a:srgbClr val="F7FBF8"/>
                </a:solidFill>
                <a:latin typeface="Avenir"/>
                <a:ea typeface="Avenir"/>
                <a:cs typeface="Avenir"/>
                <a:sym typeface="Avenir"/>
              </a:rPr>
              <a:t>{{MAT_29_PHOTOS}}</a:t>
            </a:r>
          </a:p>
        </p:txBody>
      </p:sp>
      <p:sp>
        <p:nvSpPr>
          <p:cNvPr name="TextBox 18" id="18"/>
          <p:cNvSpPr txBox="true"/>
          <p:nvPr/>
        </p:nvSpPr>
        <p:spPr>
          <a:xfrm rot="0">
            <a:off x="543760" y="5836784"/>
            <a:ext cx="2011703" cy="3541258"/>
          </a:xfrm>
          <a:prstGeom prst="rect">
            <a:avLst/>
          </a:prstGeom>
        </p:spPr>
        <p:txBody>
          <a:bodyPr anchor="t" rtlCol="false" tIns="0" lIns="0" bIns="0" rIns="0">
            <a:spAutoFit/>
          </a:bodyPr>
          <a:lstStyle/>
          <a:p>
            <a:pPr algn="ctr">
              <a:lnSpc>
                <a:spcPts val="6981"/>
              </a:lnSpc>
              <a:spcBef>
                <a:spcPct val="0"/>
              </a:spcBef>
            </a:pPr>
            <a:r>
              <a:rPr lang="en-US" sz="4986">
                <a:solidFill>
                  <a:srgbClr val="F7FBF8"/>
                </a:solidFill>
                <a:latin typeface="Avenir"/>
                <a:ea typeface="Avenir"/>
                <a:cs typeface="Avenir"/>
                <a:sym typeface="Avenir"/>
              </a:rPr>
              <a:t>{{MAT_29_PHOTOS}}</a:t>
            </a:r>
          </a:p>
        </p:txBody>
      </p:sp>
      <p:sp>
        <p:nvSpPr>
          <p:cNvPr name="TextBox 19" id="19"/>
          <p:cNvSpPr txBox="true"/>
          <p:nvPr/>
        </p:nvSpPr>
        <p:spPr>
          <a:xfrm rot="0">
            <a:off x="9438602" y="2142354"/>
            <a:ext cx="2020144"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{{MAT_30_PHOTOS}}</a:t>
            </a:r>
          </a:p>
        </p:txBody>
      </p:sp>
      <p:sp>
        <p:nvSpPr>
          <p:cNvPr name="TextBox 20" id="20"/>
          <p:cNvSpPr txBox="true"/>
          <p:nvPr/>
        </p:nvSpPr>
        <p:spPr>
          <a:xfrm rot="0">
            <a:off x="9438602" y="5836784"/>
            <a:ext cx="1991398" cy="3459226"/>
          </a:xfrm>
          <a:prstGeom prst="rect">
            <a:avLst/>
          </a:prstGeom>
        </p:spPr>
        <p:txBody>
          <a:bodyPr anchor="t" rtlCol="false" tIns="0" lIns="0" bIns="0" rIns="0">
            <a:spAutoFit/>
          </a:bodyPr>
          <a:lstStyle/>
          <a:p>
            <a:pPr algn="ctr">
              <a:lnSpc>
                <a:spcPts val="6733"/>
              </a:lnSpc>
              <a:spcBef>
                <a:spcPct val="0"/>
              </a:spcBef>
            </a:pPr>
            <a:r>
              <a:rPr lang="en-US" sz="4809">
                <a:solidFill>
                  <a:srgbClr val="F7FBF8"/>
                </a:solidFill>
                <a:latin typeface="Avenir"/>
                <a:ea typeface="Avenir"/>
                <a:cs typeface="Avenir"/>
                <a:sym typeface="Avenir"/>
              </a:rPr>
              <a:t>{{MAT_30_PHOTOS}}</a:t>
            </a:r>
          </a:p>
        </p:txBody>
      </p:sp>
      <p:sp>
        <p:nvSpPr>
          <p:cNvPr name="AutoShape 21" id="21"/>
          <p:cNvSpPr/>
          <p:nvPr/>
        </p:nvSpPr>
        <p:spPr>
          <a:xfrm flipH="true">
            <a:off x="1549630" y="1830622"/>
            <a:ext cx="5115619" cy="9525"/>
          </a:xfrm>
          <a:prstGeom prst="line">
            <a:avLst/>
          </a:prstGeom>
          <a:ln cap="flat" w="19050">
            <a:solidFill>
              <a:srgbClr val="A3CF3E"/>
            </a:solidFill>
            <a:prstDash val="solid"/>
            <a:headEnd type="none" len="sm" w="sm"/>
            <a:tailEnd type="none" len="sm" w="sm"/>
          </a:ln>
        </p:spPr>
      </p:sp>
      <p:sp>
        <p:nvSpPr>
          <p:cNvPr name="TextBox 22" id="22"/>
          <p:cNvSpPr txBox="true"/>
          <p:nvPr/>
        </p:nvSpPr>
        <p:spPr>
          <a:xfrm rot="0">
            <a:off x="1549630" y="541916"/>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
        <p:nvSpPr>
          <p:cNvPr name="Freeform 23" id="23"/>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3"/>
            <a:stretch>
              <a:fillRect l="-3403" t="0" r="-284642" b="0"/>
            </a:stretch>
          </a:blipFill>
        </p:spPr>
      </p:sp>
      <p:sp>
        <p:nvSpPr>
          <p:cNvPr name="Freeform 24" id="24"/>
          <p:cNvSpPr/>
          <p:nvPr/>
        </p:nvSpPr>
        <p:spPr>
          <a:xfrm flipH="false" flipV="false" rot="0">
            <a:off x="543760" y="760991"/>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4"/>
            <a:stretch>
              <a:fillRect l="-8797" t="-66863" r="-261858" b="-81932"/>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146" y="0"/>
            <a:ext cx="18278283" cy="10619845"/>
          </a:xfrm>
          <a:custGeom>
            <a:avLst/>
            <a:gdLst/>
            <a:ahLst/>
            <a:cxnLst/>
            <a:rect r="r" b="b" t="t" l="l"/>
            <a:pathLst>
              <a:path h="10619845" w="18278283">
                <a:moveTo>
                  <a:pt x="0" y="0"/>
                </a:moveTo>
                <a:lnTo>
                  <a:pt x="18278283" y="0"/>
                </a:lnTo>
                <a:lnTo>
                  <a:pt x="18278283" y="10619845"/>
                </a:lnTo>
                <a:lnTo>
                  <a:pt x="0" y="10619845"/>
                </a:lnTo>
                <a:lnTo>
                  <a:pt x="0" y="0"/>
                </a:lnTo>
                <a:close/>
              </a:path>
            </a:pathLst>
          </a:custGeom>
          <a:blipFill>
            <a:blip r:embed="rId2"/>
            <a:stretch>
              <a:fillRect l="-1617" t="0" r="-1617" b="0"/>
            </a:stretch>
          </a:blipFill>
        </p:spPr>
      </p:sp>
      <p:sp>
        <p:nvSpPr>
          <p:cNvPr name="Freeform 3" id="3"/>
          <p:cNvSpPr/>
          <p:nvPr/>
        </p:nvSpPr>
        <p:spPr>
          <a:xfrm flipH="false" flipV="false" rot="0">
            <a:off x="478602" y="8173006"/>
            <a:ext cx="1680467" cy="1157707"/>
          </a:xfrm>
          <a:custGeom>
            <a:avLst/>
            <a:gdLst/>
            <a:ahLst/>
            <a:cxnLst/>
            <a:rect r="r" b="b" t="t" l="l"/>
            <a:pathLst>
              <a:path h="1157707" w="1680467">
                <a:moveTo>
                  <a:pt x="0" y="0"/>
                </a:moveTo>
                <a:lnTo>
                  <a:pt x="1680466" y="0"/>
                </a:lnTo>
                <a:lnTo>
                  <a:pt x="1680466" y="1157707"/>
                </a:lnTo>
                <a:lnTo>
                  <a:pt x="0" y="1157707"/>
                </a:lnTo>
                <a:lnTo>
                  <a:pt x="0" y="0"/>
                </a:lnTo>
                <a:close/>
              </a:path>
            </a:pathLst>
          </a:custGeom>
          <a:blipFill>
            <a:blip r:embed="rId3">
              <a:extLst>
                <a:ext uri="{96DAC541-7B7A-43D3-8B79-37D633B846F1}">
                  <asvg:svgBlip xmlns:asvg="http://schemas.microsoft.com/office/drawing/2016/SVG/main" r:embed="rId4"/>
                </a:ext>
              </a:extLst>
            </a:blip>
            <a:stretch>
              <a:fillRect l="0" t="-599" r="0" b="-599"/>
            </a:stretch>
          </a:blipFill>
        </p:spPr>
      </p:sp>
      <p:grpSp>
        <p:nvGrpSpPr>
          <p:cNvPr name="Group 4" id="4"/>
          <p:cNvGrpSpPr/>
          <p:nvPr/>
        </p:nvGrpSpPr>
        <p:grpSpPr>
          <a:xfrm rot="0">
            <a:off x="1008070" y="8373272"/>
            <a:ext cx="754365" cy="652430"/>
            <a:chOff x="0" y="0"/>
            <a:chExt cx="808279" cy="699059"/>
          </a:xfrm>
        </p:grpSpPr>
        <p:sp>
          <p:nvSpPr>
            <p:cNvPr name="Freeform 5" id="5"/>
            <p:cNvSpPr/>
            <p:nvPr/>
          </p:nvSpPr>
          <p:spPr>
            <a:xfrm flipH="false" flipV="false" rot="0">
              <a:off x="0" y="0"/>
              <a:ext cx="808228" cy="699008"/>
            </a:xfrm>
            <a:custGeom>
              <a:avLst/>
              <a:gdLst/>
              <a:ahLst/>
              <a:cxnLst/>
              <a:rect r="r" b="b" t="t" l="l"/>
              <a:pathLst>
                <a:path h="699008" w="808228">
                  <a:moveTo>
                    <a:pt x="0" y="0"/>
                  </a:moveTo>
                  <a:lnTo>
                    <a:pt x="808228" y="0"/>
                  </a:lnTo>
                  <a:lnTo>
                    <a:pt x="808228" y="699008"/>
                  </a:lnTo>
                  <a:lnTo>
                    <a:pt x="0" y="699008"/>
                  </a:lnTo>
                  <a:lnTo>
                    <a:pt x="0" y="0"/>
                  </a:lnTo>
                  <a:close/>
                </a:path>
              </a:pathLst>
            </a:custGeom>
            <a:blipFill>
              <a:blip r:embed="rId5"/>
              <a:stretch>
                <a:fillRect l="-675" t="0" r="-681" b="-7"/>
              </a:stretch>
            </a:blipFill>
          </p:spPr>
        </p:sp>
      </p:grpSp>
      <p:sp>
        <p:nvSpPr>
          <p:cNvPr name="Freeform 6" id="6"/>
          <p:cNvSpPr/>
          <p:nvPr/>
        </p:nvSpPr>
        <p:spPr>
          <a:xfrm flipH="false" flipV="false" rot="0">
            <a:off x="2299181" y="8197743"/>
            <a:ext cx="1680467" cy="1157707"/>
          </a:xfrm>
          <a:custGeom>
            <a:avLst/>
            <a:gdLst/>
            <a:ahLst/>
            <a:cxnLst/>
            <a:rect r="r" b="b" t="t" l="l"/>
            <a:pathLst>
              <a:path h="1157707" w="1680467">
                <a:moveTo>
                  <a:pt x="0" y="0"/>
                </a:moveTo>
                <a:lnTo>
                  <a:pt x="1680467" y="0"/>
                </a:lnTo>
                <a:lnTo>
                  <a:pt x="1680467" y="1157707"/>
                </a:lnTo>
                <a:lnTo>
                  <a:pt x="0" y="1157707"/>
                </a:lnTo>
                <a:lnTo>
                  <a:pt x="0" y="0"/>
                </a:lnTo>
                <a:close/>
              </a:path>
            </a:pathLst>
          </a:custGeom>
          <a:blipFill>
            <a:blip r:embed="rId3">
              <a:extLst>
                <a:ext uri="{96DAC541-7B7A-43D3-8B79-37D633B846F1}">
                  <asvg:svgBlip xmlns:asvg="http://schemas.microsoft.com/office/drawing/2016/SVG/main" r:embed="rId6"/>
                </a:ext>
              </a:extLst>
            </a:blip>
            <a:stretch>
              <a:fillRect l="0" t="-599" r="0" b="-599"/>
            </a:stretch>
          </a:blipFill>
        </p:spPr>
      </p:sp>
      <p:sp>
        <p:nvSpPr>
          <p:cNvPr name="Freeform 7" id="7"/>
          <p:cNvSpPr/>
          <p:nvPr/>
        </p:nvSpPr>
        <p:spPr>
          <a:xfrm flipH="false" flipV="false" rot="0">
            <a:off x="4114641" y="8197743"/>
            <a:ext cx="1680467" cy="1157707"/>
          </a:xfrm>
          <a:custGeom>
            <a:avLst/>
            <a:gdLst/>
            <a:ahLst/>
            <a:cxnLst/>
            <a:rect r="r" b="b" t="t" l="l"/>
            <a:pathLst>
              <a:path h="1157707" w="1680467">
                <a:moveTo>
                  <a:pt x="0" y="0"/>
                </a:moveTo>
                <a:lnTo>
                  <a:pt x="1680467" y="0"/>
                </a:lnTo>
                <a:lnTo>
                  <a:pt x="1680467" y="1157707"/>
                </a:lnTo>
                <a:lnTo>
                  <a:pt x="0" y="1157707"/>
                </a:lnTo>
                <a:lnTo>
                  <a:pt x="0" y="0"/>
                </a:lnTo>
                <a:close/>
              </a:path>
            </a:pathLst>
          </a:custGeom>
          <a:blipFill>
            <a:blip r:embed="rId3">
              <a:extLst>
                <a:ext uri="{96DAC541-7B7A-43D3-8B79-37D633B846F1}">
                  <asvg:svgBlip xmlns:asvg="http://schemas.microsoft.com/office/drawing/2016/SVG/main" r:embed="rId7"/>
                </a:ext>
              </a:extLst>
            </a:blip>
            <a:stretch>
              <a:fillRect l="0" t="-599" r="0" b="-599"/>
            </a:stretch>
          </a:blipFill>
        </p:spPr>
      </p:sp>
      <p:sp>
        <p:nvSpPr>
          <p:cNvPr name="Freeform 8" id="8"/>
          <p:cNvSpPr/>
          <p:nvPr/>
        </p:nvSpPr>
        <p:spPr>
          <a:xfrm flipH="false" flipV="false" rot="0">
            <a:off x="1129159" y="9162686"/>
            <a:ext cx="4044881" cy="823242"/>
          </a:xfrm>
          <a:custGeom>
            <a:avLst/>
            <a:gdLst/>
            <a:ahLst/>
            <a:cxnLst/>
            <a:rect r="r" b="b" t="t" l="l"/>
            <a:pathLst>
              <a:path h="823242" w="4044881">
                <a:moveTo>
                  <a:pt x="0" y="0"/>
                </a:moveTo>
                <a:lnTo>
                  <a:pt x="4044881" y="0"/>
                </a:lnTo>
                <a:lnTo>
                  <a:pt x="4044881" y="823243"/>
                </a:lnTo>
                <a:lnTo>
                  <a:pt x="0" y="823243"/>
                </a:lnTo>
                <a:lnTo>
                  <a:pt x="0" y="0"/>
                </a:lnTo>
                <a:close/>
              </a:path>
            </a:pathLst>
          </a:custGeom>
          <a:blipFill>
            <a:blip r:embed="rId8">
              <a:extLst>
                <a:ext uri="{96DAC541-7B7A-43D3-8B79-37D633B846F1}">
                  <asvg:svgBlip xmlns:asvg="http://schemas.microsoft.com/office/drawing/2016/SVG/main" r:embed="rId9"/>
                </a:ext>
              </a:extLst>
            </a:blip>
            <a:stretch>
              <a:fillRect l="0" t="-1000" r="0" b="-1002"/>
            </a:stretch>
          </a:blipFill>
        </p:spPr>
      </p:sp>
      <p:sp>
        <p:nvSpPr>
          <p:cNvPr name="Freeform 9" id="9"/>
          <p:cNvSpPr/>
          <p:nvPr/>
        </p:nvSpPr>
        <p:spPr>
          <a:xfrm flipH="false" flipV="false" rot="0">
            <a:off x="6516854" y="8061838"/>
            <a:ext cx="3769764" cy="1429553"/>
          </a:xfrm>
          <a:custGeom>
            <a:avLst/>
            <a:gdLst/>
            <a:ahLst/>
            <a:cxnLst/>
            <a:rect r="r" b="b" t="t" l="l"/>
            <a:pathLst>
              <a:path h="1429553" w="3769764">
                <a:moveTo>
                  <a:pt x="0" y="0"/>
                </a:moveTo>
                <a:lnTo>
                  <a:pt x="3769763" y="0"/>
                </a:lnTo>
                <a:lnTo>
                  <a:pt x="3769763" y="1429553"/>
                </a:lnTo>
                <a:lnTo>
                  <a:pt x="0" y="1429553"/>
                </a:lnTo>
                <a:lnTo>
                  <a:pt x="0" y="0"/>
                </a:lnTo>
                <a:close/>
              </a:path>
            </a:pathLst>
          </a:custGeom>
          <a:blipFill>
            <a:blip r:embed="rId10">
              <a:extLst>
                <a:ext uri="{96DAC541-7B7A-43D3-8B79-37D633B846F1}">
                  <asvg:svgBlip xmlns:asvg="http://schemas.microsoft.com/office/drawing/2016/SVG/main" r:embed="rId11"/>
                </a:ext>
              </a:extLst>
            </a:blip>
            <a:stretch>
              <a:fillRect l="0" t="-426" r="0" b="-425"/>
            </a:stretch>
          </a:blipFill>
        </p:spPr>
      </p:sp>
      <p:sp>
        <p:nvSpPr>
          <p:cNvPr name="Freeform 10" id="10"/>
          <p:cNvSpPr/>
          <p:nvPr/>
        </p:nvSpPr>
        <p:spPr>
          <a:xfrm flipH="false" flipV="false" rot="0">
            <a:off x="11012500" y="8197743"/>
            <a:ext cx="1680467" cy="1157707"/>
          </a:xfrm>
          <a:custGeom>
            <a:avLst/>
            <a:gdLst/>
            <a:ahLst/>
            <a:cxnLst/>
            <a:rect r="r" b="b" t="t" l="l"/>
            <a:pathLst>
              <a:path h="1157707" w="1680467">
                <a:moveTo>
                  <a:pt x="0" y="0"/>
                </a:moveTo>
                <a:lnTo>
                  <a:pt x="1680467" y="0"/>
                </a:lnTo>
                <a:lnTo>
                  <a:pt x="1680467" y="1157707"/>
                </a:lnTo>
                <a:lnTo>
                  <a:pt x="0" y="1157707"/>
                </a:lnTo>
                <a:lnTo>
                  <a:pt x="0" y="0"/>
                </a:lnTo>
                <a:close/>
              </a:path>
            </a:pathLst>
          </a:custGeom>
          <a:blipFill>
            <a:blip r:embed="rId3">
              <a:extLst>
                <a:ext uri="{96DAC541-7B7A-43D3-8B79-37D633B846F1}">
                  <asvg:svgBlip xmlns:asvg="http://schemas.microsoft.com/office/drawing/2016/SVG/main" r:embed="rId12"/>
                </a:ext>
              </a:extLst>
            </a:blip>
            <a:stretch>
              <a:fillRect l="0" t="-599" r="0" b="-599"/>
            </a:stretch>
          </a:blipFill>
        </p:spPr>
      </p:sp>
      <p:sp>
        <p:nvSpPr>
          <p:cNvPr name="Freeform 11" id="11"/>
          <p:cNvSpPr/>
          <p:nvPr/>
        </p:nvSpPr>
        <p:spPr>
          <a:xfrm flipH="false" flipV="false" rot="0">
            <a:off x="13648677" y="8186613"/>
            <a:ext cx="1680467" cy="1157707"/>
          </a:xfrm>
          <a:custGeom>
            <a:avLst/>
            <a:gdLst/>
            <a:ahLst/>
            <a:cxnLst/>
            <a:rect r="r" b="b" t="t" l="l"/>
            <a:pathLst>
              <a:path h="1157707" w="1680467">
                <a:moveTo>
                  <a:pt x="0" y="0"/>
                </a:moveTo>
                <a:lnTo>
                  <a:pt x="1680467" y="0"/>
                </a:lnTo>
                <a:lnTo>
                  <a:pt x="1680467" y="1157707"/>
                </a:lnTo>
                <a:lnTo>
                  <a:pt x="0" y="1157707"/>
                </a:lnTo>
                <a:lnTo>
                  <a:pt x="0" y="0"/>
                </a:lnTo>
                <a:close/>
              </a:path>
            </a:pathLst>
          </a:custGeom>
          <a:blipFill>
            <a:blip r:embed="rId3">
              <a:extLst>
                <a:ext uri="{96DAC541-7B7A-43D3-8B79-37D633B846F1}">
                  <asvg:svgBlip xmlns:asvg="http://schemas.microsoft.com/office/drawing/2016/SVG/main" r:embed="rId13"/>
                </a:ext>
              </a:extLst>
            </a:blip>
            <a:stretch>
              <a:fillRect l="0" t="-599" r="0" b="-599"/>
            </a:stretch>
          </a:blipFill>
        </p:spPr>
      </p:sp>
      <p:grpSp>
        <p:nvGrpSpPr>
          <p:cNvPr name="Group 12" id="12"/>
          <p:cNvGrpSpPr/>
          <p:nvPr/>
        </p:nvGrpSpPr>
        <p:grpSpPr>
          <a:xfrm rot="0">
            <a:off x="2845410" y="8422485"/>
            <a:ext cx="733978" cy="570871"/>
            <a:chOff x="0" y="0"/>
            <a:chExt cx="786435" cy="611670"/>
          </a:xfrm>
        </p:grpSpPr>
        <p:sp>
          <p:nvSpPr>
            <p:cNvPr name="Freeform 13" id="13"/>
            <p:cNvSpPr/>
            <p:nvPr/>
          </p:nvSpPr>
          <p:spPr>
            <a:xfrm flipH="false" flipV="false" rot="0">
              <a:off x="0" y="0"/>
              <a:ext cx="786384" cy="611632"/>
            </a:xfrm>
            <a:custGeom>
              <a:avLst/>
              <a:gdLst/>
              <a:ahLst/>
              <a:cxnLst/>
              <a:rect r="r" b="b" t="t" l="l"/>
              <a:pathLst>
                <a:path h="611632" w="786384">
                  <a:moveTo>
                    <a:pt x="0" y="0"/>
                  </a:moveTo>
                  <a:lnTo>
                    <a:pt x="786384" y="0"/>
                  </a:lnTo>
                  <a:lnTo>
                    <a:pt x="786384" y="611632"/>
                  </a:lnTo>
                  <a:lnTo>
                    <a:pt x="0" y="611632"/>
                  </a:lnTo>
                  <a:lnTo>
                    <a:pt x="0" y="0"/>
                  </a:lnTo>
                  <a:close/>
                </a:path>
              </a:pathLst>
            </a:custGeom>
            <a:blipFill>
              <a:blip r:embed="rId14"/>
              <a:stretch>
                <a:fillRect l="0" t="-1075" r="-6" b="-1083"/>
              </a:stretch>
            </a:blipFill>
          </p:spPr>
        </p:sp>
      </p:grpSp>
      <p:grpSp>
        <p:nvGrpSpPr>
          <p:cNvPr name="Group 14" id="14"/>
          <p:cNvGrpSpPr/>
          <p:nvPr/>
        </p:nvGrpSpPr>
        <p:grpSpPr>
          <a:xfrm rot="0">
            <a:off x="4707593" y="8422485"/>
            <a:ext cx="693204" cy="570871"/>
            <a:chOff x="0" y="0"/>
            <a:chExt cx="742747" cy="611670"/>
          </a:xfrm>
        </p:grpSpPr>
        <p:sp>
          <p:nvSpPr>
            <p:cNvPr name="Freeform 15" id="15"/>
            <p:cNvSpPr/>
            <p:nvPr/>
          </p:nvSpPr>
          <p:spPr>
            <a:xfrm flipH="false" flipV="false" rot="0">
              <a:off x="0" y="0"/>
              <a:ext cx="742696" cy="611632"/>
            </a:xfrm>
            <a:custGeom>
              <a:avLst/>
              <a:gdLst/>
              <a:ahLst/>
              <a:cxnLst/>
              <a:rect r="r" b="b" t="t" l="l"/>
              <a:pathLst>
                <a:path h="611632" w="742696">
                  <a:moveTo>
                    <a:pt x="0" y="0"/>
                  </a:moveTo>
                  <a:lnTo>
                    <a:pt x="742696" y="0"/>
                  </a:lnTo>
                  <a:lnTo>
                    <a:pt x="742696" y="611632"/>
                  </a:lnTo>
                  <a:lnTo>
                    <a:pt x="0" y="611632"/>
                  </a:lnTo>
                  <a:lnTo>
                    <a:pt x="0" y="0"/>
                  </a:lnTo>
                  <a:close/>
                </a:path>
              </a:pathLst>
            </a:custGeom>
            <a:blipFill>
              <a:blip r:embed="rId15"/>
              <a:stretch>
                <a:fillRect l="0" t="-2041" r="-6" b="-2047"/>
              </a:stretch>
            </a:blipFill>
          </p:spPr>
        </p:sp>
      </p:grpSp>
      <p:grpSp>
        <p:nvGrpSpPr>
          <p:cNvPr name="Group 16" id="16"/>
          <p:cNvGrpSpPr/>
          <p:nvPr/>
        </p:nvGrpSpPr>
        <p:grpSpPr>
          <a:xfrm rot="0">
            <a:off x="7174748" y="8433248"/>
            <a:ext cx="733978" cy="570871"/>
            <a:chOff x="0" y="0"/>
            <a:chExt cx="786435" cy="611670"/>
          </a:xfrm>
        </p:grpSpPr>
        <p:sp>
          <p:nvSpPr>
            <p:cNvPr name="Freeform 17" id="17"/>
            <p:cNvSpPr/>
            <p:nvPr/>
          </p:nvSpPr>
          <p:spPr>
            <a:xfrm flipH="false" flipV="false" rot="0">
              <a:off x="0" y="0"/>
              <a:ext cx="786384" cy="611632"/>
            </a:xfrm>
            <a:custGeom>
              <a:avLst/>
              <a:gdLst/>
              <a:ahLst/>
              <a:cxnLst/>
              <a:rect r="r" b="b" t="t" l="l"/>
              <a:pathLst>
                <a:path h="611632" w="786384">
                  <a:moveTo>
                    <a:pt x="0" y="0"/>
                  </a:moveTo>
                  <a:lnTo>
                    <a:pt x="786384" y="0"/>
                  </a:lnTo>
                  <a:lnTo>
                    <a:pt x="786384" y="611632"/>
                  </a:lnTo>
                  <a:lnTo>
                    <a:pt x="0" y="611632"/>
                  </a:lnTo>
                  <a:lnTo>
                    <a:pt x="0" y="0"/>
                  </a:lnTo>
                  <a:close/>
                </a:path>
              </a:pathLst>
            </a:custGeom>
            <a:blipFill>
              <a:blip r:embed="rId14"/>
              <a:stretch>
                <a:fillRect l="0" t="-1075" r="-6" b="-1083"/>
              </a:stretch>
            </a:blipFill>
          </p:spPr>
        </p:sp>
      </p:grpSp>
      <p:grpSp>
        <p:nvGrpSpPr>
          <p:cNvPr name="Group 18" id="18"/>
          <p:cNvGrpSpPr/>
          <p:nvPr/>
        </p:nvGrpSpPr>
        <p:grpSpPr>
          <a:xfrm rot="0">
            <a:off x="9060851" y="8477127"/>
            <a:ext cx="693204" cy="468936"/>
            <a:chOff x="0" y="0"/>
            <a:chExt cx="742747" cy="502450"/>
          </a:xfrm>
        </p:grpSpPr>
        <p:sp>
          <p:nvSpPr>
            <p:cNvPr name="Freeform 19" id="19"/>
            <p:cNvSpPr/>
            <p:nvPr/>
          </p:nvSpPr>
          <p:spPr>
            <a:xfrm flipH="false" flipV="false" rot="0">
              <a:off x="0" y="0"/>
              <a:ext cx="742696" cy="502412"/>
            </a:xfrm>
            <a:custGeom>
              <a:avLst/>
              <a:gdLst/>
              <a:ahLst/>
              <a:cxnLst/>
              <a:rect r="r" b="b" t="t" l="l"/>
              <a:pathLst>
                <a:path h="502412" w="742696">
                  <a:moveTo>
                    <a:pt x="0" y="0"/>
                  </a:moveTo>
                  <a:lnTo>
                    <a:pt x="742696" y="0"/>
                  </a:lnTo>
                  <a:lnTo>
                    <a:pt x="742696" y="502412"/>
                  </a:lnTo>
                  <a:lnTo>
                    <a:pt x="0" y="502412"/>
                  </a:lnTo>
                  <a:lnTo>
                    <a:pt x="0" y="0"/>
                  </a:lnTo>
                  <a:close/>
                </a:path>
              </a:pathLst>
            </a:custGeom>
            <a:blipFill>
              <a:blip r:embed="rId16"/>
              <a:stretch>
                <a:fillRect l="-376" t="0" r="-381" b="-7"/>
              </a:stretch>
            </a:blipFill>
          </p:spPr>
        </p:sp>
      </p:grpSp>
      <p:sp>
        <p:nvSpPr>
          <p:cNvPr name="Freeform 20" id="20"/>
          <p:cNvSpPr/>
          <p:nvPr/>
        </p:nvSpPr>
        <p:spPr>
          <a:xfrm flipH="false" flipV="false" rot="0">
            <a:off x="5680870" y="8622124"/>
            <a:ext cx="1164700" cy="385586"/>
          </a:xfrm>
          <a:custGeom>
            <a:avLst/>
            <a:gdLst/>
            <a:ahLst/>
            <a:cxnLst/>
            <a:rect r="r" b="b" t="t" l="l"/>
            <a:pathLst>
              <a:path h="385586" w="1164700">
                <a:moveTo>
                  <a:pt x="0" y="0"/>
                </a:moveTo>
                <a:lnTo>
                  <a:pt x="1164700" y="0"/>
                </a:lnTo>
                <a:lnTo>
                  <a:pt x="1164700" y="385586"/>
                </a:lnTo>
                <a:lnTo>
                  <a:pt x="0" y="385586"/>
                </a:lnTo>
                <a:lnTo>
                  <a:pt x="0" y="0"/>
                </a:lnTo>
                <a:close/>
              </a:path>
            </a:pathLst>
          </a:custGeom>
          <a:blipFill>
            <a:blip r:embed="rId17">
              <a:extLst>
                <a:ext uri="{96DAC541-7B7A-43D3-8B79-37D633B846F1}">
                  <asvg:svgBlip xmlns:asvg="http://schemas.microsoft.com/office/drawing/2016/SVG/main" r:embed="rId18"/>
                </a:ext>
              </a:extLst>
            </a:blip>
            <a:stretch>
              <a:fillRect l="0" t="-3393" r="0" b="-3396"/>
            </a:stretch>
          </a:blipFill>
        </p:spPr>
      </p:sp>
      <p:sp>
        <p:nvSpPr>
          <p:cNvPr name="Freeform 21" id="21"/>
          <p:cNvSpPr/>
          <p:nvPr/>
        </p:nvSpPr>
        <p:spPr>
          <a:xfrm flipH="false" flipV="false" rot="0">
            <a:off x="10032290" y="8583815"/>
            <a:ext cx="1164700" cy="385586"/>
          </a:xfrm>
          <a:custGeom>
            <a:avLst/>
            <a:gdLst/>
            <a:ahLst/>
            <a:cxnLst/>
            <a:rect r="r" b="b" t="t" l="l"/>
            <a:pathLst>
              <a:path h="385586" w="1164700">
                <a:moveTo>
                  <a:pt x="0" y="0"/>
                </a:moveTo>
                <a:lnTo>
                  <a:pt x="1164700" y="0"/>
                </a:lnTo>
                <a:lnTo>
                  <a:pt x="1164700" y="385586"/>
                </a:lnTo>
                <a:lnTo>
                  <a:pt x="0" y="385586"/>
                </a:lnTo>
                <a:lnTo>
                  <a:pt x="0" y="0"/>
                </a:lnTo>
                <a:close/>
              </a:path>
            </a:pathLst>
          </a:custGeom>
          <a:blipFill>
            <a:blip r:embed="rId17">
              <a:extLst>
                <a:ext uri="{96DAC541-7B7A-43D3-8B79-37D633B846F1}">
                  <asvg:svgBlip xmlns:asvg="http://schemas.microsoft.com/office/drawing/2016/SVG/main" r:embed="rId19"/>
                </a:ext>
              </a:extLst>
            </a:blip>
            <a:stretch>
              <a:fillRect l="0" t="-3393" r="0" b="-3396"/>
            </a:stretch>
          </a:blipFill>
        </p:spPr>
      </p:sp>
      <p:sp>
        <p:nvSpPr>
          <p:cNvPr name="Freeform 22" id="22"/>
          <p:cNvSpPr/>
          <p:nvPr/>
        </p:nvSpPr>
        <p:spPr>
          <a:xfrm flipH="false" flipV="false" rot="0">
            <a:off x="12556884" y="8553827"/>
            <a:ext cx="1284569" cy="385586"/>
          </a:xfrm>
          <a:custGeom>
            <a:avLst/>
            <a:gdLst/>
            <a:ahLst/>
            <a:cxnLst/>
            <a:rect r="r" b="b" t="t" l="l"/>
            <a:pathLst>
              <a:path h="385586" w="1284569">
                <a:moveTo>
                  <a:pt x="0" y="0"/>
                </a:moveTo>
                <a:lnTo>
                  <a:pt x="1284568" y="0"/>
                </a:lnTo>
                <a:lnTo>
                  <a:pt x="1284568" y="385587"/>
                </a:lnTo>
                <a:lnTo>
                  <a:pt x="0" y="385587"/>
                </a:lnTo>
                <a:lnTo>
                  <a:pt x="0" y="0"/>
                </a:lnTo>
                <a:close/>
              </a:path>
            </a:pathLst>
          </a:custGeom>
          <a:blipFill>
            <a:blip r:embed="rId20">
              <a:extLst>
                <a:ext uri="{96DAC541-7B7A-43D3-8B79-37D633B846F1}">
                  <asvg:svgBlip xmlns:asvg="http://schemas.microsoft.com/office/drawing/2016/SVG/main" r:embed="rId21"/>
                </a:ext>
              </a:extLst>
            </a:blip>
            <a:stretch>
              <a:fillRect l="0" t="-1958" r="0" b="-1958"/>
            </a:stretch>
          </a:blipFill>
        </p:spPr>
      </p:sp>
      <p:sp>
        <p:nvSpPr>
          <p:cNvPr name="Freeform 23" id="23"/>
          <p:cNvSpPr/>
          <p:nvPr/>
        </p:nvSpPr>
        <p:spPr>
          <a:xfrm flipH="false" flipV="false" rot="0">
            <a:off x="7310428" y="9151533"/>
            <a:ext cx="7371263" cy="928816"/>
          </a:xfrm>
          <a:custGeom>
            <a:avLst/>
            <a:gdLst/>
            <a:ahLst/>
            <a:cxnLst/>
            <a:rect r="r" b="b" t="t" l="l"/>
            <a:pathLst>
              <a:path h="928816" w="7371263">
                <a:moveTo>
                  <a:pt x="0" y="0"/>
                </a:moveTo>
                <a:lnTo>
                  <a:pt x="7371264" y="0"/>
                </a:lnTo>
                <a:lnTo>
                  <a:pt x="7371264" y="928816"/>
                </a:lnTo>
                <a:lnTo>
                  <a:pt x="0" y="928816"/>
                </a:lnTo>
                <a:lnTo>
                  <a:pt x="0" y="0"/>
                </a:lnTo>
                <a:close/>
              </a:path>
            </a:pathLst>
          </a:custGeom>
          <a:blipFill>
            <a:blip r:embed="rId22">
              <a:extLst>
                <a:ext uri="{96DAC541-7B7A-43D3-8B79-37D633B846F1}">
                  <asvg:svgBlip xmlns:asvg="http://schemas.microsoft.com/office/drawing/2016/SVG/main" r:embed="rId23"/>
                </a:ext>
              </a:extLst>
            </a:blip>
            <a:stretch>
              <a:fillRect l="0" t="-1674" r="0" b="-1674"/>
            </a:stretch>
          </a:blipFill>
        </p:spPr>
      </p:sp>
      <p:sp>
        <p:nvSpPr>
          <p:cNvPr name="Freeform 24" id="24"/>
          <p:cNvSpPr/>
          <p:nvPr/>
        </p:nvSpPr>
        <p:spPr>
          <a:xfrm flipH="false" flipV="false" rot="0">
            <a:off x="14205170" y="8408985"/>
            <a:ext cx="574154" cy="547355"/>
          </a:xfrm>
          <a:custGeom>
            <a:avLst/>
            <a:gdLst/>
            <a:ahLst/>
            <a:cxnLst/>
            <a:rect r="r" b="b" t="t" l="l"/>
            <a:pathLst>
              <a:path h="547355" w="574154">
                <a:moveTo>
                  <a:pt x="0" y="0"/>
                </a:moveTo>
                <a:lnTo>
                  <a:pt x="574154" y="0"/>
                </a:lnTo>
                <a:lnTo>
                  <a:pt x="574154" y="547354"/>
                </a:lnTo>
                <a:lnTo>
                  <a:pt x="0" y="547354"/>
                </a:lnTo>
                <a:lnTo>
                  <a:pt x="0" y="0"/>
                </a:lnTo>
                <a:close/>
              </a:path>
            </a:pathLst>
          </a:custGeom>
          <a:blipFill>
            <a:blip r:embed="rId24">
              <a:extLst>
                <a:ext uri="{96DAC541-7B7A-43D3-8B79-37D633B846F1}">
                  <asvg:svgBlip xmlns:asvg="http://schemas.microsoft.com/office/drawing/2016/SVG/main" r:embed="rId25"/>
                </a:ext>
              </a:extLst>
            </a:blip>
            <a:stretch>
              <a:fillRect l="-106180" t="0" r="-106182" b="0"/>
            </a:stretch>
          </a:blipFill>
        </p:spPr>
      </p:sp>
      <p:sp>
        <p:nvSpPr>
          <p:cNvPr name="Freeform 25" id="25"/>
          <p:cNvSpPr/>
          <p:nvPr/>
        </p:nvSpPr>
        <p:spPr>
          <a:xfrm flipH="false" flipV="false" rot="0">
            <a:off x="11604990" y="8330128"/>
            <a:ext cx="585106" cy="584371"/>
          </a:xfrm>
          <a:custGeom>
            <a:avLst/>
            <a:gdLst/>
            <a:ahLst/>
            <a:cxnLst/>
            <a:rect r="r" b="b" t="t" l="l"/>
            <a:pathLst>
              <a:path h="584371" w="585106">
                <a:moveTo>
                  <a:pt x="0" y="0"/>
                </a:moveTo>
                <a:lnTo>
                  <a:pt x="585106" y="0"/>
                </a:lnTo>
                <a:lnTo>
                  <a:pt x="585106" y="584371"/>
                </a:lnTo>
                <a:lnTo>
                  <a:pt x="0" y="584371"/>
                </a:lnTo>
                <a:lnTo>
                  <a:pt x="0" y="0"/>
                </a:lnTo>
                <a:close/>
              </a:path>
            </a:pathLst>
          </a:custGeom>
          <a:blipFill>
            <a:blip r:embed="rId26">
              <a:extLst>
                <a:ext uri="{96DAC541-7B7A-43D3-8B79-37D633B846F1}">
                  <asvg:svgBlip xmlns:asvg="http://schemas.microsoft.com/office/drawing/2016/SVG/main" r:embed="rId27"/>
                </a:ext>
              </a:extLst>
            </a:blip>
            <a:stretch>
              <a:fillRect l="0" t="-62" r="0" b="-62"/>
            </a:stretch>
          </a:blipFill>
        </p:spPr>
      </p:sp>
      <p:sp>
        <p:nvSpPr>
          <p:cNvPr name="AutoShape 26" id="26"/>
          <p:cNvSpPr/>
          <p:nvPr/>
        </p:nvSpPr>
        <p:spPr>
          <a:xfrm flipH="true">
            <a:off x="1817051" y="1542879"/>
            <a:ext cx="5115619" cy="9525"/>
          </a:xfrm>
          <a:prstGeom prst="line">
            <a:avLst/>
          </a:prstGeom>
          <a:ln cap="flat" w="19050">
            <a:solidFill>
              <a:srgbClr val="A3CF3E"/>
            </a:solidFill>
            <a:prstDash val="solid"/>
            <a:headEnd type="none" len="sm" w="sm"/>
            <a:tailEnd type="none" len="sm" w="sm"/>
          </a:ln>
        </p:spPr>
      </p:sp>
      <p:sp>
        <p:nvSpPr>
          <p:cNvPr name="Freeform 27" id="27"/>
          <p:cNvSpPr/>
          <p:nvPr/>
        </p:nvSpPr>
        <p:spPr>
          <a:xfrm flipH="false" flipV="false" rot="0">
            <a:off x="17259300" y="246818"/>
            <a:ext cx="805967" cy="781882"/>
          </a:xfrm>
          <a:custGeom>
            <a:avLst/>
            <a:gdLst/>
            <a:ahLst/>
            <a:cxnLst/>
            <a:rect r="r" b="b" t="t" l="l"/>
            <a:pathLst>
              <a:path h="781882" w="805967">
                <a:moveTo>
                  <a:pt x="0" y="0"/>
                </a:moveTo>
                <a:lnTo>
                  <a:pt x="805967" y="0"/>
                </a:lnTo>
                <a:lnTo>
                  <a:pt x="805967" y="781882"/>
                </a:lnTo>
                <a:lnTo>
                  <a:pt x="0" y="781882"/>
                </a:lnTo>
                <a:lnTo>
                  <a:pt x="0" y="0"/>
                </a:lnTo>
                <a:close/>
              </a:path>
            </a:pathLst>
          </a:custGeom>
          <a:blipFill>
            <a:blip r:embed="rId28"/>
            <a:stretch>
              <a:fillRect l="-3403" t="0" r="-284642" b="0"/>
            </a:stretch>
          </a:blipFill>
        </p:spPr>
      </p:sp>
      <p:sp>
        <p:nvSpPr>
          <p:cNvPr name="Freeform 28" id="28"/>
          <p:cNvSpPr/>
          <p:nvPr/>
        </p:nvSpPr>
        <p:spPr>
          <a:xfrm flipH="false" flipV="false" rot="0">
            <a:off x="848430" y="473247"/>
            <a:ext cx="774271" cy="769004"/>
          </a:xfrm>
          <a:custGeom>
            <a:avLst/>
            <a:gdLst/>
            <a:ahLst/>
            <a:cxnLst/>
            <a:rect r="r" b="b" t="t" l="l"/>
            <a:pathLst>
              <a:path h="769004" w="774271">
                <a:moveTo>
                  <a:pt x="0" y="0"/>
                </a:moveTo>
                <a:lnTo>
                  <a:pt x="774271" y="0"/>
                </a:lnTo>
                <a:lnTo>
                  <a:pt x="774271" y="769003"/>
                </a:lnTo>
                <a:lnTo>
                  <a:pt x="0" y="769003"/>
                </a:lnTo>
                <a:lnTo>
                  <a:pt x="0" y="0"/>
                </a:lnTo>
                <a:close/>
              </a:path>
            </a:pathLst>
          </a:custGeom>
          <a:blipFill>
            <a:blip r:embed="rId29"/>
            <a:stretch>
              <a:fillRect l="-8797" t="-66863" r="-261858" b="-81932"/>
            </a:stretch>
          </a:blipFill>
        </p:spPr>
      </p:sp>
      <p:sp>
        <p:nvSpPr>
          <p:cNvPr name="TextBox 29" id="29"/>
          <p:cNvSpPr txBox="true"/>
          <p:nvPr/>
        </p:nvSpPr>
        <p:spPr>
          <a:xfrm rot="0">
            <a:off x="1028700" y="1923879"/>
            <a:ext cx="7510672" cy="4056469"/>
          </a:xfrm>
          <a:prstGeom prst="rect">
            <a:avLst/>
          </a:prstGeom>
        </p:spPr>
        <p:txBody>
          <a:bodyPr anchor="t" rtlCol="false" tIns="0" lIns="0" bIns="0" rIns="0">
            <a:spAutoFit/>
          </a:bodyPr>
          <a:lstStyle/>
          <a:p>
            <a:pPr algn="just">
              <a:lnSpc>
                <a:spcPts val="2163"/>
              </a:lnSpc>
            </a:pPr>
            <a:r>
              <a:rPr lang="en-US" sz="1546" spc="23">
                <a:solidFill>
                  <a:srgbClr val="FFFFFF"/>
                </a:solidFill>
                <a:latin typeface=" Avenir Next Arabic Light"/>
                <a:ea typeface=" Avenir Next Arabic Light"/>
                <a:cs typeface=" Avenir Next Arabic Light"/>
                <a:sym typeface=" Avenir Next Arabic Light"/>
              </a:rPr>
              <a:t>Material Reuse is at the forefront of sustainable construction practices, committed to maximising resource efficiency and minimising environmental impact. </a:t>
            </a:r>
          </a:p>
          <a:p>
            <a:pPr algn="just">
              <a:lnSpc>
                <a:spcPts val="2163"/>
              </a:lnSpc>
            </a:pPr>
          </a:p>
          <a:p>
            <a:pPr algn="just">
              <a:lnSpc>
                <a:spcPts val="2163"/>
              </a:lnSpc>
            </a:pPr>
            <a:r>
              <a:rPr lang="en-US" sz="1546" spc="23">
                <a:solidFill>
                  <a:srgbClr val="FFFFFF"/>
                </a:solidFill>
                <a:latin typeface=" Avenir Next Arabic Light"/>
                <a:ea typeface=" Avenir Next Arabic Light"/>
                <a:cs typeface=" Avenir Next Arabic Light"/>
                <a:sym typeface=" Avenir Next Arabic Light"/>
              </a:rPr>
              <a:t>Our core mission revolves around the meticulous reuse of materials on projects undertaken by our approved contractor, ensuring that the maximum carbon emissions are saved in the process. With a wide network of charities, organisations, and companies in need of materials, we facilitate the repurposing of construction materials, diverting them from landfills and extending their lifespan.</a:t>
            </a:r>
          </a:p>
          <a:p>
            <a:pPr algn="just">
              <a:lnSpc>
                <a:spcPts val="2163"/>
              </a:lnSpc>
            </a:pPr>
          </a:p>
          <a:p>
            <a:pPr algn="just">
              <a:lnSpc>
                <a:spcPts val="2163"/>
              </a:lnSpc>
            </a:pPr>
            <a:r>
              <a:rPr lang="en-US" sz="1546" spc="23">
                <a:solidFill>
                  <a:srgbClr val="FFFFFF"/>
                </a:solidFill>
                <a:latin typeface=" Avenir Next Arabic Light"/>
                <a:ea typeface=" Avenir Next Arabic Light"/>
                <a:cs typeface=" Avenir Next Arabic Light"/>
                <a:sym typeface=" Avenir Next Arabic Light"/>
              </a:rPr>
              <a:t>Our dedicated on-site team is highly skilled in the careful dismantling and packaging of materials, ensuring that they remain reusable and suitable for secondary applications. Furthermore, our logistics team coordinates the transportation of these materials to sustainable destinations, further enhancing their environmental credentials. </a:t>
            </a:r>
          </a:p>
          <a:p>
            <a:pPr algn="just">
              <a:lnSpc>
                <a:spcPts val="2163"/>
              </a:lnSpc>
            </a:pPr>
          </a:p>
        </p:txBody>
      </p:sp>
      <p:sp>
        <p:nvSpPr>
          <p:cNvPr name="TextBox 30" id="30"/>
          <p:cNvSpPr txBox="true"/>
          <p:nvPr/>
        </p:nvSpPr>
        <p:spPr>
          <a:xfrm rot="0">
            <a:off x="717449" y="8988193"/>
            <a:ext cx="1193906"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Raw material extraction</a:t>
            </a:r>
          </a:p>
        </p:txBody>
      </p:sp>
      <p:sp>
        <p:nvSpPr>
          <p:cNvPr name="TextBox 31" id="31"/>
          <p:cNvSpPr txBox="true"/>
          <p:nvPr/>
        </p:nvSpPr>
        <p:spPr>
          <a:xfrm rot="0">
            <a:off x="2576563" y="9378802"/>
            <a:ext cx="1403086" cy="212650"/>
          </a:xfrm>
          <a:prstGeom prst="rect">
            <a:avLst/>
          </a:prstGeom>
        </p:spPr>
        <p:txBody>
          <a:bodyPr anchor="t" rtlCol="false" tIns="0" lIns="0" bIns="0" rIns="0">
            <a:spAutoFit/>
          </a:bodyPr>
          <a:lstStyle/>
          <a:p>
            <a:pPr algn="l">
              <a:lnSpc>
                <a:spcPts val="1493"/>
              </a:lnSpc>
            </a:pPr>
            <a:r>
              <a:rPr lang="en-US" b="true" sz="1066" spc="11">
                <a:solidFill>
                  <a:srgbClr val="FFFFFF"/>
                </a:solidFill>
                <a:latin typeface="IBM Plex Sans Bold"/>
                <a:ea typeface="IBM Plex Sans Bold"/>
                <a:cs typeface="IBM Plex Sans Bold"/>
                <a:sym typeface="IBM Plex Sans Bold"/>
              </a:rPr>
              <a:t>“Cradle to Gate”</a:t>
            </a:r>
          </a:p>
        </p:txBody>
      </p:sp>
      <p:sp>
        <p:nvSpPr>
          <p:cNvPr name="TextBox 32" id="32"/>
          <p:cNvSpPr txBox="true"/>
          <p:nvPr/>
        </p:nvSpPr>
        <p:spPr>
          <a:xfrm rot="0">
            <a:off x="2470479" y="9012942"/>
            <a:ext cx="1336721"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Transport to manufacturer</a:t>
            </a:r>
          </a:p>
        </p:txBody>
      </p:sp>
      <p:sp>
        <p:nvSpPr>
          <p:cNvPr name="TextBox 33" id="33"/>
          <p:cNvSpPr txBox="true"/>
          <p:nvPr/>
        </p:nvSpPr>
        <p:spPr>
          <a:xfrm rot="0">
            <a:off x="4614133" y="9012942"/>
            <a:ext cx="733658"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Manufacturing</a:t>
            </a:r>
          </a:p>
        </p:txBody>
      </p:sp>
      <p:sp>
        <p:nvSpPr>
          <p:cNvPr name="TextBox 34" id="34"/>
          <p:cNvSpPr txBox="true"/>
          <p:nvPr/>
        </p:nvSpPr>
        <p:spPr>
          <a:xfrm rot="0">
            <a:off x="4837430" y="7961697"/>
            <a:ext cx="861160"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8.86kg CO2/m2</a:t>
            </a:r>
          </a:p>
        </p:txBody>
      </p:sp>
      <p:sp>
        <p:nvSpPr>
          <p:cNvPr name="TextBox 35" id="35"/>
          <p:cNvSpPr txBox="true"/>
          <p:nvPr/>
        </p:nvSpPr>
        <p:spPr>
          <a:xfrm rot="0">
            <a:off x="6713541" y="7961697"/>
            <a:ext cx="695077"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Construction </a:t>
            </a:r>
          </a:p>
        </p:txBody>
      </p:sp>
      <p:sp>
        <p:nvSpPr>
          <p:cNvPr name="TextBox 36" id="36"/>
          <p:cNvSpPr txBox="true"/>
          <p:nvPr/>
        </p:nvSpPr>
        <p:spPr>
          <a:xfrm rot="0">
            <a:off x="7059740" y="9012942"/>
            <a:ext cx="835735"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Transport to site</a:t>
            </a:r>
          </a:p>
        </p:txBody>
      </p:sp>
      <p:sp>
        <p:nvSpPr>
          <p:cNvPr name="TextBox 37" id="37"/>
          <p:cNvSpPr txBox="true"/>
          <p:nvPr/>
        </p:nvSpPr>
        <p:spPr>
          <a:xfrm rot="0">
            <a:off x="8972464" y="9012942"/>
            <a:ext cx="529409"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Installation</a:t>
            </a:r>
          </a:p>
        </p:txBody>
      </p:sp>
      <p:sp>
        <p:nvSpPr>
          <p:cNvPr name="TextBox 38" id="38"/>
          <p:cNvSpPr txBox="true"/>
          <p:nvPr/>
        </p:nvSpPr>
        <p:spPr>
          <a:xfrm rot="0">
            <a:off x="9122996" y="7930631"/>
            <a:ext cx="861160"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1.02kg CO2/m2</a:t>
            </a:r>
          </a:p>
        </p:txBody>
      </p:sp>
      <p:sp>
        <p:nvSpPr>
          <p:cNvPr name="TextBox 39" id="39"/>
          <p:cNvSpPr txBox="true"/>
          <p:nvPr/>
        </p:nvSpPr>
        <p:spPr>
          <a:xfrm rot="0">
            <a:off x="11215433" y="7976395"/>
            <a:ext cx="208374"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Use</a:t>
            </a:r>
          </a:p>
        </p:txBody>
      </p:sp>
      <p:sp>
        <p:nvSpPr>
          <p:cNvPr name="TextBox 40" id="40"/>
          <p:cNvSpPr txBox="true"/>
          <p:nvPr/>
        </p:nvSpPr>
        <p:spPr>
          <a:xfrm rot="0">
            <a:off x="11580099" y="8993586"/>
            <a:ext cx="664378"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Maintanance</a:t>
            </a:r>
          </a:p>
        </p:txBody>
      </p:sp>
      <p:sp>
        <p:nvSpPr>
          <p:cNvPr name="TextBox 41" id="41"/>
          <p:cNvSpPr txBox="true"/>
          <p:nvPr/>
        </p:nvSpPr>
        <p:spPr>
          <a:xfrm rot="0">
            <a:off x="11852727" y="7976395"/>
            <a:ext cx="861160"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3.56kg CO2/m2</a:t>
            </a:r>
          </a:p>
        </p:txBody>
      </p:sp>
      <p:sp>
        <p:nvSpPr>
          <p:cNvPr name="TextBox 42" id="42"/>
          <p:cNvSpPr txBox="true"/>
          <p:nvPr/>
        </p:nvSpPr>
        <p:spPr>
          <a:xfrm rot="0">
            <a:off x="13798415" y="7950567"/>
            <a:ext cx="203763"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End</a:t>
            </a:r>
          </a:p>
        </p:txBody>
      </p:sp>
      <p:sp>
        <p:nvSpPr>
          <p:cNvPr name="TextBox 43" id="43"/>
          <p:cNvSpPr txBox="true"/>
          <p:nvPr/>
        </p:nvSpPr>
        <p:spPr>
          <a:xfrm rot="0">
            <a:off x="14109209" y="8977727"/>
            <a:ext cx="766076"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Material Reuse</a:t>
            </a:r>
          </a:p>
        </p:txBody>
      </p:sp>
      <p:sp>
        <p:nvSpPr>
          <p:cNvPr name="TextBox 44" id="44"/>
          <p:cNvSpPr txBox="true"/>
          <p:nvPr/>
        </p:nvSpPr>
        <p:spPr>
          <a:xfrm rot="0">
            <a:off x="14436420" y="7950567"/>
            <a:ext cx="905015" cy="169089"/>
          </a:xfrm>
          <a:prstGeom prst="rect">
            <a:avLst/>
          </a:prstGeom>
        </p:spPr>
        <p:txBody>
          <a:bodyPr anchor="t" rtlCol="false" tIns="0" lIns="0" bIns="0" rIns="0">
            <a:spAutoFit/>
          </a:bodyPr>
          <a:lstStyle/>
          <a:p>
            <a:pPr algn="l">
              <a:lnSpc>
                <a:spcPts val="1372"/>
              </a:lnSpc>
            </a:pPr>
            <a:r>
              <a:rPr lang="en-US" sz="980" spc="13">
                <a:solidFill>
                  <a:srgbClr val="FFFFFF"/>
                </a:solidFill>
                <a:latin typeface="IBM Plex Sans Condensed"/>
                <a:ea typeface="IBM Plex Sans Condensed"/>
                <a:cs typeface="IBM Plex Sans Condensed"/>
                <a:sym typeface="IBM Plex Sans Condensed"/>
              </a:rPr>
              <a:t>-7.70kg CO2/m2</a:t>
            </a:r>
          </a:p>
        </p:txBody>
      </p:sp>
      <p:sp>
        <p:nvSpPr>
          <p:cNvPr name="TextBox 45" id="45"/>
          <p:cNvSpPr txBox="true"/>
          <p:nvPr/>
        </p:nvSpPr>
        <p:spPr>
          <a:xfrm rot="0">
            <a:off x="2538029" y="8367834"/>
            <a:ext cx="206774" cy="265609"/>
          </a:xfrm>
          <a:prstGeom prst="rect">
            <a:avLst/>
          </a:prstGeom>
        </p:spPr>
        <p:txBody>
          <a:bodyPr anchor="t" rtlCol="false" tIns="0" lIns="0" bIns="0" rIns="0">
            <a:spAutoFit/>
          </a:bodyPr>
          <a:lstStyle/>
          <a:p>
            <a:pPr algn="l">
              <a:lnSpc>
                <a:spcPts val="1983"/>
              </a:lnSpc>
            </a:pPr>
            <a:r>
              <a:rPr lang="en-US" sz="1416" spc="21">
                <a:solidFill>
                  <a:srgbClr val="FFFFFF"/>
                </a:solidFill>
                <a:latin typeface="IBM Plex Sans Condensed"/>
                <a:ea typeface="IBM Plex Sans Condensed"/>
                <a:cs typeface="IBM Plex Sans Condensed"/>
                <a:sym typeface="IBM Plex Sans Condensed"/>
              </a:rPr>
              <a:t>A2</a:t>
            </a:r>
          </a:p>
        </p:txBody>
      </p:sp>
      <p:sp>
        <p:nvSpPr>
          <p:cNvPr name="TextBox 46" id="46"/>
          <p:cNvSpPr txBox="true"/>
          <p:nvPr/>
        </p:nvSpPr>
        <p:spPr>
          <a:xfrm rot="0">
            <a:off x="4353512" y="8367834"/>
            <a:ext cx="206774" cy="265609"/>
          </a:xfrm>
          <a:prstGeom prst="rect">
            <a:avLst/>
          </a:prstGeom>
        </p:spPr>
        <p:txBody>
          <a:bodyPr anchor="t" rtlCol="false" tIns="0" lIns="0" bIns="0" rIns="0">
            <a:spAutoFit/>
          </a:bodyPr>
          <a:lstStyle/>
          <a:p>
            <a:pPr algn="l">
              <a:lnSpc>
                <a:spcPts val="1983"/>
              </a:lnSpc>
            </a:pPr>
            <a:r>
              <a:rPr lang="en-US" sz="1416" spc="21">
                <a:solidFill>
                  <a:srgbClr val="FFFFFF"/>
                </a:solidFill>
                <a:latin typeface="IBM Plex Sans Condensed"/>
                <a:ea typeface="IBM Plex Sans Condensed"/>
                <a:cs typeface="IBM Plex Sans Condensed"/>
                <a:sym typeface="IBM Plex Sans Condensed"/>
              </a:rPr>
              <a:t>A3</a:t>
            </a:r>
          </a:p>
        </p:txBody>
      </p:sp>
      <p:sp>
        <p:nvSpPr>
          <p:cNvPr name="TextBox 47" id="47"/>
          <p:cNvSpPr txBox="true"/>
          <p:nvPr/>
        </p:nvSpPr>
        <p:spPr>
          <a:xfrm rot="0">
            <a:off x="6891630" y="8367834"/>
            <a:ext cx="206774" cy="265609"/>
          </a:xfrm>
          <a:prstGeom prst="rect">
            <a:avLst/>
          </a:prstGeom>
        </p:spPr>
        <p:txBody>
          <a:bodyPr anchor="t" rtlCol="false" tIns="0" lIns="0" bIns="0" rIns="0">
            <a:spAutoFit/>
          </a:bodyPr>
          <a:lstStyle/>
          <a:p>
            <a:pPr algn="l">
              <a:lnSpc>
                <a:spcPts val="1983"/>
              </a:lnSpc>
            </a:pPr>
            <a:r>
              <a:rPr lang="en-US" sz="1416" spc="21">
                <a:solidFill>
                  <a:srgbClr val="FFFFFF"/>
                </a:solidFill>
                <a:latin typeface="IBM Plex Sans Condensed"/>
                <a:ea typeface="IBM Plex Sans Condensed"/>
                <a:cs typeface="IBM Plex Sans Condensed"/>
                <a:sym typeface="IBM Plex Sans Condensed"/>
              </a:rPr>
              <a:t>A4</a:t>
            </a:r>
          </a:p>
        </p:txBody>
      </p:sp>
      <p:sp>
        <p:nvSpPr>
          <p:cNvPr name="TextBox 48" id="48"/>
          <p:cNvSpPr txBox="true"/>
          <p:nvPr/>
        </p:nvSpPr>
        <p:spPr>
          <a:xfrm rot="0">
            <a:off x="8709093" y="8367834"/>
            <a:ext cx="206774" cy="265609"/>
          </a:xfrm>
          <a:prstGeom prst="rect">
            <a:avLst/>
          </a:prstGeom>
        </p:spPr>
        <p:txBody>
          <a:bodyPr anchor="t" rtlCol="false" tIns="0" lIns="0" bIns="0" rIns="0">
            <a:spAutoFit/>
          </a:bodyPr>
          <a:lstStyle/>
          <a:p>
            <a:pPr algn="l">
              <a:lnSpc>
                <a:spcPts val="1983"/>
              </a:lnSpc>
            </a:pPr>
            <a:r>
              <a:rPr lang="en-US" sz="1416" spc="21">
                <a:solidFill>
                  <a:srgbClr val="FFFFFF"/>
                </a:solidFill>
                <a:latin typeface="IBM Plex Sans Condensed"/>
                <a:ea typeface="IBM Plex Sans Condensed"/>
                <a:cs typeface="IBM Plex Sans Condensed"/>
                <a:sym typeface="IBM Plex Sans Condensed"/>
              </a:rPr>
              <a:t>A5</a:t>
            </a:r>
          </a:p>
        </p:txBody>
      </p:sp>
      <p:sp>
        <p:nvSpPr>
          <p:cNvPr name="TextBox 49" id="49"/>
          <p:cNvSpPr txBox="true"/>
          <p:nvPr/>
        </p:nvSpPr>
        <p:spPr>
          <a:xfrm rot="0">
            <a:off x="11251359" y="8367834"/>
            <a:ext cx="376839" cy="265609"/>
          </a:xfrm>
          <a:prstGeom prst="rect">
            <a:avLst/>
          </a:prstGeom>
        </p:spPr>
        <p:txBody>
          <a:bodyPr anchor="t" rtlCol="false" tIns="0" lIns="0" bIns="0" rIns="0">
            <a:spAutoFit/>
          </a:bodyPr>
          <a:lstStyle/>
          <a:p>
            <a:pPr algn="l">
              <a:lnSpc>
                <a:spcPts val="1983"/>
              </a:lnSpc>
            </a:pPr>
            <a:r>
              <a:rPr lang="en-US" sz="1416" spc="21">
                <a:solidFill>
                  <a:srgbClr val="FFFFFF"/>
                </a:solidFill>
                <a:latin typeface="IBM Plex Sans Condensed"/>
                <a:ea typeface="IBM Plex Sans Condensed"/>
                <a:cs typeface="IBM Plex Sans Condensed"/>
                <a:sym typeface="IBM Plex Sans Condensed"/>
              </a:rPr>
              <a:t>B1-7</a:t>
            </a:r>
          </a:p>
        </p:txBody>
      </p:sp>
      <p:sp>
        <p:nvSpPr>
          <p:cNvPr name="TextBox 50" id="50"/>
          <p:cNvSpPr txBox="true"/>
          <p:nvPr/>
        </p:nvSpPr>
        <p:spPr>
          <a:xfrm rot="0">
            <a:off x="13887525" y="8356704"/>
            <a:ext cx="120046" cy="265609"/>
          </a:xfrm>
          <a:prstGeom prst="rect">
            <a:avLst/>
          </a:prstGeom>
        </p:spPr>
        <p:txBody>
          <a:bodyPr anchor="t" rtlCol="false" tIns="0" lIns="0" bIns="0" rIns="0">
            <a:spAutoFit/>
          </a:bodyPr>
          <a:lstStyle/>
          <a:p>
            <a:pPr algn="l">
              <a:lnSpc>
                <a:spcPts val="1983"/>
              </a:lnSpc>
            </a:pPr>
            <a:r>
              <a:rPr lang="en-US" sz="1416" spc="21">
                <a:solidFill>
                  <a:srgbClr val="FFFFFF"/>
                </a:solidFill>
                <a:latin typeface="IBM Plex Sans Condensed"/>
                <a:ea typeface="IBM Plex Sans Condensed"/>
                <a:cs typeface="IBM Plex Sans Condensed"/>
                <a:sym typeface="IBM Plex Sans Condensed"/>
              </a:rPr>
              <a:t>D</a:t>
            </a:r>
          </a:p>
        </p:txBody>
      </p:sp>
      <p:sp>
        <p:nvSpPr>
          <p:cNvPr name="TextBox 51" id="51"/>
          <p:cNvSpPr txBox="true"/>
          <p:nvPr/>
        </p:nvSpPr>
        <p:spPr>
          <a:xfrm rot="0">
            <a:off x="1048204" y="6795712"/>
            <a:ext cx="4299576" cy="684433"/>
          </a:xfrm>
          <a:prstGeom prst="rect">
            <a:avLst/>
          </a:prstGeom>
        </p:spPr>
        <p:txBody>
          <a:bodyPr anchor="t" rtlCol="false" tIns="0" lIns="0" bIns="0" rIns="0">
            <a:spAutoFit/>
          </a:bodyPr>
          <a:lstStyle/>
          <a:p>
            <a:pPr algn="l">
              <a:lnSpc>
                <a:spcPts val="2482"/>
              </a:lnSpc>
            </a:pPr>
            <a:r>
              <a:rPr lang="en-US" sz="1628" spc="23">
                <a:solidFill>
                  <a:srgbClr val="FFFFFF"/>
                </a:solidFill>
                <a:latin typeface=" Avenir Next Arabic"/>
                <a:ea typeface=" Avenir Next Arabic"/>
                <a:cs typeface=" Avenir Next Arabic"/>
                <a:sym typeface=" Avenir Next Arabic"/>
              </a:rPr>
              <a:t>65%-85% of total embodied carbon emissions</a:t>
            </a:r>
          </a:p>
        </p:txBody>
      </p:sp>
      <p:sp>
        <p:nvSpPr>
          <p:cNvPr name="TextBox 52" id="52"/>
          <p:cNvSpPr txBox="true"/>
          <p:nvPr/>
        </p:nvSpPr>
        <p:spPr>
          <a:xfrm rot="0">
            <a:off x="6995023" y="6826615"/>
            <a:ext cx="2890599" cy="610279"/>
          </a:xfrm>
          <a:prstGeom prst="rect">
            <a:avLst/>
          </a:prstGeom>
        </p:spPr>
        <p:txBody>
          <a:bodyPr anchor="t" rtlCol="false" tIns="0" lIns="0" bIns="0" rIns="0">
            <a:spAutoFit/>
          </a:bodyPr>
          <a:lstStyle/>
          <a:p>
            <a:pPr algn="l">
              <a:lnSpc>
                <a:spcPts val="2280"/>
              </a:lnSpc>
            </a:pPr>
            <a:r>
              <a:rPr lang="en-US" sz="1628" spc="23">
                <a:solidFill>
                  <a:srgbClr val="FFFFFF"/>
                </a:solidFill>
                <a:latin typeface=" Avenir Next Arabic"/>
                <a:ea typeface=" Avenir Next Arabic"/>
                <a:cs typeface=" Avenir Next Arabic"/>
                <a:sym typeface=" Avenir Next Arabic"/>
              </a:rPr>
              <a:t>6%-10% of total embodied carbon emissions</a:t>
            </a:r>
          </a:p>
        </p:txBody>
      </p:sp>
      <p:sp>
        <p:nvSpPr>
          <p:cNvPr name="TextBox 53" id="53"/>
          <p:cNvSpPr txBox="true"/>
          <p:nvPr/>
        </p:nvSpPr>
        <p:spPr>
          <a:xfrm rot="0">
            <a:off x="11026344" y="6811054"/>
            <a:ext cx="1923617" cy="822823"/>
          </a:xfrm>
          <a:prstGeom prst="rect">
            <a:avLst/>
          </a:prstGeom>
        </p:spPr>
        <p:txBody>
          <a:bodyPr anchor="t" rtlCol="false" tIns="0" lIns="0" bIns="0" rIns="0">
            <a:spAutoFit/>
          </a:bodyPr>
          <a:lstStyle/>
          <a:p>
            <a:pPr algn="l">
              <a:lnSpc>
                <a:spcPts val="2037"/>
              </a:lnSpc>
            </a:pPr>
            <a:r>
              <a:rPr lang="en-US" sz="1628" spc="23">
                <a:solidFill>
                  <a:srgbClr val="FFFFFF"/>
                </a:solidFill>
                <a:latin typeface=" Avenir Next Arabic"/>
                <a:ea typeface=" Avenir Next Arabic"/>
                <a:cs typeface=" Avenir Next Arabic"/>
                <a:sym typeface=" Avenir Next Arabic"/>
              </a:rPr>
              <a:t>8%-15% of total embodied carbon emissions </a:t>
            </a:r>
          </a:p>
        </p:txBody>
      </p:sp>
      <p:sp>
        <p:nvSpPr>
          <p:cNvPr name="TextBox 54" id="54"/>
          <p:cNvSpPr txBox="true"/>
          <p:nvPr/>
        </p:nvSpPr>
        <p:spPr>
          <a:xfrm rot="0">
            <a:off x="13726977" y="6811054"/>
            <a:ext cx="1794065" cy="822823"/>
          </a:xfrm>
          <a:prstGeom prst="rect">
            <a:avLst/>
          </a:prstGeom>
        </p:spPr>
        <p:txBody>
          <a:bodyPr anchor="t" rtlCol="false" tIns="0" lIns="0" bIns="0" rIns="0">
            <a:spAutoFit/>
          </a:bodyPr>
          <a:lstStyle/>
          <a:p>
            <a:pPr algn="l">
              <a:lnSpc>
                <a:spcPts val="2037"/>
              </a:lnSpc>
            </a:pPr>
            <a:r>
              <a:rPr lang="en-US" sz="1628" spc="23">
                <a:solidFill>
                  <a:srgbClr val="FFFFFF"/>
                </a:solidFill>
                <a:latin typeface=" Avenir Next Arabic"/>
                <a:ea typeface=" Avenir Next Arabic"/>
                <a:cs typeface=" Avenir Next Arabic"/>
                <a:sym typeface=" Avenir Next Arabic"/>
              </a:rPr>
              <a:t>3%-15% of total embodied carbon emissions </a:t>
            </a:r>
          </a:p>
        </p:txBody>
      </p:sp>
      <p:sp>
        <p:nvSpPr>
          <p:cNvPr name="TextBox 55" id="55"/>
          <p:cNvSpPr txBox="true"/>
          <p:nvPr/>
        </p:nvSpPr>
        <p:spPr>
          <a:xfrm rot="0">
            <a:off x="1388370" y="7614175"/>
            <a:ext cx="3718749" cy="242323"/>
          </a:xfrm>
          <a:prstGeom prst="rect">
            <a:avLst/>
          </a:prstGeom>
        </p:spPr>
        <p:txBody>
          <a:bodyPr anchor="t" rtlCol="false" tIns="0" lIns="0" bIns="0" rIns="0">
            <a:spAutoFit/>
          </a:bodyPr>
          <a:lstStyle/>
          <a:p>
            <a:pPr algn="l">
              <a:lnSpc>
                <a:spcPts val="1783"/>
              </a:lnSpc>
            </a:pPr>
            <a:r>
              <a:rPr lang="en-US" b="true" sz="1273" spc="13">
                <a:solidFill>
                  <a:srgbClr val="FFFFFF"/>
                </a:solidFill>
                <a:latin typeface="IBM Plex Sans Bold"/>
                <a:ea typeface="IBM Plex Sans Bold"/>
                <a:cs typeface="IBM Plex Sans Bold"/>
                <a:sym typeface="IBM Plex Sans Bold"/>
              </a:rPr>
              <a:t>*Saved when executing effective reuse strategy*</a:t>
            </a:r>
          </a:p>
        </p:txBody>
      </p:sp>
      <p:sp>
        <p:nvSpPr>
          <p:cNvPr name="TextBox 56" id="56"/>
          <p:cNvSpPr txBox="true"/>
          <p:nvPr/>
        </p:nvSpPr>
        <p:spPr>
          <a:xfrm rot="0">
            <a:off x="1013803" y="6165030"/>
            <a:ext cx="9970665" cy="363982"/>
          </a:xfrm>
          <a:prstGeom prst="rect">
            <a:avLst/>
          </a:prstGeom>
        </p:spPr>
        <p:txBody>
          <a:bodyPr anchor="t" rtlCol="false" tIns="0" lIns="0" bIns="0" rIns="0">
            <a:spAutoFit/>
          </a:bodyPr>
          <a:lstStyle/>
          <a:p>
            <a:pPr algn="l">
              <a:lnSpc>
                <a:spcPts val="3037"/>
              </a:lnSpc>
            </a:pPr>
            <a:r>
              <a:rPr lang="en-US" sz="2169">
                <a:solidFill>
                  <a:srgbClr val="FFFFFF"/>
                </a:solidFill>
                <a:latin typeface=" Avenir Next Arabic"/>
                <a:ea typeface=" Avenir Next Arabic"/>
                <a:cs typeface=" Avenir Next Arabic"/>
                <a:sym typeface=" Avenir Next Arabic"/>
              </a:rPr>
              <a:t>Carbon Life Cycle - </a:t>
            </a:r>
            <a:r>
              <a:rPr lang="en-US" sz="2169">
                <a:solidFill>
                  <a:srgbClr val="A4CE3E"/>
                </a:solidFill>
                <a:latin typeface=" Avenir Next Arabic"/>
                <a:ea typeface=" Avenir Next Arabic"/>
                <a:cs typeface=" Avenir Next Arabic"/>
                <a:sym typeface=" Avenir Next Arabic"/>
              </a:rPr>
              <a:t>Reuse</a:t>
            </a:r>
          </a:p>
        </p:txBody>
      </p:sp>
      <p:sp>
        <p:nvSpPr>
          <p:cNvPr name="TextBox 57" id="57"/>
          <p:cNvSpPr txBox="true"/>
          <p:nvPr/>
        </p:nvSpPr>
        <p:spPr>
          <a:xfrm rot="0">
            <a:off x="9949882" y="1781004"/>
            <a:ext cx="6791877" cy="449732"/>
          </a:xfrm>
          <a:prstGeom prst="rect">
            <a:avLst/>
          </a:prstGeom>
        </p:spPr>
        <p:txBody>
          <a:bodyPr anchor="t" rtlCol="false" tIns="0" lIns="0" bIns="0" rIns="0">
            <a:spAutoFit/>
          </a:bodyPr>
          <a:lstStyle/>
          <a:p>
            <a:pPr algn="l">
              <a:lnSpc>
                <a:spcPts val="3036"/>
              </a:lnSpc>
            </a:pPr>
            <a:r>
              <a:rPr lang="en-US" sz="2169">
                <a:solidFill>
                  <a:srgbClr val="FFFFFF"/>
                </a:solidFill>
                <a:latin typeface=" Avenir Next Arabic"/>
                <a:ea typeface=" Avenir Next Arabic"/>
                <a:cs typeface=" Avenir Next Arabic"/>
                <a:sym typeface=" Avenir Next Arabic"/>
              </a:rPr>
              <a:t>Summary of Material Reuse Potential </a:t>
            </a:r>
          </a:p>
        </p:txBody>
      </p:sp>
      <p:sp>
        <p:nvSpPr>
          <p:cNvPr name="TextBox 58" id="58"/>
          <p:cNvSpPr txBox="true"/>
          <p:nvPr/>
        </p:nvSpPr>
        <p:spPr>
          <a:xfrm rot="0">
            <a:off x="9949882" y="2275980"/>
            <a:ext cx="7482049" cy="1656169"/>
          </a:xfrm>
          <a:prstGeom prst="rect">
            <a:avLst/>
          </a:prstGeom>
        </p:spPr>
        <p:txBody>
          <a:bodyPr anchor="t" rtlCol="false" tIns="0" lIns="0" bIns="0" rIns="0">
            <a:spAutoFit/>
          </a:bodyPr>
          <a:lstStyle/>
          <a:p>
            <a:pPr algn="just">
              <a:lnSpc>
                <a:spcPts val="2163"/>
              </a:lnSpc>
            </a:pPr>
            <a:r>
              <a:rPr lang="en-US" sz="1546" spc="23">
                <a:solidFill>
                  <a:srgbClr val="FFFFFF"/>
                </a:solidFill>
                <a:latin typeface=" Avenir Next Arabic Light"/>
                <a:ea typeface=" Avenir Next Arabic Light"/>
                <a:cs typeface=" Avenir Next Arabic Light"/>
                <a:sym typeface=" Avenir Next Arabic Light"/>
              </a:rPr>
              <a:t>After assessing the materials within {{PROJECT_ADDRESS}}, we have identified various materials with potential for reuse. In the following pages, you will find detailed information on the specific materials from this project that we aim to reuse, along with descriptions of their reuse potential and any associated risk factors.</a:t>
            </a:r>
          </a:p>
          <a:p>
            <a:pPr algn="just">
              <a:lnSpc>
                <a:spcPts val="2163"/>
              </a:lnSpc>
            </a:pPr>
          </a:p>
        </p:txBody>
      </p:sp>
      <p:sp>
        <p:nvSpPr>
          <p:cNvPr name="TextBox 59" id="59"/>
          <p:cNvSpPr txBox="true"/>
          <p:nvPr/>
        </p:nvSpPr>
        <p:spPr>
          <a:xfrm rot="0">
            <a:off x="1817051" y="254172"/>
            <a:ext cx="7747383" cy="1067435"/>
          </a:xfrm>
          <a:prstGeom prst="rect">
            <a:avLst/>
          </a:prstGeom>
        </p:spPr>
        <p:txBody>
          <a:bodyPr anchor="t" rtlCol="false" tIns="0" lIns="0" bIns="0" rIns="0">
            <a:spAutoFit/>
          </a:bodyPr>
          <a:lstStyle/>
          <a:p>
            <a:pPr algn="l">
              <a:lnSpc>
                <a:spcPts val="7840"/>
              </a:lnSpc>
            </a:pPr>
            <a:r>
              <a:rPr lang="en-US" sz="5600">
                <a:solidFill>
                  <a:srgbClr val="F7FBF8"/>
                </a:solidFill>
                <a:latin typeface="Avenir"/>
                <a:ea typeface="Avenir"/>
                <a:cs typeface="Avenir"/>
                <a:sym typeface="Avenir"/>
              </a:rPr>
              <a:t>Material </a:t>
            </a:r>
            <a:r>
              <a:rPr lang="en-US" sz="5600">
                <a:solidFill>
                  <a:srgbClr val="9EFF51"/>
                </a:solidFill>
                <a:latin typeface="Avenir"/>
                <a:ea typeface="Avenir"/>
                <a:cs typeface="Avenir"/>
                <a:sym typeface="Avenir"/>
              </a:rPr>
              <a:t>Reuse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DAG7AJaKohg</dc:identifier>
  <dcterms:modified xsi:type="dcterms:W3CDTF">2011-08-01T06:04:30Z</dcterms:modified>
  <cp:revision>1</cp:revision>
  <dc:title>Savills</dc:title>
</cp:coreProperties>
</file>